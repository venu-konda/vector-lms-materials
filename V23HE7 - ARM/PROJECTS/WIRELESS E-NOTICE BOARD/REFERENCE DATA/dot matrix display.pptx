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59" r:id="rId4"/>
    <p:sldId id="260" r:id="rId5"/>
    <p:sldId id="269" r:id="rId6"/>
    <p:sldId id="264" r:id="rId7"/>
    <p:sldId id="266" r:id="rId8"/>
    <p:sldId id="271" r:id="rId9"/>
    <p:sldId id="272" r:id="rId10"/>
    <p:sldId id="273" r:id="rId11"/>
    <p:sldId id="270" r:id="rId12"/>
    <p:sldId id="288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9" r:id="rId28"/>
    <p:sldId id="290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8957" autoAdjust="0"/>
  </p:normalViewPr>
  <p:slideViewPr>
    <p:cSldViewPr>
      <p:cViewPr varScale="1">
        <p:scale>
          <a:sx n="77" d="100"/>
          <a:sy n="77" d="100"/>
        </p:scale>
        <p:origin x="161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990600"/>
            <a:ext cx="150495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30649" y="970840"/>
            <a:ext cx="1438275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19348" y="935398"/>
            <a:ext cx="1504950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9063" y="3081679"/>
            <a:ext cx="890587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8X8 DOT MATRIX DISPLAY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8238" y="1255869"/>
            <a:ext cx="3352800" cy="5407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5200" y="1295400"/>
            <a:ext cx="5638800" cy="5464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3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What you should know to achieve the task</a:t>
            </a:r>
            <a:endParaRPr lang="en-US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How to turn on an LED?</a:t>
            </a:r>
          </a:p>
          <a:p>
            <a:pPr marL="342900" lvl="1" indent="-342900">
              <a:buNone/>
            </a:pP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               LED: Light Emitting Diode</a:t>
            </a:r>
          </a:p>
          <a:p>
            <a:pPr marL="342900" lvl="1" indent="-342900">
              <a:buNone/>
            </a:pPr>
            <a:endParaRPr lang="en-US" altLang="zh-TW" sz="3200" dirty="0">
              <a:latin typeface="Times New Roman" pitchFamily="18" charset="0"/>
              <a:cs typeface="Times New Roman" pitchFamily="18" charset="0"/>
            </a:endParaRPr>
          </a:p>
          <a:p>
            <a:pPr marL="342900" lvl="1" indent="-342900">
              <a:buFont typeface="Wingdings" pitchFamily="2" charset="2"/>
              <a:buChar char="Ø"/>
            </a:pP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How to show a fixed pattern on the dot-matrix display</a:t>
            </a:r>
          </a:p>
          <a:p>
            <a:pPr>
              <a:buNone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 		</a:t>
            </a:r>
          </a:p>
          <a:p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to turn on an LED</a:t>
            </a:r>
            <a:endParaRPr lang="en-US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make voltage difference between the two terminals of LED</a:t>
            </a:r>
          </a:p>
          <a:p>
            <a:pPr algn="just">
              <a:buFont typeface="Wingdings" pitchFamily="2" charset="2"/>
              <a:buChar char="Ø"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1219200" y="3429000"/>
            <a:ext cx="1733550" cy="869950"/>
            <a:chOff x="912" y="2496"/>
            <a:chExt cx="1092" cy="548"/>
          </a:xfrm>
        </p:grpSpPr>
        <p:grpSp>
          <p:nvGrpSpPr>
            <p:cNvPr id="5" name="Group 9"/>
            <p:cNvGrpSpPr>
              <a:grpSpLocks/>
            </p:cNvGrpSpPr>
            <p:nvPr/>
          </p:nvGrpSpPr>
          <p:grpSpPr bwMode="auto">
            <a:xfrm>
              <a:off x="1104" y="2496"/>
              <a:ext cx="702" cy="288"/>
              <a:chOff x="1947" y="3468"/>
              <a:chExt cx="702" cy="288"/>
            </a:xfrm>
          </p:grpSpPr>
          <p:sp>
            <p:nvSpPr>
              <p:cNvPr id="9" name="AutoShape 5"/>
              <p:cNvSpPr>
                <a:spLocks noChangeArrowheads="1"/>
              </p:cNvSpPr>
              <p:nvPr/>
            </p:nvSpPr>
            <p:spPr bwMode="auto">
              <a:xfrm rot="5400000">
                <a:off x="2208" y="3504"/>
                <a:ext cx="192" cy="240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0" name="Line 6"/>
              <p:cNvSpPr>
                <a:spLocks noChangeShapeType="1"/>
              </p:cNvSpPr>
              <p:nvPr/>
            </p:nvSpPr>
            <p:spPr bwMode="auto">
              <a:xfrm>
                <a:off x="2412" y="3468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2409" y="361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>
                <a:off x="1947" y="3615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6" name="Text Box 10"/>
            <p:cNvSpPr txBox="1">
              <a:spLocks noChangeArrowheads="1"/>
            </p:cNvSpPr>
            <p:nvPr/>
          </p:nvSpPr>
          <p:spPr bwMode="auto">
            <a:xfrm>
              <a:off x="912" y="2544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7" name="Text Box 11"/>
            <p:cNvSpPr txBox="1">
              <a:spLocks noChangeArrowheads="1"/>
            </p:cNvSpPr>
            <p:nvPr/>
          </p:nvSpPr>
          <p:spPr bwMode="auto">
            <a:xfrm>
              <a:off x="1824" y="2544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8" name="Text Box 12"/>
            <p:cNvSpPr txBox="1">
              <a:spLocks noChangeArrowheads="1"/>
            </p:cNvSpPr>
            <p:nvPr/>
          </p:nvSpPr>
          <p:spPr bwMode="auto">
            <a:xfrm>
              <a:off x="1248" y="2832"/>
              <a:ext cx="3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chemeClr val="hlink"/>
                  </a:solidFill>
                </a:rPr>
                <a:t>OFF</a:t>
              </a:r>
            </a:p>
          </p:txBody>
        </p:sp>
      </p:grpSp>
      <p:grpSp>
        <p:nvGrpSpPr>
          <p:cNvPr id="13" name="Group 14"/>
          <p:cNvGrpSpPr>
            <a:grpSpLocks/>
          </p:cNvGrpSpPr>
          <p:nvPr/>
        </p:nvGrpSpPr>
        <p:grpSpPr bwMode="auto">
          <a:xfrm>
            <a:off x="3581400" y="3429000"/>
            <a:ext cx="1733550" cy="869950"/>
            <a:chOff x="912" y="2496"/>
            <a:chExt cx="1092" cy="548"/>
          </a:xfrm>
        </p:grpSpPr>
        <p:grpSp>
          <p:nvGrpSpPr>
            <p:cNvPr id="14" name="Group 15"/>
            <p:cNvGrpSpPr>
              <a:grpSpLocks/>
            </p:cNvGrpSpPr>
            <p:nvPr/>
          </p:nvGrpSpPr>
          <p:grpSpPr bwMode="auto">
            <a:xfrm>
              <a:off x="1104" y="2496"/>
              <a:ext cx="702" cy="288"/>
              <a:chOff x="1947" y="3468"/>
              <a:chExt cx="702" cy="288"/>
            </a:xfrm>
          </p:grpSpPr>
          <p:sp>
            <p:nvSpPr>
              <p:cNvPr id="18" name="AutoShape 16"/>
              <p:cNvSpPr>
                <a:spLocks noChangeArrowheads="1"/>
              </p:cNvSpPr>
              <p:nvPr/>
            </p:nvSpPr>
            <p:spPr bwMode="auto">
              <a:xfrm rot="5400000">
                <a:off x="2208" y="3504"/>
                <a:ext cx="192" cy="240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9" name="Line 17"/>
              <p:cNvSpPr>
                <a:spLocks noChangeShapeType="1"/>
              </p:cNvSpPr>
              <p:nvPr/>
            </p:nvSpPr>
            <p:spPr bwMode="auto">
              <a:xfrm>
                <a:off x="2412" y="3468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>
                <a:off x="2409" y="361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" name="Line 19"/>
              <p:cNvSpPr>
                <a:spLocks noChangeShapeType="1"/>
              </p:cNvSpPr>
              <p:nvPr/>
            </p:nvSpPr>
            <p:spPr bwMode="auto">
              <a:xfrm>
                <a:off x="1947" y="3615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15" name="Text Box 20"/>
            <p:cNvSpPr txBox="1">
              <a:spLocks noChangeArrowheads="1"/>
            </p:cNvSpPr>
            <p:nvPr/>
          </p:nvSpPr>
          <p:spPr bwMode="auto">
            <a:xfrm>
              <a:off x="912" y="2544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16" name="Text Box 21"/>
            <p:cNvSpPr txBox="1">
              <a:spLocks noChangeArrowheads="1"/>
            </p:cNvSpPr>
            <p:nvPr/>
          </p:nvSpPr>
          <p:spPr bwMode="auto">
            <a:xfrm>
              <a:off x="1824" y="2544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17" name="Text Box 22"/>
            <p:cNvSpPr txBox="1">
              <a:spLocks noChangeArrowheads="1"/>
            </p:cNvSpPr>
            <p:nvPr/>
          </p:nvSpPr>
          <p:spPr bwMode="auto">
            <a:xfrm>
              <a:off x="1248" y="2832"/>
              <a:ext cx="3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chemeClr val="hlink"/>
                  </a:solidFill>
                </a:rPr>
                <a:t>OFF</a:t>
              </a:r>
            </a:p>
          </p:txBody>
        </p:sp>
      </p:grpSp>
      <p:grpSp>
        <p:nvGrpSpPr>
          <p:cNvPr id="22" name="Group 34"/>
          <p:cNvGrpSpPr>
            <a:grpSpLocks/>
          </p:cNvGrpSpPr>
          <p:nvPr/>
        </p:nvGrpSpPr>
        <p:grpSpPr bwMode="auto">
          <a:xfrm>
            <a:off x="6172200" y="3429000"/>
            <a:ext cx="1733550" cy="869950"/>
            <a:chOff x="912" y="2496"/>
            <a:chExt cx="1092" cy="548"/>
          </a:xfrm>
        </p:grpSpPr>
        <p:grpSp>
          <p:nvGrpSpPr>
            <p:cNvPr id="23" name="Group 35"/>
            <p:cNvGrpSpPr>
              <a:grpSpLocks/>
            </p:cNvGrpSpPr>
            <p:nvPr/>
          </p:nvGrpSpPr>
          <p:grpSpPr bwMode="auto">
            <a:xfrm>
              <a:off x="1104" y="2496"/>
              <a:ext cx="702" cy="288"/>
              <a:chOff x="1947" y="3468"/>
              <a:chExt cx="702" cy="288"/>
            </a:xfrm>
          </p:grpSpPr>
          <p:sp>
            <p:nvSpPr>
              <p:cNvPr id="27" name="AutoShape 36"/>
              <p:cNvSpPr>
                <a:spLocks noChangeArrowheads="1"/>
              </p:cNvSpPr>
              <p:nvPr/>
            </p:nvSpPr>
            <p:spPr bwMode="auto">
              <a:xfrm rot="5400000">
                <a:off x="2208" y="3504"/>
                <a:ext cx="192" cy="240"/>
              </a:xfrm>
              <a:prstGeom prst="triangle">
                <a:avLst>
                  <a:gd name="adj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8" name="Line 37"/>
              <p:cNvSpPr>
                <a:spLocks noChangeShapeType="1"/>
              </p:cNvSpPr>
              <p:nvPr/>
            </p:nvSpPr>
            <p:spPr bwMode="auto">
              <a:xfrm>
                <a:off x="2412" y="3468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9" name="Line 38"/>
              <p:cNvSpPr>
                <a:spLocks noChangeShapeType="1"/>
              </p:cNvSpPr>
              <p:nvPr/>
            </p:nvSpPr>
            <p:spPr bwMode="auto">
              <a:xfrm>
                <a:off x="2409" y="361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" name="Line 39"/>
              <p:cNvSpPr>
                <a:spLocks noChangeShapeType="1"/>
              </p:cNvSpPr>
              <p:nvPr/>
            </p:nvSpPr>
            <p:spPr bwMode="auto">
              <a:xfrm>
                <a:off x="1947" y="3615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24" name="Text Box 40"/>
            <p:cNvSpPr txBox="1">
              <a:spLocks noChangeArrowheads="1"/>
            </p:cNvSpPr>
            <p:nvPr/>
          </p:nvSpPr>
          <p:spPr bwMode="auto">
            <a:xfrm>
              <a:off x="912" y="2544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chemeClr val="hlink"/>
                  </a:solidFill>
                </a:rPr>
                <a:t>0</a:t>
              </a:r>
            </a:p>
          </p:txBody>
        </p:sp>
        <p:sp>
          <p:nvSpPr>
            <p:cNvPr id="25" name="Text Box 41"/>
            <p:cNvSpPr txBox="1">
              <a:spLocks noChangeArrowheads="1"/>
            </p:cNvSpPr>
            <p:nvPr/>
          </p:nvSpPr>
          <p:spPr bwMode="auto">
            <a:xfrm>
              <a:off x="1824" y="2544"/>
              <a:ext cx="18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chemeClr val="hlink"/>
                  </a:solidFill>
                </a:rPr>
                <a:t>1</a:t>
              </a:r>
            </a:p>
          </p:txBody>
        </p:sp>
        <p:sp>
          <p:nvSpPr>
            <p:cNvPr id="26" name="Text Box 42"/>
            <p:cNvSpPr txBox="1">
              <a:spLocks noChangeArrowheads="1"/>
            </p:cNvSpPr>
            <p:nvPr/>
          </p:nvSpPr>
          <p:spPr bwMode="auto">
            <a:xfrm>
              <a:off x="1248" y="2832"/>
              <a:ext cx="35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TW" dirty="0">
                  <a:solidFill>
                    <a:schemeClr val="hlink"/>
                  </a:solidFill>
                </a:rPr>
                <a:t>OFF</a:t>
              </a:r>
            </a:p>
          </p:txBody>
        </p:sp>
      </p:grpSp>
      <p:grpSp>
        <p:nvGrpSpPr>
          <p:cNvPr id="31" name="Group 33"/>
          <p:cNvGrpSpPr>
            <a:grpSpLocks/>
          </p:cNvGrpSpPr>
          <p:nvPr/>
        </p:nvGrpSpPr>
        <p:grpSpPr bwMode="auto">
          <a:xfrm>
            <a:off x="3352800" y="4800600"/>
            <a:ext cx="2057400" cy="1295400"/>
            <a:chOff x="3216" y="2256"/>
            <a:chExt cx="1296" cy="816"/>
          </a:xfrm>
        </p:grpSpPr>
        <p:grpSp>
          <p:nvGrpSpPr>
            <p:cNvPr id="32" name="Group 23"/>
            <p:cNvGrpSpPr>
              <a:grpSpLocks/>
            </p:cNvGrpSpPr>
            <p:nvPr/>
          </p:nvGrpSpPr>
          <p:grpSpPr bwMode="auto">
            <a:xfrm>
              <a:off x="3264" y="2448"/>
              <a:ext cx="1092" cy="548"/>
              <a:chOff x="912" y="2496"/>
              <a:chExt cx="1092" cy="548"/>
            </a:xfrm>
          </p:grpSpPr>
          <p:grpSp>
            <p:nvGrpSpPr>
              <p:cNvPr id="34" name="Group 24"/>
              <p:cNvGrpSpPr>
                <a:grpSpLocks/>
              </p:cNvGrpSpPr>
              <p:nvPr/>
            </p:nvGrpSpPr>
            <p:grpSpPr bwMode="auto">
              <a:xfrm>
                <a:off x="1104" y="2496"/>
                <a:ext cx="702" cy="288"/>
                <a:chOff x="1947" y="3468"/>
                <a:chExt cx="702" cy="288"/>
              </a:xfrm>
            </p:grpSpPr>
            <p:sp>
              <p:nvSpPr>
                <p:cNvPr id="38" name="AutoShape 25"/>
                <p:cNvSpPr>
                  <a:spLocks noChangeArrowheads="1"/>
                </p:cNvSpPr>
                <p:nvPr/>
              </p:nvSpPr>
              <p:spPr bwMode="auto">
                <a:xfrm rot="5400000">
                  <a:off x="2208" y="3504"/>
                  <a:ext cx="192" cy="240"/>
                </a:xfrm>
                <a:prstGeom prst="triangle">
                  <a:avLst>
                    <a:gd name="adj" fmla="val 50000"/>
                  </a:avLst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39" name="Line 26"/>
                <p:cNvSpPr>
                  <a:spLocks noChangeShapeType="1"/>
                </p:cNvSpPr>
                <p:nvPr/>
              </p:nvSpPr>
              <p:spPr bwMode="auto">
                <a:xfrm>
                  <a:off x="2412" y="3468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0" name="Line 27"/>
                <p:cNvSpPr>
                  <a:spLocks noChangeShapeType="1"/>
                </p:cNvSpPr>
                <p:nvPr/>
              </p:nvSpPr>
              <p:spPr bwMode="auto">
                <a:xfrm>
                  <a:off x="2409" y="3618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41" name="Line 28"/>
                <p:cNvSpPr>
                  <a:spLocks noChangeShapeType="1"/>
                </p:cNvSpPr>
                <p:nvPr/>
              </p:nvSpPr>
              <p:spPr bwMode="auto">
                <a:xfrm>
                  <a:off x="1947" y="3615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35" name="Text Box 29"/>
              <p:cNvSpPr txBox="1">
                <a:spLocks noChangeArrowheads="1"/>
              </p:cNvSpPr>
              <p:nvPr/>
            </p:nvSpPr>
            <p:spPr bwMode="auto">
              <a:xfrm>
                <a:off x="912" y="2544"/>
                <a:ext cx="18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dirty="0">
                    <a:solidFill>
                      <a:schemeClr val="hlink"/>
                    </a:solidFill>
                  </a:rPr>
                  <a:t>1</a:t>
                </a:r>
              </a:p>
            </p:txBody>
          </p:sp>
          <p:sp>
            <p:nvSpPr>
              <p:cNvPr id="36" name="Text Box 30"/>
              <p:cNvSpPr txBox="1">
                <a:spLocks noChangeArrowheads="1"/>
              </p:cNvSpPr>
              <p:nvPr/>
            </p:nvSpPr>
            <p:spPr bwMode="auto">
              <a:xfrm>
                <a:off x="1824" y="2544"/>
                <a:ext cx="18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dirty="0">
                    <a:solidFill>
                      <a:schemeClr val="hlink"/>
                    </a:solidFill>
                  </a:rPr>
                  <a:t>0</a:t>
                </a:r>
              </a:p>
            </p:txBody>
          </p:sp>
          <p:sp>
            <p:nvSpPr>
              <p:cNvPr id="37" name="Text Box 31"/>
              <p:cNvSpPr txBox="1">
                <a:spLocks noChangeArrowheads="1"/>
              </p:cNvSpPr>
              <p:nvPr/>
            </p:nvSpPr>
            <p:spPr bwMode="auto">
              <a:xfrm>
                <a:off x="1248" y="2832"/>
                <a:ext cx="30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zh-TW" dirty="0">
                    <a:solidFill>
                      <a:schemeClr val="hlink"/>
                    </a:solidFill>
                  </a:rPr>
                  <a:t>ON</a:t>
                </a:r>
              </a:p>
            </p:txBody>
          </p:sp>
        </p:grpSp>
        <p:sp>
          <p:nvSpPr>
            <p:cNvPr id="33" name="AutoShape 32"/>
            <p:cNvSpPr>
              <a:spLocks noChangeArrowheads="1"/>
            </p:cNvSpPr>
            <p:nvPr/>
          </p:nvSpPr>
          <p:spPr bwMode="auto">
            <a:xfrm>
              <a:off x="3216" y="2256"/>
              <a:ext cx="1296" cy="816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hlink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</p:spTree>
  </p:cSld>
  <p:clrMapOvr>
    <a:masterClrMapping/>
  </p:clrMapOvr>
  <p:transition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to turn on an LED in the dot-matrix?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Ø"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by control the voltage of each row and column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Rectangle 11"/>
          <p:cNvSpPr>
            <a:spLocks noChangeArrowheads="1"/>
          </p:cNvSpPr>
          <p:nvPr/>
        </p:nvSpPr>
        <p:spPr bwMode="auto">
          <a:xfrm>
            <a:off x="1799898" y="751480"/>
            <a:ext cx="533400" cy="464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 dirty="0"/>
              <a:t>P0</a:t>
            </a:r>
          </a:p>
        </p:txBody>
      </p:sp>
      <p:sp>
        <p:nvSpPr>
          <p:cNvPr id="16396" name="AutoShape 12"/>
          <p:cNvSpPr>
            <a:spLocks noChangeArrowheads="1"/>
          </p:cNvSpPr>
          <p:nvPr/>
        </p:nvSpPr>
        <p:spPr bwMode="auto">
          <a:xfrm>
            <a:off x="2370076" y="2971800"/>
            <a:ext cx="304800" cy="304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397" name="Rectangle 13"/>
          <p:cNvSpPr>
            <a:spLocks noChangeArrowheads="1"/>
          </p:cNvSpPr>
          <p:nvPr/>
        </p:nvSpPr>
        <p:spPr bwMode="auto">
          <a:xfrm>
            <a:off x="3013838" y="5870015"/>
            <a:ext cx="5791200" cy="4834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 dirty="0"/>
              <a:t>P1</a:t>
            </a:r>
          </a:p>
        </p:txBody>
      </p:sp>
      <p:sp>
        <p:nvSpPr>
          <p:cNvPr id="16398" name="AutoShape 14"/>
          <p:cNvSpPr>
            <a:spLocks noChangeArrowheads="1"/>
          </p:cNvSpPr>
          <p:nvPr/>
        </p:nvSpPr>
        <p:spPr bwMode="auto">
          <a:xfrm>
            <a:off x="5822732" y="5536314"/>
            <a:ext cx="304800" cy="3048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28911" y="859212"/>
            <a:ext cx="585787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4800600" y="1600200"/>
            <a:ext cx="685800" cy="533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803634" y="1539766"/>
            <a:ext cx="2057400" cy="1588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2438400" y="12954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hlink"/>
                </a:solidFill>
              </a:rPr>
              <a:t>1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rot="5400000">
            <a:off x="3620294" y="3923506"/>
            <a:ext cx="3581400" cy="1588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4950152" y="5376038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hlink"/>
                </a:solidFill>
              </a:rPr>
              <a:t>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5" grpId="0" animBg="1"/>
      <p:bldP spid="16396" grpId="0" animBg="1"/>
      <p:bldP spid="16397" grpId="0" animBg="1"/>
      <p:bldP spid="16398" grpId="0" animBg="1"/>
      <p:bldP spid="14" grpId="0" animBg="1"/>
      <p:bldP spid="19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How to show a fixed LED pattern?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239000" cy="990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by fixed control byte on P0 and P1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05125" y="685800"/>
            <a:ext cx="585787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1799898" y="751480"/>
            <a:ext cx="533400" cy="464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 dirty="0"/>
              <a:t>P0</a:t>
            </a:r>
          </a:p>
        </p:txBody>
      </p:sp>
      <p:sp>
        <p:nvSpPr>
          <p:cNvPr id="6" name="AutoShape 12"/>
          <p:cNvSpPr>
            <a:spLocks noChangeArrowheads="1"/>
          </p:cNvSpPr>
          <p:nvPr/>
        </p:nvSpPr>
        <p:spPr bwMode="auto">
          <a:xfrm>
            <a:off x="2370076" y="2971800"/>
            <a:ext cx="304800" cy="3048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3013838" y="5870015"/>
            <a:ext cx="5791200" cy="4834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zh-TW" dirty="0"/>
              <a:t>P1</a:t>
            </a:r>
          </a:p>
        </p:txBody>
      </p:sp>
      <p:sp>
        <p:nvSpPr>
          <p:cNvPr id="8" name="AutoShape 14"/>
          <p:cNvSpPr>
            <a:spLocks noChangeArrowheads="1"/>
          </p:cNvSpPr>
          <p:nvPr/>
        </p:nvSpPr>
        <p:spPr bwMode="auto">
          <a:xfrm>
            <a:off x="5822732" y="5536314"/>
            <a:ext cx="304800" cy="3048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4267200" y="1447800"/>
            <a:ext cx="685800" cy="533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410200" y="1905000"/>
            <a:ext cx="685800" cy="533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6629400" y="2895600"/>
            <a:ext cx="685800" cy="533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819400" y="1403132"/>
            <a:ext cx="1524000" cy="1588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19400" y="1981200"/>
            <a:ext cx="2514600" cy="1588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850932" y="2938680"/>
            <a:ext cx="3810000" cy="1588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>
            <a:off x="3298140" y="3711466"/>
            <a:ext cx="3276600" cy="1588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6200000" flipH="1">
            <a:off x="4631913" y="3946113"/>
            <a:ext cx="2913202" cy="14972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>
            <a:off x="6277302" y="4385438"/>
            <a:ext cx="1981200" cy="1588"/>
          </a:xfrm>
          <a:prstGeom prst="straightConnector1">
            <a:avLst/>
          </a:prstGeom>
          <a:ln w="57150"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Text Box 14"/>
          <p:cNvSpPr txBox="1">
            <a:spLocks noChangeArrowheads="1"/>
          </p:cNvSpPr>
          <p:nvPr/>
        </p:nvSpPr>
        <p:spPr bwMode="auto">
          <a:xfrm>
            <a:off x="2438400" y="1143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2438400" y="17526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2482850" y="2667000"/>
            <a:ext cx="336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hlink"/>
                </a:solidFill>
              </a:rPr>
              <a:t>1</a:t>
            </a:r>
          </a:p>
        </p:txBody>
      </p:sp>
      <p:sp>
        <p:nvSpPr>
          <p:cNvPr id="33" name="Text Box 14"/>
          <p:cNvSpPr txBox="1">
            <a:spLocks noChangeArrowheads="1"/>
          </p:cNvSpPr>
          <p:nvPr/>
        </p:nvSpPr>
        <p:spPr bwMode="auto">
          <a:xfrm>
            <a:off x="4876800" y="5257800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34" name="Text Box 14"/>
          <p:cNvSpPr txBox="1">
            <a:spLocks noChangeArrowheads="1"/>
          </p:cNvSpPr>
          <p:nvPr/>
        </p:nvSpPr>
        <p:spPr bwMode="auto">
          <a:xfrm>
            <a:off x="6172200" y="5253335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35" name="Text Box 14"/>
          <p:cNvSpPr txBox="1">
            <a:spLocks noChangeArrowheads="1"/>
          </p:cNvSpPr>
          <p:nvPr/>
        </p:nvSpPr>
        <p:spPr bwMode="auto">
          <a:xfrm>
            <a:off x="7391400" y="5253335"/>
            <a:ext cx="3401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chemeClr val="hlink"/>
                </a:solidFill>
              </a:rPr>
              <a:t>0</a:t>
            </a:r>
          </a:p>
        </p:txBody>
      </p:sp>
      <p:sp>
        <p:nvSpPr>
          <p:cNvPr id="26" name="AutoShape 5"/>
          <p:cNvSpPr>
            <a:spLocks noChangeArrowheads="1"/>
          </p:cNvSpPr>
          <p:nvPr/>
        </p:nvSpPr>
        <p:spPr bwMode="auto">
          <a:xfrm>
            <a:off x="5410200" y="1371600"/>
            <a:ext cx="685800" cy="533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6" name="AutoShape 5"/>
          <p:cNvSpPr>
            <a:spLocks noChangeArrowheads="1"/>
          </p:cNvSpPr>
          <p:nvPr/>
        </p:nvSpPr>
        <p:spPr bwMode="auto">
          <a:xfrm>
            <a:off x="6553200" y="1371600"/>
            <a:ext cx="685800" cy="533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4267200" y="1981200"/>
            <a:ext cx="685800" cy="533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" name="AutoShape 5"/>
          <p:cNvSpPr>
            <a:spLocks noChangeArrowheads="1"/>
          </p:cNvSpPr>
          <p:nvPr/>
        </p:nvSpPr>
        <p:spPr bwMode="auto">
          <a:xfrm>
            <a:off x="6553200" y="1905000"/>
            <a:ext cx="685800" cy="533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9" name="AutoShape 5"/>
          <p:cNvSpPr>
            <a:spLocks noChangeArrowheads="1"/>
          </p:cNvSpPr>
          <p:nvPr/>
        </p:nvSpPr>
        <p:spPr bwMode="auto">
          <a:xfrm>
            <a:off x="4191000" y="2895600"/>
            <a:ext cx="685800" cy="533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" name="AutoShape 5"/>
          <p:cNvSpPr>
            <a:spLocks noChangeArrowheads="1"/>
          </p:cNvSpPr>
          <p:nvPr/>
        </p:nvSpPr>
        <p:spPr bwMode="auto">
          <a:xfrm>
            <a:off x="5410200" y="2895600"/>
            <a:ext cx="685800" cy="533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30" grpId="0"/>
      <p:bldP spid="31" grpId="0"/>
      <p:bldP spid="32" grpId="0"/>
      <p:bldP spid="33" grpId="0"/>
      <p:bldP spid="34" grpId="0"/>
      <p:bldP spid="35" grpId="0"/>
      <p:bldP spid="26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304800"/>
            <a:ext cx="6011862" cy="1233487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The correct method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209800"/>
            <a:ext cx="8001000" cy="1752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display one column in each step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zh-TW" dirty="0">
                <a:latin typeface="Times New Roman" pitchFamily="18" charset="0"/>
                <a:cs typeface="Times New Roman" pitchFamily="18" charset="0"/>
              </a:rPr>
              <a:t>fast scan to make users seeing a fixed pattern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0xc0	-	11000000		</a:t>
            </a:r>
          </a:p>
          <a:p>
            <a:r>
              <a:rPr lang="en-US" dirty="0"/>
              <a:t>0x99	-	10011001		</a:t>
            </a:r>
          </a:p>
          <a:p>
            <a:r>
              <a:rPr lang="en-US" dirty="0"/>
              <a:t>0x99	-	10011001		</a:t>
            </a:r>
          </a:p>
          <a:p>
            <a:r>
              <a:rPr lang="en-US" dirty="0"/>
              <a:t>0xc1	-	11000001		</a:t>
            </a:r>
          </a:p>
          <a:p>
            <a:r>
              <a:rPr lang="en-US" dirty="0"/>
              <a:t>0x89	-	10001001		</a:t>
            </a:r>
          </a:p>
          <a:p>
            <a:r>
              <a:rPr lang="en-US" dirty="0"/>
              <a:t>0x99	-	10011001		</a:t>
            </a:r>
          </a:p>
          <a:p>
            <a:r>
              <a:rPr lang="en-US" dirty="0"/>
              <a:t>0x98	-	10011000		</a:t>
            </a:r>
          </a:p>
          <a:p>
            <a:r>
              <a:rPr lang="en-US" dirty="0"/>
              <a:t>0xff	-	11111111		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447800" y="304800"/>
            <a:ext cx="6553200" cy="12334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DATA</a:t>
            </a:r>
            <a:r>
              <a:rPr kumimoji="0" lang="en-US" altLang="zh-TW" sz="4000" b="0" i="0" u="none" strike="noStrike" kern="120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FOR CHARACTER ‘R’</a:t>
            </a:r>
            <a:endParaRPr kumimoji="0" lang="en-US" altLang="zh-TW" sz="4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8720" y="304800"/>
            <a:ext cx="1371599" cy="1371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48720" y="1905000"/>
            <a:ext cx="137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48720" y="3505200"/>
            <a:ext cx="137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48720" y="5181600"/>
            <a:ext cx="137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124200" y="304800"/>
            <a:ext cx="137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124200" y="1904999"/>
            <a:ext cx="1371600" cy="1392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3124200" y="3505200"/>
            <a:ext cx="1371600" cy="1392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155732" y="5136932"/>
            <a:ext cx="137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6010275" y="2003858"/>
            <a:ext cx="2905125" cy="29491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65258" y="830310"/>
            <a:ext cx="825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hlink"/>
                </a:solidFill>
              </a:rPr>
              <a:t>Step 1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7368" y="2393732"/>
            <a:ext cx="8375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hlink"/>
                </a:solidFill>
              </a:rPr>
              <a:t>Step 2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8902" y="3962400"/>
            <a:ext cx="8375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hlink"/>
                </a:solidFill>
              </a:rPr>
              <a:t>Step 3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7298" y="5654566"/>
            <a:ext cx="8375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hlink"/>
                </a:solidFill>
              </a:rPr>
              <a:t>Step 4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298700" y="822325"/>
            <a:ext cx="8375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hlink"/>
                </a:solidFill>
              </a:rPr>
              <a:t>Step 5</a:t>
            </a:r>
          </a:p>
        </p:txBody>
      </p: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2286000" y="2467193"/>
            <a:ext cx="8375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hlink"/>
                </a:solidFill>
              </a:rPr>
              <a:t>Step 6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2314466" y="3978166"/>
            <a:ext cx="8375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hlink"/>
                </a:solidFill>
              </a:rPr>
              <a:t>Step 7</a:t>
            </a:r>
          </a:p>
        </p:txBody>
      </p: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2361764" y="5667702"/>
            <a:ext cx="8375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dirty="0">
                <a:solidFill>
                  <a:schemeClr val="hlink"/>
                </a:solidFill>
              </a:rPr>
              <a:t>Step 8</a:t>
            </a:r>
          </a:p>
        </p:txBody>
      </p:sp>
      <p:sp>
        <p:nvSpPr>
          <p:cNvPr id="19" name="AutoShape 12"/>
          <p:cNvSpPr>
            <a:spLocks noChangeArrowheads="1"/>
          </p:cNvSpPr>
          <p:nvPr/>
        </p:nvSpPr>
        <p:spPr bwMode="auto">
          <a:xfrm>
            <a:off x="4876800" y="3200400"/>
            <a:ext cx="906524" cy="38100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6781800" y="1295400"/>
            <a:ext cx="1371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sz="2000" dirty="0">
                <a:solidFill>
                  <a:schemeClr val="hlink"/>
                </a:solidFill>
              </a:rPr>
              <a:t>Final Result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1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1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13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DATA FOR SOME FONTS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800600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dirty="0"/>
              <a:t>0xe7 ,0xc3 ,0x99 ,0x99 ,0x81 ,0x99 ,0x99 ,0xff	- 'A‘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0xc0 ,0x99 ,0x99 ,0xc1 ,0x99 ,0x99 ,0xc0 ,0xff		- 'B'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0xc3 ,0x99 ,0xfc ,0xfc ,0xfc ,0x99 ,0xc3 ,0xff      	- 'C'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0xe0 ,0xc9 ,0x99 ,0x99 ,0x99 ,0xc9 ,0xe0 ,0xff  	- 'D‘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0xc1 ,0x9c ,0x8c ,0x84 ,0x90 ,0x98 ,0xc1 ,0xff   	- '0‘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0xe7 ,0xe3 ,0xe7 ,0xe7 ,0xe7 ,0xe7 ,0x81 ,0xff  	- '1‘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0xc3 ,0x99 ,0x9f ,0xc7 ,0xf3 ,0x99 ,0x81 ,0xff    	- '2‘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0xc3 ,0x99 ,0x9f ,0xc7 ,0x9f ,0x99 ,0xc3 ,0xff     	- '3‘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0xff ,0x99 ,0xc3 ,0x80 ,0xc3 ,0x99 ,0xff ,0xff     	- '*‘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0xff ,0xe7 ,0xe7 ,0x81 ,0xe7 ,0xe7 ,0xff ,0xff   </a:t>
            </a:r>
            <a:r>
              <a:rPr lang="en-US"/>
              <a:t>		- </a:t>
            </a:r>
            <a:r>
              <a:rPr lang="en-US" dirty="0"/>
              <a:t>'+'</a:t>
            </a:r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 – dot matrix’s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DOT MATRIX 	-	2 PORTS</a:t>
            </a:r>
          </a:p>
          <a:p>
            <a:endParaRPr lang="en-US" dirty="0"/>
          </a:p>
          <a:p>
            <a:r>
              <a:rPr lang="en-US" dirty="0"/>
              <a:t>4 DOT MATRIX’S	-	8 PORTS</a:t>
            </a:r>
          </a:p>
          <a:p>
            <a:endParaRPr lang="en-US" dirty="0"/>
          </a:p>
          <a:p>
            <a:r>
              <a:rPr lang="en-US" dirty="0"/>
              <a:t>AT89S52			-	4 PORTS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VECTOR\Desktop\dot matric project ppt work\problem-211771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219200"/>
            <a:ext cx="5878286" cy="4114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VECTOR\Desktop\dot matric project ppt work\solution_forstoringsglas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457200"/>
            <a:ext cx="6438900" cy="580111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C:\Documents and Settings\VECTOR\Desktop\dot matric project ppt work\4113.PPP_PRD_048_3D_people-Thinker_2083779F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1095" y="753906"/>
            <a:ext cx="7804150" cy="5853113"/>
          </a:xfrm>
          <a:prstGeom prst="rect">
            <a:avLst/>
          </a:prstGeom>
          <a:noFill/>
        </p:spPr>
      </p:pic>
      <p:pic>
        <p:nvPicPr>
          <p:cNvPr id="3076" name="Picture 4" descr="C:\Documents and Settings\VECTOR\Desktop\dot matric project ppt work\4113_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381000"/>
            <a:ext cx="1905000" cy="190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PORT EXPANDER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SHIFT REGISTER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(SERIAL IN PARALLEL OUT )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74HC164</a:t>
            </a:r>
            <a:b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7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7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SERIAL-IN PARALLEL OUT SHIFT REGISTER</a:t>
            </a:r>
            <a:r>
              <a:rPr lang="en-US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524000"/>
            <a:ext cx="8534400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Two serial data inputs (DSA and DSB)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Eight parallel data outputs (Q0 to Q7)</a:t>
            </a:r>
          </a:p>
          <a:p>
            <a:pPr>
              <a:buFont typeface="Wingdings" pitchFamily="2" charset="2"/>
              <a:buChar char="Ø"/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Data is entered serially through DSA or DSB and either input can be used as an active HIGH enable for data entry through the other input.</a:t>
            </a:r>
          </a:p>
          <a:p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Data is shifted on the LOW-to-HIGH transitions of the clock (CP) input.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74HC164</a:t>
            </a:r>
            <a:b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7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8-BIT SERIAL-IN PARALLEL OUT SHIFT REGISTER</a:t>
            </a:r>
            <a:r>
              <a:rPr lang="en-US" dirty="0"/>
              <a:t>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1" y="1676400"/>
            <a:ext cx="3124199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676400" y="5867400"/>
            <a:ext cx="15023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Logic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symbol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63061" y="1567322"/>
            <a:ext cx="3124199" cy="4359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5791200" y="6019800"/>
            <a:ext cx="20986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Pin configuration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VECTOR\Desktop\dot matric project ppt work\3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99" y="440258"/>
            <a:ext cx="9144000" cy="59293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Documents and Settings\VECTOR\Desktop\dot matric project ppt work\4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33" y="762001"/>
            <a:ext cx="9144000" cy="53308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Documents and Settings\VECTOR\Desktop\dot matric project ppt work\5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42" y="1121834"/>
            <a:ext cx="9127057" cy="49913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Documents and Settings\VECTOR\Desktop\dot matric project ppt work\6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598" y="1032927"/>
            <a:ext cx="8915400" cy="48756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Documents and Settings\VECTOR\Desktop\dot matric project ppt work\7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33" y="1081084"/>
            <a:ext cx="9144000" cy="50006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Documents and Settings\VECTOR\Desktop\dot matric project ppt work\8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933" y="872062"/>
            <a:ext cx="9144000" cy="5000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Documents and Settings\VECTOR\Desktop\dot matric project ppt work\9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14400"/>
            <a:ext cx="9144000" cy="5000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Documents and Settings\VECTOR\Desktop\dot matric project ppt work\Investors-Queri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7867" y="2277526"/>
            <a:ext cx="8534400" cy="20893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Documents and Settings\VECTOR\Desktop\dot matric project ppt work\3240.thank-you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</TotalTime>
  <Words>532</Words>
  <Application>Microsoft Office PowerPoint</Application>
  <PresentationFormat>On-screen Show (4:3)</PresentationFormat>
  <Paragraphs>96</Paragraphs>
  <Slides>28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Times New Roman</vt:lpstr>
      <vt:lpstr>Wingdings</vt:lpstr>
      <vt:lpstr>Office Theme</vt:lpstr>
      <vt:lpstr>PowerPoint Presentation</vt:lpstr>
      <vt:lpstr>8X8 DOT MATRIX DISPLAY</vt:lpstr>
      <vt:lpstr>What you should know to achieve the task</vt:lpstr>
      <vt:lpstr>How to turn on an LED</vt:lpstr>
      <vt:lpstr>How to turn on an LED in the dot-matrix?</vt:lpstr>
      <vt:lpstr>PowerPoint Presentation</vt:lpstr>
      <vt:lpstr>How to show a fixed LED pattern?</vt:lpstr>
      <vt:lpstr>PowerPoint Presentation</vt:lpstr>
      <vt:lpstr>The correct method</vt:lpstr>
      <vt:lpstr> </vt:lpstr>
      <vt:lpstr>PowerPoint Presentation</vt:lpstr>
      <vt:lpstr>DATA FOR SOME FONTS</vt:lpstr>
      <vt:lpstr>4 – dot matrix’s interface</vt:lpstr>
      <vt:lpstr>PowerPoint Presentation</vt:lpstr>
      <vt:lpstr>PowerPoint Presentation</vt:lpstr>
      <vt:lpstr>PowerPoint Presentation</vt:lpstr>
      <vt:lpstr>SOLUTION</vt:lpstr>
      <vt:lpstr>74HC164 (8-BIT SERIAL-IN PARALLEL OUT SHIFT REGISTER)</vt:lpstr>
      <vt:lpstr>74HC164 (8-BIT SERIAL-IN PARALLEL OUT SHIFT REGISTER)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DOT MATRIX DISPLAY</dc:title>
  <dc:creator/>
  <cp:lastModifiedBy>Chandramouli</cp:lastModifiedBy>
  <cp:revision>286</cp:revision>
  <dcterms:created xsi:type="dcterms:W3CDTF">2006-08-16T00:00:00Z</dcterms:created>
  <dcterms:modified xsi:type="dcterms:W3CDTF">2021-12-04T08:41:22Z</dcterms:modified>
</cp:coreProperties>
</file>