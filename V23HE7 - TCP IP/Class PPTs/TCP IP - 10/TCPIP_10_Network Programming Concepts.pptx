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8">
  <p:sldMasterIdLst>
    <p:sldMasterId id="2147483648" r:id="rId1"/>
  </p:sldMasterIdLst>
  <p:sldIdLst>
    <p:sldId id="275" r:id="rId2"/>
    <p:sldId id="276" r:id="rId3"/>
    <p:sldId id="27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79" r:id="rId12"/>
    <p:sldId id="263" r:id="rId13"/>
    <p:sldId id="264" r:id="rId14"/>
    <p:sldId id="267" r:id="rId15"/>
    <p:sldId id="271" r:id="rId16"/>
    <p:sldId id="268" r:id="rId17"/>
    <p:sldId id="269" r:id="rId18"/>
    <p:sldId id="270" r:id="rId19"/>
    <p:sldId id="272" r:id="rId20"/>
    <p:sldId id="277" r:id="rId21"/>
    <p:sldId id="302" r:id="rId22"/>
    <p:sldId id="301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02CA1A-E255-0842-6E48-393E452F43C3}" v="4" dt="2022-10-27T03:36:27.614"/>
    <p1510:client id="{4D1F5C24-6E44-A95B-B756-60792C3C4449}" v="4" dt="2021-12-04T03:36:48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>
      <p:cViewPr varScale="1">
        <p:scale>
          <a:sx n="85" d="100"/>
          <a:sy n="85" d="100"/>
        </p:scale>
        <p:origin x="14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De_facto_standard" TargetMode="External"/><Relationship Id="rId3" Type="http://schemas.openxmlformats.org/officeDocument/2006/relationships/hyperlink" Target="http://en.wikipedia.org/wiki/Library_(computing)" TargetMode="External"/><Relationship Id="rId7" Type="http://schemas.openxmlformats.org/officeDocument/2006/relationships/hyperlink" Target="http://en.wikipedia.org/wiki/Inter-process_communication" TargetMode="External"/><Relationship Id="rId2" Type="http://schemas.openxmlformats.org/officeDocument/2006/relationships/hyperlink" Target="http://en.wikipedia.org/wiki/Berkeley_Software_Distribu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Unix_domain_socket" TargetMode="External"/><Relationship Id="rId5" Type="http://schemas.openxmlformats.org/officeDocument/2006/relationships/hyperlink" Target="http://en.wikipedia.org/wiki/Internet_socket" TargetMode="External"/><Relationship Id="rId4" Type="http://schemas.openxmlformats.org/officeDocument/2006/relationships/hyperlink" Target="http://en.wikipedia.org/wiki/Application_programming_interface" TargetMode="External"/><Relationship Id="rId9" Type="http://schemas.openxmlformats.org/officeDocument/2006/relationships/hyperlink" Target="http://en.wikipedia.org/wiki/POSIX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 Programming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Client – Server  Model For Communication using TCP/IP protocol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Client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client is a program running on the local machine requesting service from a server.</a:t>
            </a:r>
          </a:p>
          <a:p>
            <a:r>
              <a:rPr lang="en-US" dirty="0"/>
              <a:t>It is a finite entity – i.e. started and terminated when service is complete.</a:t>
            </a:r>
          </a:p>
          <a:p>
            <a:r>
              <a:rPr lang="en-US" dirty="0"/>
              <a:t>It opens the communication channel using  servers IP and well-know port address. This is active open.</a:t>
            </a:r>
          </a:p>
          <a:p>
            <a:r>
              <a:rPr lang="en-US" dirty="0"/>
              <a:t>It initiates request(s) and  receives response(s).</a:t>
            </a:r>
          </a:p>
          <a:p>
            <a:r>
              <a:rPr lang="en-US" dirty="0"/>
              <a:t>After service is </a:t>
            </a:r>
            <a:r>
              <a:rPr lang="en-US" dirty="0" err="1"/>
              <a:t>completed,it</a:t>
            </a:r>
            <a:r>
              <a:rPr lang="en-US" dirty="0"/>
              <a:t> closes the communication channel with active close.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Server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server is a program running on the remote machine providing service to the clients.</a:t>
            </a:r>
          </a:p>
          <a:p>
            <a:r>
              <a:rPr lang="en-US" dirty="0"/>
              <a:t>It starts and waits for incoming requests from clients . This is called passive open.</a:t>
            </a:r>
          </a:p>
          <a:p>
            <a:r>
              <a:rPr lang="en-US" dirty="0"/>
              <a:t>It is an infinite entity.</a:t>
            </a:r>
          </a:p>
          <a:p>
            <a:r>
              <a:rPr lang="en-US" dirty="0"/>
              <a:t>It responds to request either iteratively or concurrently.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SERVER TYPES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38200"/>
            <a:ext cx="8534399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Connectionless Iterative Server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19200"/>
            <a:ext cx="8382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Connection-Oriented Concurrent Server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915399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Socket Interface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socket Interface is a set of instructions designed to </a:t>
            </a:r>
            <a:r>
              <a:rPr lang="en-US" dirty="0" err="1"/>
              <a:t>fecilitate</a:t>
            </a:r>
            <a:r>
              <a:rPr lang="en-US" dirty="0"/>
              <a:t>  interaction between client-server processes.</a:t>
            </a:r>
          </a:p>
          <a:p>
            <a:r>
              <a:rPr lang="en-US" dirty="0"/>
              <a:t>These are  usually API’s  for an OS</a:t>
            </a:r>
          </a:p>
          <a:p>
            <a:r>
              <a:rPr lang="en-US" dirty="0"/>
              <a:t>Can be set of  user defined functions/routines in firmware running in non </a:t>
            </a:r>
            <a:r>
              <a:rPr lang="en-US" dirty="0" err="1"/>
              <a:t>os</a:t>
            </a:r>
            <a:r>
              <a:rPr lang="en-US" dirty="0"/>
              <a:t> environment.</a:t>
            </a:r>
          </a:p>
          <a:p>
            <a:r>
              <a:rPr lang="en-US" dirty="0"/>
              <a:t>They allow to access services defined in the TCP/IP  protocol suite /stack.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of Socket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1"/>
            <a:ext cx="8382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What is a socket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334000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latin typeface="Times New Roman" pitchFamily="18" charset="0"/>
              </a:rPr>
              <a:t>A socket is </a:t>
            </a:r>
            <a:r>
              <a:rPr kumimoji="1" lang="en-US" altLang="ja-JP" u="sng" dirty="0">
                <a:solidFill>
                  <a:srgbClr val="FF0000"/>
                </a:solidFill>
                <a:latin typeface="Times New Roman" pitchFamily="18" charset="0"/>
              </a:rPr>
              <a:t>a virtual connection</a:t>
            </a:r>
            <a:r>
              <a:rPr kumimoji="1" lang="en-US" altLang="ja-JP" dirty="0">
                <a:latin typeface="Times New Roman" pitchFamily="18" charset="0"/>
              </a:rPr>
              <a:t> ,which servers as an endpoints for that connection between </a:t>
            </a:r>
            <a:r>
              <a:rPr kumimoji="1" lang="en-US" altLang="ja-JP" u="sng" dirty="0">
                <a:solidFill>
                  <a:schemeClr val="accent2"/>
                </a:solidFill>
                <a:latin typeface="Times New Roman" pitchFamily="18" charset="0"/>
              </a:rPr>
              <a:t>two processes (client and server)</a:t>
            </a:r>
            <a:r>
              <a:rPr kumimoji="1" lang="en-US" altLang="ja-JP" dirty="0">
                <a:latin typeface="Times New Roman" pitchFamily="18" charset="0"/>
              </a:rPr>
              <a:t> </a:t>
            </a:r>
          </a:p>
          <a:p>
            <a:r>
              <a:rPr lang="en-US" dirty="0"/>
              <a:t>A pair of similar/identical sockets  , at each end of communication ,is needed.</a:t>
            </a:r>
          </a:p>
          <a:p>
            <a:r>
              <a:rPr kumimoji="1" lang="en-US" altLang="ja-JP" dirty="0">
                <a:latin typeface="Times New Roman" pitchFamily="18" charset="0"/>
              </a:rPr>
              <a:t>The socket is the major IPC for Network/</a:t>
            </a:r>
            <a:r>
              <a:rPr kumimoji="1" lang="en-US" altLang="ja-JP" u="sng" dirty="0">
                <a:solidFill>
                  <a:srgbClr val="008000"/>
                </a:solidFill>
                <a:latin typeface="Times New Roman" pitchFamily="18" charset="0"/>
              </a:rPr>
              <a:t>Internet applications using TCP/IP protocol suite</a:t>
            </a:r>
          </a:p>
          <a:p>
            <a:r>
              <a:rPr lang="en-US" dirty="0"/>
              <a:t>A Socket is a software data structure</a:t>
            </a:r>
          </a:p>
          <a:p>
            <a:r>
              <a:rPr kumimoji="1" lang="en-US" altLang="ja-JP" dirty="0">
                <a:latin typeface="Times New Roman" pitchFamily="18" charset="0"/>
              </a:rPr>
              <a:t>Supports  </a:t>
            </a:r>
            <a:r>
              <a:rPr kumimoji="1" lang="en-US" altLang="ja-JP" u="sng" dirty="0">
                <a:solidFill>
                  <a:srgbClr val="FF6600"/>
                </a:solidFill>
                <a:latin typeface="Times New Roman" pitchFamily="18" charset="0"/>
              </a:rPr>
              <a:t>bi-directional</a:t>
            </a:r>
            <a:r>
              <a:rPr kumimoji="1" lang="en-US" altLang="ja-JP" dirty="0">
                <a:latin typeface="Times New Roman" pitchFamily="18" charset="0"/>
              </a:rPr>
              <a:t> (full-duplex) transmission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 of </a:t>
            </a:r>
            <a:r>
              <a:rPr lang="en-US"/>
              <a:t>Socket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Berkeley sockets</a:t>
            </a:r>
            <a:r>
              <a:rPr lang="en-US" dirty="0"/>
              <a:t> (or </a:t>
            </a:r>
            <a:r>
              <a:rPr lang="en-US" b="1" dirty="0">
                <a:hlinkClick r:id="rId2" tooltip="Berkeley Software Distribution"/>
              </a:rPr>
              <a:t>BSD</a:t>
            </a:r>
            <a:r>
              <a:rPr lang="en-US" b="1" dirty="0"/>
              <a:t> sockets</a:t>
            </a:r>
            <a:r>
              <a:rPr lang="en-US" dirty="0"/>
              <a:t>) is a </a:t>
            </a:r>
            <a:r>
              <a:rPr lang="en-US" dirty="0">
                <a:hlinkClick r:id="rId3" tooltip="Library (computing)"/>
              </a:rPr>
              <a:t>computing library</a:t>
            </a:r>
            <a:r>
              <a:rPr lang="en-US" dirty="0"/>
              <a:t> with an </a:t>
            </a:r>
            <a:r>
              <a:rPr lang="en-US" dirty="0">
                <a:hlinkClick r:id="rId4" tooltip="Application programming interface"/>
              </a:rPr>
              <a:t>application programming interface</a:t>
            </a:r>
            <a:r>
              <a:rPr lang="en-US" dirty="0"/>
              <a:t> (API) for </a:t>
            </a:r>
            <a:r>
              <a:rPr lang="en-US" dirty="0">
                <a:hlinkClick r:id="rId5" tooltip="Internet socket"/>
              </a:rPr>
              <a:t>internet sockets</a:t>
            </a:r>
            <a:r>
              <a:rPr lang="en-US" dirty="0"/>
              <a:t> and </a:t>
            </a:r>
            <a:r>
              <a:rPr lang="en-US" dirty="0">
                <a:hlinkClick r:id="rId6" tooltip="Unix domain socket"/>
              </a:rPr>
              <a:t>Unix domain sockets</a:t>
            </a:r>
            <a:r>
              <a:rPr lang="en-US" dirty="0"/>
              <a:t>, used for </a:t>
            </a:r>
            <a:r>
              <a:rPr lang="en-US" dirty="0">
                <a:hlinkClick r:id="rId7" tooltip="Inter-process communication"/>
              </a:rPr>
              <a:t>inter-process communication</a:t>
            </a:r>
            <a:r>
              <a:rPr lang="en-US" dirty="0"/>
              <a:t> (IPC).</a:t>
            </a:r>
          </a:p>
          <a:p>
            <a:r>
              <a:rPr lang="en-US" dirty="0"/>
              <a:t>As the API has evolved with little modification from a </a:t>
            </a:r>
            <a:r>
              <a:rPr lang="en-US" i="1" dirty="0">
                <a:hlinkClick r:id="rId8" tooltip="De facto standard"/>
              </a:rPr>
              <a:t>de facto</a:t>
            </a:r>
            <a:r>
              <a:rPr lang="en-US" dirty="0">
                <a:hlinkClick r:id="rId8" tooltip="De facto standard"/>
              </a:rPr>
              <a:t> standard</a:t>
            </a:r>
            <a:r>
              <a:rPr lang="en-US" dirty="0"/>
              <a:t> into part of the </a:t>
            </a:r>
            <a:r>
              <a:rPr lang="en-US" dirty="0">
                <a:hlinkClick r:id="rId9" tooltip="POSIX"/>
              </a:rPr>
              <a:t>POSIX</a:t>
            </a:r>
            <a:r>
              <a:rPr lang="en-US" dirty="0"/>
              <a:t> specification, </a:t>
            </a:r>
            <a:r>
              <a:rPr lang="en-US" b="1" dirty="0"/>
              <a:t>POSIX sockets</a:t>
            </a:r>
            <a:r>
              <a:rPr lang="en-US" dirty="0"/>
              <a:t> are basically Berkeley sockets.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data structure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28801"/>
            <a:ext cx="8610599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types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371600"/>
            <a:ext cx="84582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List of  socket  API ’s on  Linux/Unix/POSIX Compliant OSes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socket()—Get the File Descriptor!</a:t>
            </a:r>
          </a:p>
          <a:p>
            <a:r>
              <a:rPr lang="en-US" b="1" dirty="0"/>
              <a:t>bind()—What port am I on?</a:t>
            </a:r>
          </a:p>
          <a:p>
            <a:r>
              <a:rPr lang="en-US" b="1" dirty="0"/>
              <a:t>connect()—Hey, you!</a:t>
            </a:r>
          </a:p>
          <a:p>
            <a:r>
              <a:rPr lang="en-US" b="1" dirty="0"/>
              <a:t>listen()—Will somebody please call me?</a:t>
            </a:r>
          </a:p>
          <a:p>
            <a:r>
              <a:rPr lang="en-US" b="1" dirty="0"/>
              <a:t>accept()—"Thank you for calling to my port number for my service ."</a:t>
            </a:r>
          </a:p>
          <a:p>
            <a:r>
              <a:rPr lang="en-US" b="1" dirty="0"/>
              <a:t>send() and </a:t>
            </a:r>
            <a:r>
              <a:rPr lang="en-US" b="1" dirty="0" err="1"/>
              <a:t>recv</a:t>
            </a:r>
            <a:r>
              <a:rPr lang="en-US" b="1" dirty="0"/>
              <a:t>()—Lets us Talk Like This  (TCP style)</a:t>
            </a:r>
          </a:p>
          <a:p>
            <a:r>
              <a:rPr lang="en-US" b="1" dirty="0" err="1"/>
              <a:t>sendto</a:t>
            </a:r>
            <a:r>
              <a:rPr lang="en-US" b="1" dirty="0"/>
              <a:t>() and </a:t>
            </a:r>
            <a:r>
              <a:rPr lang="en-US" b="1" dirty="0" err="1"/>
              <a:t>recvfrom</a:t>
            </a:r>
            <a:r>
              <a:rPr lang="en-US" b="1" dirty="0"/>
              <a:t>()— OR Let us Talk in This way (UDP style)</a:t>
            </a:r>
          </a:p>
          <a:p>
            <a:r>
              <a:rPr lang="en-US" b="1" dirty="0"/>
              <a:t>close() - Let Both to say Bye </a:t>
            </a:r>
            <a:r>
              <a:rPr lang="en-US" b="1" dirty="0" err="1"/>
              <a:t>Bye</a:t>
            </a:r>
            <a:r>
              <a:rPr lang="en-US" b="1" dirty="0"/>
              <a:t>  !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shutdown()-Let Both to say Bye </a:t>
            </a:r>
            <a:r>
              <a:rPr lang="en-US" b="1" dirty="0" err="1"/>
              <a:t>Bye</a:t>
            </a:r>
            <a:r>
              <a:rPr lang="en-US" b="1" dirty="0"/>
              <a:t> unless if  there are other plans !                                         </a:t>
            </a:r>
          </a:p>
          <a:p>
            <a:r>
              <a:rPr lang="en-US" b="1" dirty="0" err="1"/>
              <a:t>getpeername</a:t>
            </a:r>
            <a:r>
              <a:rPr lang="en-US" b="1" dirty="0"/>
              <a:t>()—Who are you?</a:t>
            </a:r>
          </a:p>
          <a:p>
            <a:r>
              <a:rPr lang="en-US" b="1" dirty="0" err="1"/>
              <a:t>gethostname</a:t>
            </a:r>
            <a:r>
              <a:rPr lang="en-US" b="1" dirty="0"/>
              <a:t>()—Who am I?</a:t>
            </a:r>
          </a:p>
          <a:p>
            <a:r>
              <a:rPr lang="en-US" b="1" dirty="0" err="1"/>
              <a:t>gethostbyname</a:t>
            </a:r>
            <a:r>
              <a:rPr lang="en-US" b="1" dirty="0"/>
              <a:t>() – What is my IP?</a:t>
            </a:r>
            <a:endParaRPr lang="en-US" dirty="0"/>
          </a:p>
          <a:p>
            <a:r>
              <a:rPr lang="en-US" dirty="0" err="1"/>
              <a:t>gethostbyaddr</a:t>
            </a:r>
            <a:r>
              <a:rPr lang="en-US" dirty="0"/>
              <a:t>() – What is my name ?</a:t>
            </a:r>
          </a:p>
          <a:p>
            <a:r>
              <a:rPr lang="en-US" dirty="0"/>
              <a:t>…. Many more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Ordering Functions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Host byte order may be Little </a:t>
            </a:r>
            <a:r>
              <a:rPr lang="en-US" dirty="0" err="1"/>
              <a:t>Endian</a:t>
            </a:r>
            <a:r>
              <a:rPr lang="en-US" dirty="0"/>
              <a:t>/Big </a:t>
            </a:r>
            <a:r>
              <a:rPr lang="en-US" dirty="0" err="1"/>
              <a:t>Endian</a:t>
            </a:r>
            <a:endParaRPr lang="en-US" dirty="0"/>
          </a:p>
          <a:p>
            <a:r>
              <a:rPr lang="en-US" dirty="0"/>
              <a:t>Network Byte Order is Big </a:t>
            </a:r>
            <a:r>
              <a:rPr lang="en-US" dirty="0" err="1"/>
              <a:t>Endian</a:t>
            </a: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352800"/>
            <a:ext cx="80772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Conversion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To convert IPV4 dotted decimal presentation  to a number to be stored in socket structure member.</a:t>
            </a:r>
            <a:endParaRPr lang="en-US" dirty="0">
              <a:cs typeface="Calibri"/>
            </a:endParaRPr>
          </a:p>
          <a:p>
            <a:r>
              <a:rPr lang="en-US" dirty="0"/>
              <a:t>And VICE-VERSA function are -</a:t>
            </a:r>
          </a:p>
          <a:p>
            <a:r>
              <a:rPr lang="en-US" dirty="0" err="1"/>
              <a:t>inet_addr</a:t>
            </a:r>
            <a:r>
              <a:rPr lang="en-US" dirty="0"/>
              <a:t>();</a:t>
            </a:r>
          </a:p>
          <a:p>
            <a:r>
              <a:rPr lang="en-US" dirty="0" err="1"/>
              <a:t>inet_ntoa</a:t>
            </a:r>
            <a:r>
              <a:rPr lang="en-US" dirty="0"/>
              <a:t>();</a:t>
            </a:r>
          </a:p>
          <a:p>
            <a:r>
              <a:rPr lang="en-US" dirty="0" err="1"/>
              <a:t>inet_pton</a:t>
            </a:r>
            <a:r>
              <a:rPr lang="en-US" dirty="0"/>
              <a:t>();</a:t>
            </a:r>
          </a:p>
          <a:p>
            <a:r>
              <a:rPr lang="en-US" dirty="0" err="1"/>
              <a:t>inet_ntop</a:t>
            </a:r>
            <a:r>
              <a:rPr lang="en-US" dirty="0"/>
              <a:t>();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 fontScale="90000"/>
          </a:bodyPr>
          <a:lstStyle/>
          <a:p>
            <a:r>
              <a:rPr lang="en-US" dirty="0"/>
              <a:t>List of headers for socket programming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8674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&lt;sys/</a:t>
            </a:r>
            <a:r>
              <a:rPr lang="en-US" b="1" dirty="0" err="1"/>
              <a:t>types.h</a:t>
            </a:r>
            <a:r>
              <a:rPr lang="en-US" b="1" dirty="0"/>
              <a:t>&gt;</a:t>
            </a:r>
          </a:p>
          <a:p>
            <a:pPr>
              <a:buNone/>
            </a:pPr>
            <a:r>
              <a:rPr lang="en-US" b="1" dirty="0"/>
              <a:t>    Predefined </a:t>
            </a:r>
            <a:r>
              <a:rPr lang="en-US" b="1" dirty="0" err="1"/>
              <a:t>typedefs</a:t>
            </a:r>
            <a:r>
              <a:rPr lang="en-US" b="1" dirty="0"/>
              <a:t> for Unix/Linux Os</a:t>
            </a:r>
          </a:p>
          <a:p>
            <a:pPr>
              <a:buNone/>
            </a:pPr>
            <a:r>
              <a:rPr lang="en-US" b="1" dirty="0"/>
              <a:t>&lt;sys/</a:t>
            </a:r>
            <a:r>
              <a:rPr lang="en-US" b="1" dirty="0" err="1"/>
              <a:t>socket.h</a:t>
            </a:r>
            <a:r>
              <a:rPr lang="en-US" b="1" dirty="0"/>
              <a:t>&gt;</a:t>
            </a:r>
            <a:endParaRPr lang="en-US" dirty="0"/>
          </a:p>
          <a:p>
            <a:r>
              <a:rPr lang="en-US" dirty="0"/>
              <a:t>Core BSD socket functions and data structures.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b="1" dirty="0"/>
              <a:t>&lt;</a:t>
            </a:r>
            <a:r>
              <a:rPr lang="en-US" b="1" dirty="0" err="1"/>
              <a:t>netinet</a:t>
            </a:r>
            <a:r>
              <a:rPr lang="en-US" b="1" dirty="0"/>
              <a:t>/</a:t>
            </a:r>
            <a:r>
              <a:rPr lang="en-US" b="1" dirty="0" err="1"/>
              <a:t>in.h</a:t>
            </a:r>
            <a:r>
              <a:rPr lang="en-US" b="1" dirty="0"/>
              <a:t>&gt;</a:t>
            </a:r>
            <a:endParaRPr lang="en-US" dirty="0"/>
          </a:p>
          <a:p>
            <a:r>
              <a:rPr lang="en-US" dirty="0"/>
              <a:t>AF_INET and AF_INET6 address families and their corresponding protocol families PF_INET and PF_INET6. Widely used on the Internet, these include IP addresses and TCP and UDP port numbers.</a:t>
            </a:r>
          </a:p>
          <a:p>
            <a:pPr>
              <a:buNone/>
            </a:pPr>
            <a:r>
              <a:rPr lang="en-US" dirty="0"/>
              <a:t> </a:t>
            </a:r>
            <a:r>
              <a:rPr lang="en-US" b="1" dirty="0"/>
              <a:t>&lt;</a:t>
            </a:r>
            <a:r>
              <a:rPr lang="en-US" b="1" dirty="0" err="1"/>
              <a:t>arpa</a:t>
            </a:r>
            <a:r>
              <a:rPr lang="en-US" b="1" dirty="0"/>
              <a:t>/</a:t>
            </a:r>
            <a:r>
              <a:rPr lang="en-US" b="1" dirty="0" err="1"/>
              <a:t>inet.h</a:t>
            </a:r>
            <a:r>
              <a:rPr lang="en-US" b="1" dirty="0"/>
              <a:t>&gt;</a:t>
            </a:r>
            <a:endParaRPr lang="en-US" dirty="0"/>
          </a:p>
          <a:p>
            <a:r>
              <a:rPr lang="en-US" dirty="0"/>
              <a:t>Functions for manipulating numeric IP addresses.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b="1" dirty="0"/>
              <a:t>&lt;</a:t>
            </a:r>
            <a:r>
              <a:rPr lang="en-US" b="1" dirty="0" err="1"/>
              <a:t>netdb.h</a:t>
            </a:r>
            <a:r>
              <a:rPr lang="en-US" b="1" dirty="0"/>
              <a:t>&gt;</a:t>
            </a:r>
            <a:endParaRPr lang="en-US" dirty="0"/>
          </a:p>
          <a:p>
            <a:r>
              <a:rPr lang="en-US" dirty="0"/>
              <a:t>Functions for translating protocol names and host names into numeric addresses.</a:t>
            </a:r>
          </a:p>
          <a:p>
            <a:r>
              <a:rPr lang="en-US" dirty="0"/>
              <a:t>Searches local data as well as DNS.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Additional Header that may be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/>
              <a:t>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unistd.h</a:t>
            </a:r>
            <a:r>
              <a:rPr lang="en-US" dirty="0"/>
              <a:t>&gt;</a:t>
            </a:r>
          </a:p>
          <a:p>
            <a:r>
              <a:rPr lang="en-US" dirty="0"/>
              <a:t>&lt;</a:t>
            </a:r>
            <a:r>
              <a:rPr lang="en-US" dirty="0" err="1"/>
              <a:t>errno.h</a:t>
            </a:r>
            <a:r>
              <a:rPr lang="en-US" dirty="0"/>
              <a:t>&gt;</a:t>
            </a:r>
          </a:p>
          <a:p>
            <a:r>
              <a:rPr lang="en-US" dirty="0"/>
              <a:t> &lt;</a:t>
            </a:r>
            <a:r>
              <a:rPr lang="en-US" dirty="0" err="1"/>
              <a:t>strings.h</a:t>
            </a:r>
            <a:r>
              <a:rPr lang="en-US" dirty="0"/>
              <a:t>&gt;</a:t>
            </a:r>
          </a:p>
          <a:p>
            <a:r>
              <a:rPr lang="en-US" dirty="0"/>
              <a:t>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r>
              <a:rPr lang="en-US" dirty="0"/>
              <a:t> &lt;</a:t>
            </a:r>
            <a:r>
              <a:rPr lang="en-US" dirty="0" err="1"/>
              <a:t>signal.h</a:t>
            </a:r>
            <a:r>
              <a:rPr lang="en-US" dirty="0"/>
              <a:t>&gt;</a:t>
            </a:r>
          </a:p>
          <a:p>
            <a:r>
              <a:rPr lang="en-US" dirty="0"/>
              <a:t> &lt;sys/</a:t>
            </a:r>
            <a:r>
              <a:rPr lang="en-US" dirty="0" err="1"/>
              <a:t>wait.h</a:t>
            </a:r>
            <a:r>
              <a:rPr lang="en-US" dirty="0"/>
              <a:t>&gt;</a:t>
            </a:r>
          </a:p>
          <a:p>
            <a:r>
              <a:rPr lang="en-US" dirty="0"/>
              <a:t>……and more depending on application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/>
          <a:lstStyle/>
          <a:p>
            <a:r>
              <a:rPr lang="en-US" dirty="0"/>
              <a:t>TCP Client – </a:t>
            </a:r>
            <a:r>
              <a:rPr lang="en-US"/>
              <a:t>Server (Basic) </a:t>
            </a:r>
            <a:r>
              <a:rPr lang="en-US" dirty="0"/>
              <a:t>Model</a:t>
            </a:r>
          </a:p>
        </p:txBody>
      </p:sp>
      <p:pic>
        <p:nvPicPr>
          <p:cNvPr id="25602" name="Picture 2" descr="The Linux network socket tutorial on TCP/IP client-server concept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685800"/>
            <a:ext cx="7162800" cy="5943600"/>
          </a:xfrm>
          <a:prstGeom prst="rect">
            <a:avLst/>
          </a:prstGeom>
          <a:noFill/>
        </p:spPr>
      </p:pic>
      <p:cxnSp>
        <p:nvCxnSpPr>
          <p:cNvPr id="6" name="Straight Arrow Connector 5"/>
          <p:cNvCxnSpPr/>
          <p:nvPr/>
        </p:nvCxnSpPr>
        <p:spPr>
          <a:xfrm>
            <a:off x="2971800" y="3810000"/>
            <a:ext cx="3048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200400" y="6400800"/>
            <a:ext cx="2895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3200400" y="6477000"/>
            <a:ext cx="2895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05200" y="5943600"/>
            <a:ext cx="2209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Connection termination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How to Simulate a TCP/UDP Client Using Netca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/>
              <a:t>UDP Server – Client Model</a:t>
            </a:r>
          </a:p>
        </p:txBody>
      </p:sp>
      <p:pic>
        <p:nvPicPr>
          <p:cNvPr id="59394" name="Picture 2" descr="The Linux socket and network TCP client-server C program exampl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609600"/>
            <a:ext cx="6172200" cy="609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A5F7C3E-909C-42D6-A6C9-5FE490AF962F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1638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DAD1E9B-9802-40FD-94B5-0A024AD1D6D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165" name="Rectangle 93"/>
          <p:cNvSpPr>
            <a:spLocks noChangeArrowheads="1"/>
          </p:cNvSpPr>
          <p:nvPr/>
        </p:nvSpPr>
        <p:spPr bwMode="auto">
          <a:xfrm>
            <a:off x="228600" y="228600"/>
            <a:ext cx="8686800" cy="59309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6390" name="Line 11"/>
          <p:cNvSpPr>
            <a:spLocks noChangeShapeType="1"/>
          </p:cNvSpPr>
          <p:nvPr/>
        </p:nvSpPr>
        <p:spPr bwMode="auto">
          <a:xfrm flipV="1">
            <a:off x="715963" y="4954588"/>
            <a:ext cx="748823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13"/>
          <p:cNvSpPr>
            <a:spLocks noChangeShapeType="1"/>
          </p:cNvSpPr>
          <p:nvPr/>
        </p:nvSpPr>
        <p:spPr bwMode="auto">
          <a:xfrm>
            <a:off x="1657350" y="4129088"/>
            <a:ext cx="4763" cy="8112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Rectangle 17"/>
          <p:cNvSpPr>
            <a:spLocks noChangeArrowheads="1"/>
          </p:cNvSpPr>
          <p:nvPr/>
        </p:nvSpPr>
        <p:spPr bwMode="auto">
          <a:xfrm>
            <a:off x="4030663" y="5011738"/>
            <a:ext cx="107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Network</a:t>
            </a:r>
          </a:p>
        </p:txBody>
      </p:sp>
      <p:sp>
        <p:nvSpPr>
          <p:cNvPr id="16393" name="Rectangle 18"/>
          <p:cNvSpPr>
            <a:spLocks noChangeArrowheads="1"/>
          </p:cNvSpPr>
          <p:nvPr/>
        </p:nvSpPr>
        <p:spPr bwMode="auto">
          <a:xfrm>
            <a:off x="419100" y="1136650"/>
            <a:ext cx="6704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400">
                <a:latin typeface="Times New Roman" pitchFamily="18" charset="0"/>
              </a:rPr>
              <a:t>Socket as </a:t>
            </a:r>
            <a:r>
              <a:rPr kumimoji="1" lang="en-US" altLang="ja-JP" sz="2400">
                <a:solidFill>
                  <a:srgbClr val="FF0000"/>
                </a:solidFill>
                <a:latin typeface="Times New Roman" pitchFamily="18" charset="0"/>
              </a:rPr>
              <a:t>a virtual connection</a:t>
            </a:r>
            <a:r>
              <a:rPr kumimoji="1" lang="en-US" altLang="ja-JP" sz="2400">
                <a:latin typeface="Times New Roman" pitchFamily="18" charset="0"/>
              </a:rPr>
              <a:t> between two processes</a:t>
            </a:r>
          </a:p>
        </p:txBody>
      </p:sp>
      <p:sp>
        <p:nvSpPr>
          <p:cNvPr id="16394" name="Rectangle 22"/>
          <p:cNvSpPr>
            <a:spLocks noChangeArrowheads="1"/>
          </p:cNvSpPr>
          <p:nvPr/>
        </p:nvSpPr>
        <p:spPr bwMode="auto">
          <a:xfrm>
            <a:off x="3376613" y="5262563"/>
            <a:ext cx="24304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(</a:t>
            </a:r>
            <a:r>
              <a:rPr kumimoji="1" lang="en-US" altLang="ja-JP" sz="2000" b="1" i="1">
                <a:solidFill>
                  <a:srgbClr val="008000"/>
                </a:solidFill>
                <a:latin typeface="Times New Roman" pitchFamily="18" charset="0"/>
              </a:rPr>
              <a:t>physical connection</a:t>
            </a:r>
            <a:r>
              <a:rPr kumimoji="1" lang="en-US" altLang="ja-JP" sz="2000">
                <a:latin typeface="Times New Roman" pitchFamily="18" charset="0"/>
              </a:rPr>
              <a:t>)</a:t>
            </a:r>
          </a:p>
        </p:txBody>
      </p:sp>
      <p:sp>
        <p:nvSpPr>
          <p:cNvPr id="16395" name="Rectangle 23"/>
          <p:cNvSpPr>
            <a:spLocks noChangeArrowheads="1"/>
          </p:cNvSpPr>
          <p:nvPr/>
        </p:nvSpPr>
        <p:spPr bwMode="auto">
          <a:xfrm>
            <a:off x="6346825" y="2400300"/>
            <a:ext cx="1874838" cy="1462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6" name="Oval 24"/>
          <p:cNvSpPr>
            <a:spLocks noChangeArrowheads="1"/>
          </p:cNvSpPr>
          <p:nvPr/>
        </p:nvSpPr>
        <p:spPr bwMode="auto">
          <a:xfrm>
            <a:off x="6689725" y="2447925"/>
            <a:ext cx="1187450" cy="10033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Rectangle 27"/>
          <p:cNvSpPr>
            <a:spLocks noChangeArrowheads="1"/>
          </p:cNvSpPr>
          <p:nvPr/>
        </p:nvSpPr>
        <p:spPr bwMode="auto">
          <a:xfrm>
            <a:off x="6816725" y="1990725"/>
            <a:ext cx="8969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Host B</a:t>
            </a:r>
          </a:p>
        </p:txBody>
      </p:sp>
      <p:sp>
        <p:nvSpPr>
          <p:cNvPr id="16398" name="Rectangle 28"/>
          <p:cNvSpPr>
            <a:spLocks noChangeArrowheads="1"/>
          </p:cNvSpPr>
          <p:nvPr/>
        </p:nvSpPr>
        <p:spPr bwMode="auto">
          <a:xfrm>
            <a:off x="6711950" y="2757488"/>
            <a:ext cx="1149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Process 2</a:t>
            </a:r>
          </a:p>
        </p:txBody>
      </p:sp>
      <p:sp>
        <p:nvSpPr>
          <p:cNvPr id="16399" name="Rectangle 38"/>
          <p:cNvSpPr>
            <a:spLocks noChangeArrowheads="1"/>
          </p:cNvSpPr>
          <p:nvPr/>
        </p:nvSpPr>
        <p:spPr bwMode="auto">
          <a:xfrm>
            <a:off x="741363" y="2400300"/>
            <a:ext cx="1874837" cy="1462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Oval 39"/>
          <p:cNvSpPr>
            <a:spLocks noChangeArrowheads="1"/>
          </p:cNvSpPr>
          <p:nvPr/>
        </p:nvSpPr>
        <p:spPr bwMode="auto">
          <a:xfrm>
            <a:off x="1096963" y="2447925"/>
            <a:ext cx="1187450" cy="10033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1" name="Rectangle 40"/>
          <p:cNvSpPr>
            <a:spLocks noChangeArrowheads="1"/>
          </p:cNvSpPr>
          <p:nvPr/>
        </p:nvSpPr>
        <p:spPr bwMode="auto">
          <a:xfrm>
            <a:off x="1223963" y="1990725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Host A</a:t>
            </a:r>
          </a:p>
        </p:txBody>
      </p:sp>
      <p:sp>
        <p:nvSpPr>
          <p:cNvPr id="16402" name="Rectangle 41"/>
          <p:cNvSpPr>
            <a:spLocks noChangeArrowheads="1"/>
          </p:cNvSpPr>
          <p:nvPr/>
        </p:nvSpPr>
        <p:spPr bwMode="auto">
          <a:xfrm>
            <a:off x="1119188" y="2744788"/>
            <a:ext cx="11493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Process 1</a:t>
            </a:r>
          </a:p>
        </p:txBody>
      </p:sp>
      <p:sp>
        <p:nvSpPr>
          <p:cNvPr id="16403" name="Line 43"/>
          <p:cNvSpPr>
            <a:spLocks noChangeShapeType="1"/>
          </p:cNvSpPr>
          <p:nvPr/>
        </p:nvSpPr>
        <p:spPr bwMode="auto">
          <a:xfrm>
            <a:off x="7308850" y="4124325"/>
            <a:ext cx="1588" cy="8143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4" name="Rectangle 42"/>
          <p:cNvSpPr>
            <a:spLocks noChangeArrowheads="1"/>
          </p:cNvSpPr>
          <p:nvPr/>
        </p:nvSpPr>
        <p:spPr bwMode="auto">
          <a:xfrm>
            <a:off x="7102475" y="3862388"/>
            <a:ext cx="393700" cy="311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5" name="Rectangle 12"/>
          <p:cNvSpPr>
            <a:spLocks noChangeArrowheads="1"/>
          </p:cNvSpPr>
          <p:nvPr/>
        </p:nvSpPr>
        <p:spPr bwMode="auto">
          <a:xfrm>
            <a:off x="1473200" y="3862388"/>
            <a:ext cx="393700" cy="3111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1755775" y="3963988"/>
            <a:ext cx="5522913" cy="806450"/>
            <a:chOff x="1106" y="2497"/>
            <a:chExt cx="3479" cy="508"/>
          </a:xfrm>
        </p:grpSpPr>
        <p:sp>
          <p:nvSpPr>
            <p:cNvPr id="16434" name="Rectangle 15"/>
            <p:cNvSpPr>
              <a:spLocks noChangeArrowheads="1"/>
            </p:cNvSpPr>
            <p:nvPr/>
          </p:nvSpPr>
          <p:spPr bwMode="auto">
            <a:xfrm>
              <a:off x="2234" y="2793"/>
              <a:ext cx="129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1600">
                  <a:solidFill>
                    <a:srgbClr val="CC0066"/>
                  </a:solidFill>
                  <a:latin typeface="Times New Roman" pitchFamily="18" charset="0"/>
                </a:rPr>
                <a:t>Network Adapter Card</a:t>
              </a:r>
              <a:endParaRPr kumimoji="1" lang="en-US" altLang="ja-JP" sz="2400">
                <a:solidFill>
                  <a:srgbClr val="CC0066"/>
                </a:solidFill>
                <a:latin typeface="Times New Roman" pitchFamily="18" charset="0"/>
              </a:endParaRPr>
            </a:p>
          </p:txBody>
        </p:sp>
        <p:sp>
          <p:nvSpPr>
            <p:cNvPr id="16435" name="Line 32"/>
            <p:cNvSpPr>
              <a:spLocks noChangeShapeType="1"/>
            </p:cNvSpPr>
            <p:nvPr/>
          </p:nvSpPr>
          <p:spPr bwMode="auto">
            <a:xfrm flipV="1">
              <a:off x="3484" y="2513"/>
              <a:ext cx="1101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6" name="Line 31"/>
            <p:cNvSpPr>
              <a:spLocks noChangeShapeType="1"/>
            </p:cNvSpPr>
            <p:nvPr/>
          </p:nvSpPr>
          <p:spPr bwMode="auto">
            <a:xfrm flipH="1" flipV="1">
              <a:off x="1106" y="2497"/>
              <a:ext cx="114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34" name="Line 62"/>
          <p:cNvSpPr>
            <a:spLocks noChangeShapeType="1"/>
          </p:cNvSpPr>
          <p:nvPr/>
        </p:nvSpPr>
        <p:spPr bwMode="auto">
          <a:xfrm>
            <a:off x="3873500" y="4864100"/>
            <a:ext cx="1460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1498600" y="2017713"/>
            <a:ext cx="5969000" cy="1766887"/>
            <a:chOff x="944" y="1271"/>
            <a:chExt cx="3760" cy="1113"/>
          </a:xfrm>
        </p:grpSpPr>
        <p:grpSp>
          <p:nvGrpSpPr>
            <p:cNvPr id="4" name="Group 82"/>
            <p:cNvGrpSpPr>
              <a:grpSpLocks/>
            </p:cNvGrpSpPr>
            <p:nvPr/>
          </p:nvGrpSpPr>
          <p:grpSpPr bwMode="auto">
            <a:xfrm>
              <a:off x="944" y="2200"/>
              <a:ext cx="3760" cy="184"/>
              <a:chOff x="944" y="2200"/>
              <a:chExt cx="3760" cy="184"/>
            </a:xfrm>
          </p:grpSpPr>
          <p:sp>
            <p:nvSpPr>
              <p:cNvPr id="16432" name="AutoShape 76"/>
              <p:cNvSpPr>
                <a:spLocks noChangeArrowheads="1"/>
              </p:cNvSpPr>
              <p:nvPr/>
            </p:nvSpPr>
            <p:spPr bwMode="auto">
              <a:xfrm>
                <a:off x="944" y="2224"/>
                <a:ext cx="216" cy="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3" name="AutoShape 77"/>
              <p:cNvSpPr>
                <a:spLocks noChangeArrowheads="1"/>
              </p:cNvSpPr>
              <p:nvPr/>
            </p:nvSpPr>
            <p:spPr bwMode="auto">
              <a:xfrm>
                <a:off x="4488" y="2200"/>
                <a:ext cx="216" cy="16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81"/>
            <p:cNvGrpSpPr>
              <a:grpSpLocks/>
            </p:cNvGrpSpPr>
            <p:nvPr/>
          </p:nvGrpSpPr>
          <p:grpSpPr bwMode="auto">
            <a:xfrm>
              <a:off x="1000" y="1271"/>
              <a:ext cx="3624" cy="1025"/>
              <a:chOff x="1000" y="1271"/>
              <a:chExt cx="3624" cy="1025"/>
            </a:xfrm>
          </p:grpSpPr>
          <p:sp>
            <p:nvSpPr>
              <p:cNvPr id="16429" name="Text Box 78"/>
              <p:cNvSpPr txBox="1">
                <a:spLocks noChangeArrowheads="1"/>
              </p:cNvSpPr>
              <p:nvPr/>
            </p:nvSpPr>
            <p:spPr bwMode="auto">
              <a:xfrm>
                <a:off x="2206" y="1271"/>
                <a:ext cx="132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600" b="1">
                    <a:solidFill>
                      <a:srgbClr val="FF0000"/>
                    </a:solidFill>
                    <a:latin typeface="Times New Roman" pitchFamily="18" charset="0"/>
                  </a:rPr>
                  <a:t>Socket + NW protocol</a:t>
                </a:r>
              </a:p>
            </p:txBody>
          </p:sp>
          <p:sp>
            <p:nvSpPr>
              <p:cNvPr id="16430" name="Line 79"/>
              <p:cNvSpPr>
                <a:spLocks noChangeShapeType="1"/>
              </p:cNvSpPr>
              <p:nvPr/>
            </p:nvSpPr>
            <p:spPr bwMode="auto">
              <a:xfrm flipH="1">
                <a:off x="1000" y="1376"/>
                <a:ext cx="1224" cy="9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31" name="Line 80"/>
              <p:cNvSpPr>
                <a:spLocks noChangeShapeType="1"/>
              </p:cNvSpPr>
              <p:nvPr/>
            </p:nvSpPr>
            <p:spPr bwMode="auto">
              <a:xfrm>
                <a:off x="3488" y="1400"/>
                <a:ext cx="1136" cy="8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6159500" y="3683000"/>
            <a:ext cx="1016000" cy="1181100"/>
            <a:chOff x="3880" y="2320"/>
            <a:chExt cx="640" cy="744"/>
          </a:xfrm>
        </p:grpSpPr>
        <p:sp>
          <p:nvSpPr>
            <p:cNvPr id="16425" name="Line 72"/>
            <p:cNvSpPr>
              <a:spLocks noChangeShapeType="1"/>
            </p:cNvSpPr>
            <p:nvPr/>
          </p:nvSpPr>
          <p:spPr bwMode="auto">
            <a:xfrm>
              <a:off x="3880" y="3056"/>
              <a:ext cx="6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Line 73"/>
            <p:cNvSpPr>
              <a:spLocks noChangeShapeType="1"/>
            </p:cNvSpPr>
            <p:nvPr/>
          </p:nvSpPr>
          <p:spPr bwMode="auto">
            <a:xfrm flipV="1">
              <a:off x="4520" y="2320"/>
              <a:ext cx="0" cy="74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1801813" y="3733800"/>
            <a:ext cx="941387" cy="1127125"/>
            <a:chOff x="1135" y="2344"/>
            <a:chExt cx="593" cy="710"/>
          </a:xfrm>
        </p:grpSpPr>
        <p:sp>
          <p:nvSpPr>
            <p:cNvPr id="16423" name="Line 45"/>
            <p:cNvSpPr>
              <a:spLocks noChangeShapeType="1"/>
            </p:cNvSpPr>
            <p:nvPr/>
          </p:nvSpPr>
          <p:spPr bwMode="auto">
            <a:xfrm>
              <a:off x="1135" y="2344"/>
              <a:ext cx="0" cy="7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24" name="Line 70"/>
            <p:cNvSpPr>
              <a:spLocks noChangeShapeType="1"/>
            </p:cNvSpPr>
            <p:nvPr/>
          </p:nvSpPr>
          <p:spPr bwMode="auto">
            <a:xfrm>
              <a:off x="1136" y="3048"/>
              <a:ext cx="5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5"/>
          <p:cNvGrpSpPr>
            <a:grpSpLocks/>
          </p:cNvGrpSpPr>
          <p:nvPr/>
        </p:nvGrpSpPr>
        <p:grpSpPr bwMode="auto">
          <a:xfrm>
            <a:off x="1714500" y="2755900"/>
            <a:ext cx="5549900" cy="850900"/>
            <a:chOff x="1080" y="1736"/>
            <a:chExt cx="3496" cy="536"/>
          </a:xfrm>
        </p:grpSpPr>
        <p:sp>
          <p:nvSpPr>
            <p:cNvPr id="16420" name="Line 63"/>
            <p:cNvSpPr>
              <a:spLocks noChangeShapeType="1"/>
            </p:cNvSpPr>
            <p:nvPr/>
          </p:nvSpPr>
          <p:spPr bwMode="auto">
            <a:xfrm flipV="1">
              <a:off x="1080" y="2272"/>
              <a:ext cx="349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Rectangle 14"/>
            <p:cNvSpPr>
              <a:spLocks noChangeArrowheads="1"/>
            </p:cNvSpPr>
            <p:nvPr/>
          </p:nvSpPr>
          <p:spPr bwMode="auto">
            <a:xfrm>
              <a:off x="2234" y="1736"/>
              <a:ext cx="12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latin typeface="Times New Roman" pitchFamily="18" charset="0"/>
                </a:rPr>
                <a:t>Socket connection</a:t>
              </a:r>
            </a:p>
          </p:txBody>
        </p:sp>
        <p:sp>
          <p:nvSpPr>
            <p:cNvPr id="16422" name="Text Box 30"/>
            <p:cNvSpPr txBox="1">
              <a:spLocks noChangeArrowheads="1"/>
            </p:cNvSpPr>
            <p:nvPr/>
          </p:nvSpPr>
          <p:spPr bwMode="auto">
            <a:xfrm>
              <a:off x="2188" y="1963"/>
              <a:ext cx="1424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2000">
                  <a:latin typeface="Times New Roman" pitchFamily="18" charset="0"/>
                </a:rPr>
                <a:t>(</a:t>
              </a:r>
              <a:r>
                <a:rPr kumimoji="1" lang="en-US" altLang="ja-JP" sz="2000" b="1" i="1">
                  <a:solidFill>
                    <a:srgbClr val="008000"/>
                  </a:solidFill>
                  <a:latin typeface="Times New Roman" pitchFamily="18" charset="0"/>
                </a:rPr>
                <a:t>virtual connection</a:t>
              </a:r>
              <a:r>
                <a:rPr kumimoji="1" lang="en-US" altLang="ja-JP" sz="2000"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1525588" y="3594100"/>
            <a:ext cx="5929312" cy="2395538"/>
            <a:chOff x="961" y="2080"/>
            <a:chExt cx="3735" cy="1509"/>
          </a:xfrm>
        </p:grpSpPr>
        <p:sp>
          <p:nvSpPr>
            <p:cNvPr id="16417" name="Line 34"/>
            <p:cNvSpPr>
              <a:spLocks noChangeShapeType="1"/>
            </p:cNvSpPr>
            <p:nvPr/>
          </p:nvSpPr>
          <p:spPr bwMode="auto">
            <a:xfrm>
              <a:off x="964" y="3580"/>
              <a:ext cx="3708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8" name="Line 33"/>
            <p:cNvSpPr>
              <a:spLocks noChangeShapeType="1"/>
            </p:cNvSpPr>
            <p:nvPr/>
          </p:nvSpPr>
          <p:spPr bwMode="auto">
            <a:xfrm>
              <a:off x="961" y="2080"/>
              <a:ext cx="0" cy="15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9" name="Line 35"/>
            <p:cNvSpPr>
              <a:spLocks noChangeShapeType="1"/>
            </p:cNvSpPr>
            <p:nvPr/>
          </p:nvSpPr>
          <p:spPr bwMode="auto">
            <a:xfrm flipV="1">
              <a:off x="4696" y="2096"/>
              <a:ext cx="0" cy="149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58" name="Line 86"/>
          <p:cNvSpPr>
            <a:spLocks noChangeShapeType="1"/>
          </p:cNvSpPr>
          <p:nvPr/>
        </p:nvSpPr>
        <p:spPr bwMode="auto">
          <a:xfrm>
            <a:off x="1676400" y="3365500"/>
            <a:ext cx="0" cy="292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59" name="Line 87"/>
          <p:cNvSpPr>
            <a:spLocks noChangeShapeType="1"/>
          </p:cNvSpPr>
          <p:nvPr/>
        </p:nvSpPr>
        <p:spPr bwMode="auto">
          <a:xfrm flipV="1">
            <a:off x="7340600" y="3314700"/>
            <a:ext cx="0" cy="241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60" name="Text Box 88"/>
          <p:cNvSpPr txBox="1">
            <a:spLocks noChangeArrowheads="1"/>
          </p:cNvSpPr>
          <p:nvPr/>
        </p:nvSpPr>
        <p:spPr bwMode="auto">
          <a:xfrm>
            <a:off x="3578225" y="3659188"/>
            <a:ext cx="2162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FF6600"/>
                </a:solidFill>
                <a:latin typeface="Times New Roman" pitchFamily="18" charset="0"/>
              </a:rPr>
              <a:t>Information Hiding</a:t>
            </a:r>
          </a:p>
        </p:txBody>
      </p:sp>
      <p:sp>
        <p:nvSpPr>
          <p:cNvPr id="16416" name="Line 89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4" grpId="0" animBg="1"/>
      <p:bldP spid="3158" grpId="0" animBg="1"/>
      <p:bldP spid="3159" grpId="0" animBg="1"/>
      <p:bldP spid="31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327F363-D091-4B71-9035-C2F53D1EFF79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1741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BF48D06-9BB0-4D19-BCCF-36AC0DFC3BA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192" name="Rectangle 96"/>
          <p:cNvSpPr>
            <a:spLocks noChangeArrowheads="1"/>
          </p:cNvSpPr>
          <p:nvPr/>
        </p:nvSpPr>
        <p:spPr bwMode="auto">
          <a:xfrm>
            <a:off x="228600" y="228600"/>
            <a:ext cx="8686800" cy="591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1517650" y="3759200"/>
            <a:ext cx="1720850" cy="1619250"/>
            <a:chOff x="508" y="2601"/>
            <a:chExt cx="1084" cy="1020"/>
          </a:xfrm>
        </p:grpSpPr>
        <p:grpSp>
          <p:nvGrpSpPr>
            <p:cNvPr id="3" name="Group 35"/>
            <p:cNvGrpSpPr>
              <a:grpSpLocks/>
            </p:cNvGrpSpPr>
            <p:nvPr/>
          </p:nvGrpSpPr>
          <p:grpSpPr bwMode="auto">
            <a:xfrm>
              <a:off x="508" y="2845"/>
              <a:ext cx="1084" cy="776"/>
              <a:chOff x="460" y="2349"/>
              <a:chExt cx="1084" cy="776"/>
            </a:xfrm>
          </p:grpSpPr>
          <p:sp>
            <p:nvSpPr>
              <p:cNvPr id="17481" name="Rectangle 8"/>
              <p:cNvSpPr>
                <a:spLocks noChangeArrowheads="1"/>
              </p:cNvSpPr>
              <p:nvPr/>
            </p:nvSpPr>
            <p:spPr bwMode="auto">
              <a:xfrm>
                <a:off x="460" y="2349"/>
                <a:ext cx="1084" cy="77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82" name="Oval 10"/>
              <p:cNvSpPr>
                <a:spLocks noChangeArrowheads="1"/>
              </p:cNvSpPr>
              <p:nvPr/>
            </p:nvSpPr>
            <p:spPr bwMode="auto">
              <a:xfrm>
                <a:off x="688" y="2461"/>
                <a:ext cx="568" cy="568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83" name="Rectangle 13"/>
              <p:cNvSpPr>
                <a:spLocks noChangeArrowheads="1"/>
              </p:cNvSpPr>
              <p:nvPr/>
            </p:nvSpPr>
            <p:spPr bwMode="auto">
              <a:xfrm>
                <a:off x="724" y="2610"/>
                <a:ext cx="53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defTabSz="762000"/>
                <a:r>
                  <a:rPr kumimoji="1" lang="en-US" altLang="ja-JP" sz="2000">
                    <a:latin typeface="Times New Roman" pitchFamily="18" charset="0"/>
                  </a:rPr>
                  <a:t>Server</a:t>
                </a:r>
              </a:p>
            </p:txBody>
          </p:sp>
        </p:grpSp>
        <p:sp>
          <p:nvSpPr>
            <p:cNvPr id="17480" name="Rectangle 16"/>
            <p:cNvSpPr>
              <a:spLocks noChangeArrowheads="1"/>
            </p:cNvSpPr>
            <p:nvPr/>
          </p:nvSpPr>
          <p:spPr bwMode="auto">
            <a:xfrm>
              <a:off x="625" y="2601"/>
              <a:ext cx="5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latin typeface="Times New Roman" pitchFamily="18" charset="0"/>
                </a:rPr>
                <a:t>Host A</a:t>
              </a:r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838200" y="1949450"/>
            <a:ext cx="2971800" cy="1649413"/>
            <a:chOff x="288" y="1121"/>
            <a:chExt cx="1872" cy="1039"/>
          </a:xfrm>
        </p:grpSpPr>
        <p:sp>
          <p:nvSpPr>
            <p:cNvPr id="4132" name="Rectangle 36"/>
            <p:cNvSpPr>
              <a:spLocks noChangeArrowheads="1"/>
            </p:cNvSpPr>
            <p:nvPr/>
          </p:nvSpPr>
          <p:spPr bwMode="auto">
            <a:xfrm>
              <a:off x="288" y="1128"/>
              <a:ext cx="1872" cy="10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478" name="Rectangle 18"/>
            <p:cNvSpPr>
              <a:spLocks noChangeArrowheads="1"/>
            </p:cNvSpPr>
            <p:nvPr/>
          </p:nvSpPr>
          <p:spPr bwMode="auto">
            <a:xfrm>
              <a:off x="312" y="1121"/>
              <a:ext cx="1772" cy="1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latin typeface="Times New Roman" pitchFamily="18" charset="0"/>
                </a:rPr>
                <a:t>The </a:t>
              </a:r>
              <a:r>
                <a:rPr kumimoji="1" lang="en-US" altLang="ja-JP" sz="2000" u="sng">
                  <a:solidFill>
                    <a:srgbClr val="006600"/>
                  </a:solidFill>
                  <a:latin typeface="Times New Roman" pitchFamily="18" charset="0"/>
                </a:rPr>
                <a:t>server should </a:t>
              </a:r>
              <a:r>
                <a:rPr kumimoji="1" lang="en-US" altLang="ja-JP" sz="2000" b="1" u="sng">
                  <a:solidFill>
                    <a:srgbClr val="006600"/>
                  </a:solidFill>
                  <a:latin typeface="Times New Roman" pitchFamily="18" charset="0"/>
                </a:rPr>
                <a:t>always </a:t>
              </a:r>
              <a:r>
                <a:rPr kumimoji="1" lang="en-US" altLang="ja-JP" sz="2000" u="sng">
                  <a:solidFill>
                    <a:srgbClr val="006600"/>
                  </a:solidFill>
                  <a:latin typeface="Times New Roman" pitchFamily="18" charset="0"/>
                </a:rPr>
                <a:t>be waiting for requests from the clients</a:t>
              </a:r>
              <a:r>
                <a:rPr kumimoji="1" lang="en-US" altLang="ja-JP" sz="2000">
                  <a:latin typeface="Times New Roman" pitchFamily="18" charset="0"/>
                </a:rPr>
                <a:t>.  A </a:t>
              </a:r>
              <a:r>
                <a:rPr kumimoji="1" lang="en-US" altLang="ja-JP" sz="2000" u="sng">
                  <a:solidFill>
                    <a:srgbClr val="CC0066"/>
                  </a:solidFill>
                  <a:latin typeface="Times New Roman" pitchFamily="18" charset="0"/>
                </a:rPr>
                <a:t>client makes a request</a:t>
              </a:r>
              <a:r>
                <a:rPr kumimoji="1" lang="en-US" altLang="ja-JP" sz="2000">
                  <a:latin typeface="Times New Roman" pitchFamily="18" charset="0"/>
                </a:rPr>
                <a:t>, then the server responds.</a:t>
              </a:r>
            </a:p>
          </p:txBody>
        </p:sp>
      </p:grpSp>
      <p:grpSp>
        <p:nvGrpSpPr>
          <p:cNvPr id="5" name="Group 49"/>
          <p:cNvGrpSpPr>
            <a:grpSpLocks/>
          </p:cNvGrpSpPr>
          <p:nvPr/>
        </p:nvGrpSpPr>
        <p:grpSpPr bwMode="auto">
          <a:xfrm>
            <a:off x="2806700" y="1855788"/>
            <a:ext cx="4635500" cy="2971800"/>
            <a:chOff x="1768" y="1169"/>
            <a:chExt cx="2920" cy="1872"/>
          </a:xfrm>
        </p:grpSpPr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3720" y="1169"/>
              <a:ext cx="968" cy="1632"/>
              <a:chOff x="3720" y="1169"/>
              <a:chExt cx="968" cy="1632"/>
            </a:xfrm>
          </p:grpSpPr>
          <p:sp>
            <p:nvSpPr>
              <p:cNvPr id="17469" name="Rectangle 9"/>
              <p:cNvSpPr>
                <a:spLocks noChangeArrowheads="1"/>
              </p:cNvSpPr>
              <p:nvPr/>
            </p:nvSpPr>
            <p:spPr bwMode="auto">
              <a:xfrm>
                <a:off x="3720" y="1409"/>
                <a:ext cx="968" cy="139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" name="Group 32"/>
              <p:cNvGrpSpPr>
                <a:grpSpLocks/>
              </p:cNvGrpSpPr>
              <p:nvPr/>
            </p:nvGrpSpPr>
            <p:grpSpPr bwMode="auto">
              <a:xfrm>
                <a:off x="3937" y="1472"/>
                <a:ext cx="626" cy="568"/>
                <a:chOff x="2873" y="1437"/>
                <a:chExt cx="626" cy="568"/>
              </a:xfrm>
            </p:grpSpPr>
            <p:sp>
              <p:nvSpPr>
                <p:cNvPr id="17475" name="Oval 11"/>
                <p:cNvSpPr>
                  <a:spLocks noChangeArrowheads="1"/>
                </p:cNvSpPr>
                <p:nvPr/>
              </p:nvSpPr>
              <p:spPr bwMode="auto">
                <a:xfrm>
                  <a:off x="2884" y="1437"/>
                  <a:ext cx="568" cy="568"/>
                </a:xfrm>
                <a:prstGeom prst="ellipse">
                  <a:avLst/>
                </a:prstGeom>
                <a:solidFill>
                  <a:schemeClr val="fol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76" name="Rectangle 14"/>
                <p:cNvSpPr>
                  <a:spLocks noChangeArrowheads="1"/>
                </p:cNvSpPr>
                <p:nvPr/>
              </p:nvSpPr>
              <p:spPr bwMode="auto">
                <a:xfrm>
                  <a:off x="2873" y="1577"/>
                  <a:ext cx="62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defTabSz="762000"/>
                  <a:r>
                    <a:rPr kumimoji="1" lang="en-US" altLang="ja-JP" sz="2000">
                      <a:latin typeface="Times New Roman" pitchFamily="18" charset="0"/>
                    </a:rPr>
                    <a:t>Client 2</a:t>
                  </a:r>
                </a:p>
              </p:txBody>
            </p:sp>
          </p:grpSp>
          <p:grpSp>
            <p:nvGrpSpPr>
              <p:cNvPr id="8" name="Group 33"/>
              <p:cNvGrpSpPr>
                <a:grpSpLocks/>
              </p:cNvGrpSpPr>
              <p:nvPr/>
            </p:nvGrpSpPr>
            <p:grpSpPr bwMode="auto">
              <a:xfrm>
                <a:off x="3933" y="2120"/>
                <a:ext cx="626" cy="568"/>
                <a:chOff x="2861" y="2653"/>
                <a:chExt cx="626" cy="568"/>
              </a:xfrm>
            </p:grpSpPr>
            <p:sp>
              <p:nvSpPr>
                <p:cNvPr id="17473" name="Oval 12"/>
                <p:cNvSpPr>
                  <a:spLocks noChangeArrowheads="1"/>
                </p:cNvSpPr>
                <p:nvPr/>
              </p:nvSpPr>
              <p:spPr bwMode="auto">
                <a:xfrm>
                  <a:off x="2884" y="2653"/>
                  <a:ext cx="568" cy="568"/>
                </a:xfrm>
                <a:prstGeom prst="ellipse">
                  <a:avLst/>
                </a:prstGeom>
                <a:solidFill>
                  <a:schemeClr val="folHlink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474" name="Rectangle 15"/>
                <p:cNvSpPr>
                  <a:spLocks noChangeArrowheads="1"/>
                </p:cNvSpPr>
                <p:nvPr/>
              </p:nvSpPr>
              <p:spPr bwMode="auto">
                <a:xfrm>
                  <a:off x="2861" y="2793"/>
                  <a:ext cx="62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2075" tIns="46038" rIns="92075" bIns="46038">
                  <a:spAutoFit/>
                </a:bodyPr>
                <a:lstStyle/>
                <a:p>
                  <a:pPr defTabSz="762000"/>
                  <a:r>
                    <a:rPr kumimoji="1" lang="en-US" altLang="ja-JP" sz="2000">
                      <a:latin typeface="Times New Roman" pitchFamily="18" charset="0"/>
                    </a:rPr>
                    <a:t>Client 3</a:t>
                  </a:r>
                </a:p>
              </p:txBody>
            </p:sp>
          </p:grpSp>
          <p:sp>
            <p:nvSpPr>
              <p:cNvPr id="17472" name="Rectangle 17"/>
              <p:cNvSpPr>
                <a:spLocks noChangeArrowheads="1"/>
              </p:cNvSpPr>
              <p:nvPr/>
            </p:nvSpPr>
            <p:spPr bwMode="auto">
              <a:xfrm>
                <a:off x="3832" y="1169"/>
                <a:ext cx="56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defTabSz="762000"/>
                <a:r>
                  <a:rPr kumimoji="1" lang="en-US" altLang="ja-JP" sz="2000">
                    <a:solidFill>
                      <a:schemeClr val="accent2"/>
                    </a:solidFill>
                    <a:latin typeface="Times New Roman" pitchFamily="18" charset="0"/>
                  </a:rPr>
                  <a:t>Host C</a:t>
                </a:r>
              </a:p>
            </p:txBody>
          </p:sp>
        </p:grpSp>
        <p:grpSp>
          <p:nvGrpSpPr>
            <p:cNvPr id="9" name="Group 47"/>
            <p:cNvGrpSpPr>
              <a:grpSpLocks/>
            </p:cNvGrpSpPr>
            <p:nvPr/>
          </p:nvGrpSpPr>
          <p:grpSpPr bwMode="auto">
            <a:xfrm>
              <a:off x="1768" y="1737"/>
              <a:ext cx="2152" cy="1144"/>
              <a:chOff x="1768" y="1737"/>
              <a:chExt cx="2152" cy="1144"/>
            </a:xfrm>
          </p:grpSpPr>
          <p:sp>
            <p:nvSpPr>
              <p:cNvPr id="17466" name="Rectangle 19"/>
              <p:cNvSpPr>
                <a:spLocks noChangeArrowheads="1"/>
              </p:cNvSpPr>
              <p:nvPr/>
            </p:nvSpPr>
            <p:spPr bwMode="auto">
              <a:xfrm>
                <a:off x="2712" y="1897"/>
                <a:ext cx="52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defTabSz="762000"/>
                <a:r>
                  <a:rPr kumimoji="1" lang="en-US" altLang="ja-JP" sz="2000">
                    <a:latin typeface="Times New Roman" pitchFamily="18" charset="0"/>
                  </a:rPr>
                  <a:t>socket</a:t>
                </a:r>
              </a:p>
            </p:txBody>
          </p:sp>
          <p:sp>
            <p:nvSpPr>
              <p:cNvPr id="17467" name="Line 26"/>
              <p:cNvSpPr>
                <a:spLocks noChangeShapeType="1"/>
              </p:cNvSpPr>
              <p:nvPr/>
            </p:nvSpPr>
            <p:spPr bwMode="auto">
              <a:xfrm flipH="1">
                <a:off x="1768" y="1737"/>
                <a:ext cx="2112" cy="10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8" name="Line 27"/>
              <p:cNvSpPr>
                <a:spLocks noChangeShapeType="1"/>
              </p:cNvSpPr>
              <p:nvPr/>
            </p:nvSpPr>
            <p:spPr bwMode="auto">
              <a:xfrm flipV="1">
                <a:off x="1808" y="1817"/>
                <a:ext cx="2112" cy="10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48"/>
            <p:cNvGrpSpPr>
              <a:grpSpLocks/>
            </p:cNvGrpSpPr>
            <p:nvPr/>
          </p:nvGrpSpPr>
          <p:grpSpPr bwMode="auto">
            <a:xfrm>
              <a:off x="1808" y="2260"/>
              <a:ext cx="2056" cy="781"/>
              <a:chOff x="1808" y="2260"/>
              <a:chExt cx="2056" cy="781"/>
            </a:xfrm>
          </p:grpSpPr>
          <p:sp>
            <p:nvSpPr>
              <p:cNvPr id="17463" name="Rectangle 20"/>
              <p:cNvSpPr>
                <a:spLocks noChangeArrowheads="1"/>
              </p:cNvSpPr>
              <p:nvPr/>
            </p:nvSpPr>
            <p:spPr bwMode="auto">
              <a:xfrm>
                <a:off x="3080" y="2260"/>
                <a:ext cx="52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defTabSz="762000"/>
                <a:r>
                  <a:rPr kumimoji="1" lang="en-US" altLang="ja-JP" sz="2000">
                    <a:latin typeface="Times New Roman" pitchFamily="18" charset="0"/>
                  </a:rPr>
                  <a:t>socket</a:t>
                </a:r>
              </a:p>
            </p:txBody>
          </p:sp>
          <p:sp>
            <p:nvSpPr>
              <p:cNvPr id="17464" name="Line 28"/>
              <p:cNvSpPr>
                <a:spLocks noChangeShapeType="1"/>
              </p:cNvSpPr>
              <p:nvPr/>
            </p:nvSpPr>
            <p:spPr bwMode="auto">
              <a:xfrm flipV="1">
                <a:off x="1808" y="2368"/>
                <a:ext cx="2056" cy="6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med" len="med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65" name="Line 29"/>
              <p:cNvSpPr>
                <a:spLocks noChangeShapeType="1"/>
              </p:cNvSpPr>
              <p:nvPr/>
            </p:nvSpPr>
            <p:spPr bwMode="auto">
              <a:xfrm flipV="1">
                <a:off x="1808" y="2465"/>
                <a:ext cx="2056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1" name="Group 44"/>
          <p:cNvGrpSpPr>
            <a:grpSpLocks/>
          </p:cNvGrpSpPr>
          <p:nvPr/>
        </p:nvGrpSpPr>
        <p:grpSpPr bwMode="auto">
          <a:xfrm>
            <a:off x="5899150" y="4675188"/>
            <a:ext cx="1422400" cy="1581150"/>
            <a:chOff x="3716" y="2945"/>
            <a:chExt cx="896" cy="996"/>
          </a:xfrm>
        </p:grpSpPr>
        <p:sp>
          <p:nvSpPr>
            <p:cNvPr id="17455" name="Rectangle 22"/>
            <p:cNvSpPr>
              <a:spLocks noChangeArrowheads="1"/>
            </p:cNvSpPr>
            <p:nvPr/>
          </p:nvSpPr>
          <p:spPr bwMode="auto">
            <a:xfrm>
              <a:off x="3716" y="3173"/>
              <a:ext cx="896" cy="7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34"/>
            <p:cNvGrpSpPr>
              <a:grpSpLocks/>
            </p:cNvGrpSpPr>
            <p:nvPr/>
          </p:nvGrpSpPr>
          <p:grpSpPr bwMode="auto">
            <a:xfrm>
              <a:off x="3909" y="3269"/>
              <a:ext cx="626" cy="568"/>
              <a:chOff x="2861" y="3933"/>
              <a:chExt cx="626" cy="568"/>
            </a:xfrm>
          </p:grpSpPr>
          <p:sp>
            <p:nvSpPr>
              <p:cNvPr id="17458" name="Oval 23"/>
              <p:cNvSpPr>
                <a:spLocks noChangeArrowheads="1"/>
              </p:cNvSpPr>
              <p:nvPr/>
            </p:nvSpPr>
            <p:spPr bwMode="auto">
              <a:xfrm>
                <a:off x="2884" y="3933"/>
                <a:ext cx="568" cy="568"/>
              </a:xfrm>
              <a:prstGeom prst="ellipse">
                <a:avLst/>
              </a:prstGeom>
              <a:solidFill>
                <a:schemeClr val="fol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9" name="Rectangle 24"/>
              <p:cNvSpPr>
                <a:spLocks noChangeArrowheads="1"/>
              </p:cNvSpPr>
              <p:nvPr/>
            </p:nvSpPr>
            <p:spPr bwMode="auto">
              <a:xfrm>
                <a:off x="2861" y="4073"/>
                <a:ext cx="62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pPr defTabSz="762000"/>
                <a:r>
                  <a:rPr kumimoji="1" lang="en-US" altLang="ja-JP" sz="2000">
                    <a:latin typeface="Times New Roman" pitchFamily="18" charset="0"/>
                  </a:rPr>
                  <a:t>Client 1</a:t>
                </a:r>
              </a:p>
            </p:txBody>
          </p:sp>
        </p:grpSp>
        <p:sp>
          <p:nvSpPr>
            <p:cNvPr id="17457" name="Rectangle 25"/>
            <p:cNvSpPr>
              <a:spLocks noChangeArrowheads="1"/>
            </p:cNvSpPr>
            <p:nvPr/>
          </p:nvSpPr>
          <p:spPr bwMode="auto">
            <a:xfrm>
              <a:off x="3752" y="2945"/>
              <a:ext cx="56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006600"/>
                  </a:solidFill>
                  <a:latin typeface="Times New Roman" pitchFamily="18" charset="0"/>
                </a:rPr>
                <a:t>Host B</a:t>
              </a:r>
            </a:p>
          </p:txBody>
        </p:sp>
      </p:grpSp>
      <p:sp>
        <p:nvSpPr>
          <p:cNvPr id="17418" name="Text Box 41"/>
          <p:cNvSpPr txBox="1">
            <a:spLocks noChangeArrowheads="1"/>
          </p:cNvSpPr>
          <p:nvPr/>
        </p:nvSpPr>
        <p:spPr bwMode="auto">
          <a:xfrm>
            <a:off x="376238" y="1236663"/>
            <a:ext cx="39703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400">
                <a:latin typeface="Times New Roman" pitchFamily="18" charset="0"/>
              </a:rPr>
              <a:t>Socket as a </a:t>
            </a:r>
            <a:r>
              <a:rPr kumimoji="1" lang="en-US" altLang="ja-JP" sz="2400" u="sng">
                <a:solidFill>
                  <a:srgbClr val="FF0000"/>
                </a:solidFill>
                <a:latin typeface="Times New Roman" pitchFamily="18" charset="0"/>
              </a:rPr>
              <a:t>client/server model</a:t>
            </a:r>
          </a:p>
        </p:txBody>
      </p: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2870200" y="4957763"/>
            <a:ext cx="3302000" cy="555625"/>
            <a:chOff x="1808" y="3123"/>
            <a:chExt cx="2080" cy="350"/>
          </a:xfrm>
        </p:grpSpPr>
        <p:sp>
          <p:nvSpPr>
            <p:cNvPr id="17453" name="Line 30"/>
            <p:cNvSpPr>
              <a:spLocks noChangeShapeType="1"/>
            </p:cNvSpPr>
            <p:nvPr/>
          </p:nvSpPr>
          <p:spPr bwMode="auto">
            <a:xfrm>
              <a:off x="1808" y="3123"/>
              <a:ext cx="2080" cy="35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4" name="Text Box 53"/>
            <p:cNvSpPr txBox="1">
              <a:spLocks noChangeArrowheads="1"/>
            </p:cNvSpPr>
            <p:nvPr/>
          </p:nvSpPr>
          <p:spPr bwMode="auto">
            <a:xfrm>
              <a:off x="3206" y="3168"/>
              <a:ext cx="61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b="1">
                  <a:solidFill>
                    <a:schemeClr val="accent2"/>
                  </a:solidFill>
                  <a:latin typeface="Times New Roman" pitchFamily="18" charset="0"/>
                </a:rPr>
                <a:t>Request</a:t>
              </a:r>
            </a:p>
          </p:txBody>
        </p:sp>
      </p:grpSp>
      <p:grpSp>
        <p:nvGrpSpPr>
          <p:cNvPr id="14" name="Group 62"/>
          <p:cNvGrpSpPr>
            <a:grpSpLocks/>
          </p:cNvGrpSpPr>
          <p:nvPr/>
        </p:nvGrpSpPr>
        <p:grpSpPr bwMode="auto">
          <a:xfrm>
            <a:off x="2663825" y="5072063"/>
            <a:ext cx="3521075" cy="568325"/>
            <a:chOff x="1678" y="3195"/>
            <a:chExt cx="2218" cy="358"/>
          </a:xfrm>
        </p:grpSpPr>
        <p:sp>
          <p:nvSpPr>
            <p:cNvPr id="17451" name="Line 31"/>
            <p:cNvSpPr>
              <a:spLocks noChangeShapeType="1"/>
            </p:cNvSpPr>
            <p:nvPr/>
          </p:nvSpPr>
          <p:spPr bwMode="auto">
            <a:xfrm>
              <a:off x="1808" y="3195"/>
              <a:ext cx="2088" cy="35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52" name="Text Box 55"/>
            <p:cNvSpPr txBox="1">
              <a:spLocks noChangeArrowheads="1"/>
            </p:cNvSpPr>
            <p:nvPr/>
          </p:nvSpPr>
          <p:spPr bwMode="auto">
            <a:xfrm>
              <a:off x="1678" y="3208"/>
              <a:ext cx="4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b="1">
                  <a:solidFill>
                    <a:srgbClr val="FF0000"/>
                  </a:solidFill>
                  <a:latin typeface="Times New Roman" pitchFamily="18" charset="0"/>
                </a:rPr>
                <a:t>Reply</a:t>
              </a:r>
            </a:p>
          </p:txBody>
        </p:sp>
      </p:grpSp>
      <p:grpSp>
        <p:nvGrpSpPr>
          <p:cNvPr id="15" name="Group 63"/>
          <p:cNvGrpSpPr>
            <a:grpSpLocks/>
          </p:cNvGrpSpPr>
          <p:nvPr/>
        </p:nvGrpSpPr>
        <p:grpSpPr bwMode="auto">
          <a:xfrm>
            <a:off x="3314700" y="4914900"/>
            <a:ext cx="2501900" cy="1100138"/>
            <a:chOff x="2088" y="3096"/>
            <a:chExt cx="1576" cy="693"/>
          </a:xfrm>
        </p:grpSpPr>
        <p:sp>
          <p:nvSpPr>
            <p:cNvPr id="17445" name="Rectangle 21"/>
            <p:cNvSpPr>
              <a:spLocks noChangeArrowheads="1"/>
            </p:cNvSpPr>
            <p:nvPr/>
          </p:nvSpPr>
          <p:spPr bwMode="auto">
            <a:xfrm>
              <a:off x="2696" y="3539"/>
              <a:ext cx="55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006600"/>
                  </a:solidFill>
                  <a:latin typeface="Times New Roman" pitchFamily="18" charset="0"/>
                </a:rPr>
                <a:t>Socket</a:t>
              </a:r>
            </a:p>
          </p:txBody>
        </p:sp>
        <p:grpSp>
          <p:nvGrpSpPr>
            <p:cNvPr id="16" name="Group 60"/>
            <p:cNvGrpSpPr>
              <a:grpSpLocks/>
            </p:cNvGrpSpPr>
            <p:nvPr/>
          </p:nvGrpSpPr>
          <p:grpSpPr bwMode="auto">
            <a:xfrm>
              <a:off x="2088" y="3096"/>
              <a:ext cx="1576" cy="512"/>
              <a:chOff x="2088" y="3096"/>
              <a:chExt cx="1576" cy="512"/>
            </a:xfrm>
          </p:grpSpPr>
          <p:sp>
            <p:nvSpPr>
              <p:cNvPr id="17447" name="Oval 56"/>
              <p:cNvSpPr>
                <a:spLocks noChangeArrowheads="1"/>
              </p:cNvSpPr>
              <p:nvPr/>
            </p:nvSpPr>
            <p:spPr bwMode="auto">
              <a:xfrm rot="283219">
                <a:off x="2088" y="3096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8" name="Oval 57"/>
              <p:cNvSpPr>
                <a:spLocks noChangeArrowheads="1"/>
              </p:cNvSpPr>
              <p:nvPr/>
            </p:nvSpPr>
            <p:spPr bwMode="auto">
              <a:xfrm rot="283219">
                <a:off x="3576" y="3360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9" name="Line 58"/>
              <p:cNvSpPr>
                <a:spLocks noChangeShapeType="1"/>
              </p:cNvSpPr>
              <p:nvPr/>
            </p:nvSpPr>
            <p:spPr bwMode="auto">
              <a:xfrm>
                <a:off x="2128" y="3344"/>
                <a:ext cx="1480" cy="256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50" name="Line 59"/>
              <p:cNvSpPr>
                <a:spLocks noChangeShapeType="1"/>
              </p:cNvSpPr>
              <p:nvPr/>
            </p:nvSpPr>
            <p:spPr bwMode="auto">
              <a:xfrm>
                <a:off x="2144" y="3096"/>
                <a:ext cx="1488" cy="26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" name="Group 78"/>
          <p:cNvGrpSpPr>
            <a:grpSpLocks/>
          </p:cNvGrpSpPr>
          <p:nvPr/>
        </p:nvGrpSpPr>
        <p:grpSpPr bwMode="auto">
          <a:xfrm>
            <a:off x="3314700" y="2857500"/>
            <a:ext cx="2578100" cy="1993900"/>
            <a:chOff x="2088" y="1800"/>
            <a:chExt cx="1624" cy="1256"/>
          </a:xfrm>
        </p:grpSpPr>
        <p:grpSp>
          <p:nvGrpSpPr>
            <p:cNvPr id="18" name="Group 72"/>
            <p:cNvGrpSpPr>
              <a:grpSpLocks/>
            </p:cNvGrpSpPr>
            <p:nvPr/>
          </p:nvGrpSpPr>
          <p:grpSpPr bwMode="auto">
            <a:xfrm>
              <a:off x="2088" y="1800"/>
              <a:ext cx="1552" cy="992"/>
              <a:chOff x="2088" y="1800"/>
              <a:chExt cx="1552" cy="992"/>
            </a:xfrm>
          </p:grpSpPr>
          <p:sp>
            <p:nvSpPr>
              <p:cNvPr id="17441" name="Oval 67"/>
              <p:cNvSpPr>
                <a:spLocks noChangeArrowheads="1"/>
              </p:cNvSpPr>
              <p:nvPr/>
            </p:nvSpPr>
            <p:spPr bwMode="auto">
              <a:xfrm rot="-835488">
                <a:off x="2088" y="2544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2" name="Line 69"/>
              <p:cNvSpPr>
                <a:spLocks noChangeShapeType="1"/>
              </p:cNvSpPr>
              <p:nvPr/>
            </p:nvSpPr>
            <p:spPr bwMode="auto">
              <a:xfrm flipV="1">
                <a:off x="2168" y="2040"/>
                <a:ext cx="1472" cy="74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3" name="Line 70"/>
              <p:cNvSpPr>
                <a:spLocks noChangeShapeType="1"/>
              </p:cNvSpPr>
              <p:nvPr/>
            </p:nvSpPr>
            <p:spPr bwMode="auto">
              <a:xfrm flipV="1">
                <a:off x="2104" y="1808"/>
                <a:ext cx="1448" cy="736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4" name="Oval 71"/>
              <p:cNvSpPr>
                <a:spLocks noChangeArrowheads="1"/>
              </p:cNvSpPr>
              <p:nvPr/>
            </p:nvSpPr>
            <p:spPr bwMode="auto">
              <a:xfrm rot="-835488">
                <a:off x="3552" y="1800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77"/>
            <p:cNvGrpSpPr>
              <a:grpSpLocks/>
            </p:cNvGrpSpPr>
            <p:nvPr/>
          </p:nvGrpSpPr>
          <p:grpSpPr bwMode="auto">
            <a:xfrm>
              <a:off x="2136" y="2352"/>
              <a:ext cx="1576" cy="704"/>
              <a:chOff x="2136" y="2352"/>
              <a:chExt cx="1576" cy="704"/>
            </a:xfrm>
          </p:grpSpPr>
          <p:sp>
            <p:nvSpPr>
              <p:cNvPr id="17437" name="Oval 68"/>
              <p:cNvSpPr>
                <a:spLocks noChangeArrowheads="1"/>
              </p:cNvSpPr>
              <p:nvPr/>
            </p:nvSpPr>
            <p:spPr bwMode="auto">
              <a:xfrm rot="-616755">
                <a:off x="2136" y="2808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8" name="Oval 73"/>
              <p:cNvSpPr>
                <a:spLocks noChangeArrowheads="1"/>
              </p:cNvSpPr>
              <p:nvPr/>
            </p:nvSpPr>
            <p:spPr bwMode="auto">
              <a:xfrm rot="-616755">
                <a:off x="3624" y="2352"/>
                <a:ext cx="88" cy="248"/>
              </a:xfrm>
              <a:prstGeom prst="ellips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9" name="Line 75"/>
              <p:cNvSpPr>
                <a:spLocks noChangeShapeType="1"/>
              </p:cNvSpPr>
              <p:nvPr/>
            </p:nvSpPr>
            <p:spPr bwMode="auto">
              <a:xfrm flipV="1">
                <a:off x="2208" y="2600"/>
                <a:ext cx="1496" cy="448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40" name="Line 76"/>
              <p:cNvSpPr>
                <a:spLocks noChangeShapeType="1"/>
              </p:cNvSpPr>
              <p:nvPr/>
            </p:nvSpPr>
            <p:spPr bwMode="auto">
              <a:xfrm flipV="1">
                <a:off x="2152" y="2360"/>
                <a:ext cx="1504" cy="448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176" name="Oval 80"/>
          <p:cNvSpPr>
            <a:spLocks noChangeArrowheads="1"/>
          </p:cNvSpPr>
          <p:nvPr/>
        </p:nvSpPr>
        <p:spPr bwMode="auto">
          <a:xfrm rot="-5400000">
            <a:off x="4965700" y="2895600"/>
            <a:ext cx="2019300" cy="977900"/>
          </a:xfrm>
          <a:prstGeom prst="ellipse">
            <a:avLst/>
          </a:prstGeom>
          <a:noFill/>
          <a:ln w="28575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" name="Group 85"/>
          <p:cNvGrpSpPr>
            <a:grpSpLocks/>
          </p:cNvGrpSpPr>
          <p:nvPr/>
        </p:nvGrpSpPr>
        <p:grpSpPr bwMode="auto">
          <a:xfrm>
            <a:off x="5473700" y="1157288"/>
            <a:ext cx="2692400" cy="1204912"/>
            <a:chOff x="3448" y="729"/>
            <a:chExt cx="1696" cy="759"/>
          </a:xfrm>
        </p:grpSpPr>
        <p:grpSp>
          <p:nvGrpSpPr>
            <p:cNvPr id="21" name="Group 84"/>
            <p:cNvGrpSpPr>
              <a:grpSpLocks/>
            </p:cNvGrpSpPr>
            <p:nvPr/>
          </p:nvGrpSpPr>
          <p:grpSpPr bwMode="auto">
            <a:xfrm>
              <a:off x="3448" y="729"/>
              <a:ext cx="1696" cy="442"/>
              <a:chOff x="3448" y="729"/>
              <a:chExt cx="1696" cy="442"/>
            </a:xfrm>
          </p:grpSpPr>
          <p:sp>
            <p:nvSpPr>
              <p:cNvPr id="4178" name="AutoShape 82"/>
              <p:cNvSpPr>
                <a:spLocks noChangeArrowheads="1"/>
              </p:cNvSpPr>
              <p:nvPr/>
            </p:nvSpPr>
            <p:spPr bwMode="auto">
              <a:xfrm>
                <a:off x="3448" y="760"/>
                <a:ext cx="1696" cy="392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7434" name="Text Box 81"/>
              <p:cNvSpPr txBox="1">
                <a:spLocks noChangeArrowheads="1"/>
              </p:cNvSpPr>
              <p:nvPr/>
            </p:nvSpPr>
            <p:spPr bwMode="auto">
              <a:xfrm>
                <a:off x="3470" y="729"/>
                <a:ext cx="1657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006600"/>
                    </a:solidFill>
                    <a:latin typeface="Times New Roman" pitchFamily="18" charset="0"/>
                  </a:rPr>
                  <a:t>How can we distinguish</a:t>
                </a:r>
              </a:p>
              <a:p>
                <a:r>
                  <a:rPr kumimoji="1" lang="en-US" sz="2000">
                    <a:solidFill>
                      <a:srgbClr val="006600"/>
                    </a:solidFill>
                    <a:latin typeface="Times New Roman" pitchFamily="18" charset="0"/>
                  </a:rPr>
                  <a:t>two connections? </a:t>
                </a:r>
              </a:p>
            </p:txBody>
          </p:sp>
        </p:grpSp>
        <p:sp>
          <p:nvSpPr>
            <p:cNvPr id="17432" name="Line 83"/>
            <p:cNvSpPr>
              <a:spLocks noChangeShapeType="1"/>
            </p:cNvSpPr>
            <p:nvPr/>
          </p:nvSpPr>
          <p:spPr bwMode="auto">
            <a:xfrm flipH="1">
              <a:off x="3760" y="1152"/>
              <a:ext cx="80" cy="33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90"/>
          <p:cNvGrpSpPr>
            <a:grpSpLocks/>
          </p:cNvGrpSpPr>
          <p:nvPr/>
        </p:nvGrpSpPr>
        <p:grpSpPr bwMode="auto">
          <a:xfrm>
            <a:off x="7604125" y="1955800"/>
            <a:ext cx="1103313" cy="868363"/>
            <a:chOff x="4790" y="1232"/>
            <a:chExt cx="695" cy="547"/>
          </a:xfrm>
        </p:grpSpPr>
        <p:grpSp>
          <p:nvGrpSpPr>
            <p:cNvPr id="23" name="Group 88"/>
            <p:cNvGrpSpPr>
              <a:grpSpLocks/>
            </p:cNvGrpSpPr>
            <p:nvPr/>
          </p:nvGrpSpPr>
          <p:grpSpPr bwMode="auto">
            <a:xfrm>
              <a:off x="4790" y="1567"/>
              <a:ext cx="695" cy="212"/>
              <a:chOff x="1534" y="3719"/>
              <a:chExt cx="695" cy="212"/>
            </a:xfrm>
          </p:grpSpPr>
          <p:sp>
            <p:nvSpPr>
              <p:cNvPr id="4183" name="Rectangle 87"/>
              <p:cNvSpPr>
                <a:spLocks noChangeArrowheads="1"/>
              </p:cNvSpPr>
              <p:nvPr/>
            </p:nvSpPr>
            <p:spPr bwMode="auto">
              <a:xfrm>
                <a:off x="1560" y="3728"/>
                <a:ext cx="624" cy="176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7430" name="Text Box 86"/>
              <p:cNvSpPr txBox="1">
                <a:spLocks noChangeArrowheads="1"/>
              </p:cNvSpPr>
              <p:nvPr/>
            </p:nvSpPr>
            <p:spPr bwMode="auto">
              <a:xfrm>
                <a:off x="1534" y="3719"/>
                <a:ext cx="69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600" b="1">
                    <a:solidFill>
                      <a:srgbClr val="FF0000"/>
                    </a:solidFill>
                    <a:latin typeface="Times New Roman" pitchFamily="18" charset="0"/>
                  </a:rPr>
                  <a:t>“PORT #”</a:t>
                </a:r>
              </a:p>
            </p:txBody>
          </p:sp>
        </p:grpSp>
        <p:sp>
          <p:nvSpPr>
            <p:cNvPr id="17428" name="AutoShape 89"/>
            <p:cNvSpPr>
              <a:spLocks noChangeArrowheads="1"/>
            </p:cNvSpPr>
            <p:nvPr/>
          </p:nvSpPr>
          <p:spPr bwMode="auto">
            <a:xfrm>
              <a:off x="4800" y="1232"/>
              <a:ext cx="424" cy="304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</p:grpSp>
      <p:sp>
        <p:nvSpPr>
          <p:cNvPr id="17426" name="Line 92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3D53DEB5-09D3-49A1-A1F4-C70B02FA06FC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1843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49A1B6-A2AC-4667-9FF9-4280898D0CF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4976" name="Rectangle 160"/>
          <p:cNvSpPr>
            <a:spLocks noChangeArrowheads="1"/>
          </p:cNvSpPr>
          <p:nvPr/>
        </p:nvSpPr>
        <p:spPr bwMode="auto">
          <a:xfrm>
            <a:off x="228600" y="228600"/>
            <a:ext cx="8686800" cy="6210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8438" name="Line 4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17525" y="1042988"/>
            <a:ext cx="2100263" cy="396875"/>
            <a:chOff x="1654" y="1401"/>
            <a:chExt cx="1323" cy="250"/>
          </a:xfrm>
        </p:grpSpPr>
        <p:sp>
          <p:nvSpPr>
            <p:cNvPr id="34825" name="AutoShape 9"/>
            <p:cNvSpPr>
              <a:spLocks noChangeArrowheads="1"/>
            </p:cNvSpPr>
            <p:nvPr/>
          </p:nvSpPr>
          <p:spPr bwMode="auto">
            <a:xfrm>
              <a:off x="1656" y="1424"/>
              <a:ext cx="1304" cy="22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572" name="Text Box 8"/>
            <p:cNvSpPr txBox="1">
              <a:spLocks noChangeArrowheads="1"/>
            </p:cNvSpPr>
            <p:nvPr/>
          </p:nvSpPr>
          <p:spPr bwMode="auto">
            <a:xfrm>
              <a:off x="1654" y="1401"/>
              <a:ext cx="132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Concept of “ports”</a:t>
              </a:r>
            </a:p>
          </p:txBody>
        </p:sp>
      </p:grpSp>
      <p:sp>
        <p:nvSpPr>
          <p:cNvPr id="34827" name="Text Box 11"/>
          <p:cNvSpPr txBox="1">
            <a:spLocks noChangeArrowheads="1"/>
          </p:cNvSpPr>
          <p:nvPr/>
        </p:nvSpPr>
        <p:spPr bwMode="auto">
          <a:xfrm>
            <a:off x="593725" y="1703388"/>
            <a:ext cx="17748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CC0066"/>
                </a:solidFill>
                <a:latin typeface="Times New Roman" pitchFamily="18" charset="0"/>
              </a:rPr>
              <a:t>What is “port”?</a:t>
            </a:r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333500" y="2211388"/>
            <a:ext cx="6884988" cy="396875"/>
            <a:chOff x="736" y="1457"/>
            <a:chExt cx="4337" cy="250"/>
          </a:xfrm>
        </p:grpSpPr>
        <p:sp>
          <p:nvSpPr>
            <p:cNvPr id="18569" name="Text Box 12"/>
            <p:cNvSpPr txBox="1">
              <a:spLocks noChangeArrowheads="1"/>
            </p:cNvSpPr>
            <p:nvPr/>
          </p:nvSpPr>
          <p:spPr bwMode="auto">
            <a:xfrm>
              <a:off x="1070" y="1457"/>
              <a:ext cx="40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latin typeface="Times New Roman" pitchFamily="18" charset="0"/>
                </a:rPr>
                <a:t>It’s </a:t>
              </a:r>
              <a:r>
                <a:rPr kumimoji="1" lang="en-US" sz="2000" u="sng">
                  <a:solidFill>
                    <a:srgbClr val="FF0000"/>
                  </a:solidFill>
                  <a:latin typeface="Times New Roman" pitchFamily="18" charset="0"/>
                </a:rPr>
                <a:t>a logical connecting point</a:t>
              </a:r>
              <a:r>
                <a:rPr kumimoji="1" lang="en-US" sz="2000">
                  <a:latin typeface="Times New Roman" pitchFamily="18" charset="0"/>
                </a:rPr>
                <a:t> at the </a:t>
              </a:r>
              <a:r>
                <a:rPr kumimoji="1" lang="en-US" sz="2000" u="sng">
                  <a:solidFill>
                    <a:srgbClr val="0000CC"/>
                  </a:solidFill>
                  <a:latin typeface="Times New Roman" pitchFamily="18" charset="0"/>
                </a:rPr>
                <a:t>transport-layer protocol</a:t>
              </a:r>
              <a:r>
                <a:rPr kumimoji="1" lang="en-US" sz="2000">
                  <a:latin typeface="Times New Roman" pitchFamily="18" charset="0"/>
                </a:rPr>
                <a:t>.</a:t>
              </a:r>
            </a:p>
          </p:txBody>
        </p:sp>
        <p:sp>
          <p:nvSpPr>
            <p:cNvPr id="34829" name="AutoShape 13"/>
            <p:cNvSpPr>
              <a:spLocks noChangeArrowheads="1"/>
            </p:cNvSpPr>
            <p:nvPr/>
          </p:nvSpPr>
          <p:spPr bwMode="auto">
            <a:xfrm>
              <a:off x="736" y="1480"/>
              <a:ext cx="296" cy="200"/>
            </a:xfrm>
            <a:prstGeom prst="rightArrow">
              <a:avLst>
                <a:gd name="adj1" fmla="val 50000"/>
                <a:gd name="adj2" fmla="val 37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682625" y="2909888"/>
            <a:ext cx="49847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CC0066"/>
                </a:solidFill>
                <a:latin typeface="Times New Roman" pitchFamily="18" charset="0"/>
              </a:rPr>
              <a:t>If we do not have “ports”, what would happen?</a:t>
            </a:r>
          </a:p>
        </p:txBody>
      </p:sp>
      <p:grpSp>
        <p:nvGrpSpPr>
          <p:cNvPr id="4" name="Group 110"/>
          <p:cNvGrpSpPr>
            <a:grpSpLocks/>
          </p:cNvGrpSpPr>
          <p:nvPr/>
        </p:nvGrpSpPr>
        <p:grpSpPr bwMode="auto">
          <a:xfrm>
            <a:off x="1282700" y="5726113"/>
            <a:ext cx="1320800" cy="517525"/>
            <a:chOff x="512" y="3239"/>
            <a:chExt cx="832" cy="326"/>
          </a:xfrm>
        </p:grpSpPr>
        <p:sp>
          <p:nvSpPr>
            <p:cNvPr id="34925" name="AutoShape 109"/>
            <p:cNvSpPr>
              <a:spLocks noChangeArrowheads="1"/>
            </p:cNvSpPr>
            <p:nvPr/>
          </p:nvSpPr>
          <p:spPr bwMode="auto">
            <a:xfrm>
              <a:off x="512" y="3256"/>
              <a:ext cx="832" cy="30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568" name="Text Box 108"/>
            <p:cNvSpPr txBox="1">
              <a:spLocks noChangeArrowheads="1"/>
            </p:cNvSpPr>
            <p:nvPr/>
          </p:nvSpPr>
          <p:spPr bwMode="auto">
            <a:xfrm>
              <a:off x="520" y="3239"/>
              <a:ext cx="81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sz="1400" b="1">
                  <a:solidFill>
                    <a:schemeClr val="accent2"/>
                  </a:solidFill>
                  <a:latin typeface="Times New Roman" pitchFamily="18" charset="0"/>
                </a:rPr>
                <a:t>IP Address</a:t>
              </a:r>
            </a:p>
            <a:p>
              <a:pPr algn="ctr"/>
              <a:r>
                <a:rPr kumimoji="1" lang="en-US" sz="1400" b="1">
                  <a:solidFill>
                    <a:schemeClr val="accent2"/>
                  </a:solidFill>
                  <a:latin typeface="Times New Roman" pitchFamily="18" charset="0"/>
                </a:rPr>
                <a:t>146.163.147.81</a:t>
              </a:r>
            </a:p>
          </p:txBody>
        </p:sp>
      </p:grpSp>
      <p:grpSp>
        <p:nvGrpSpPr>
          <p:cNvPr id="5" name="Group 158"/>
          <p:cNvGrpSpPr>
            <a:grpSpLocks/>
          </p:cNvGrpSpPr>
          <p:nvPr/>
        </p:nvGrpSpPr>
        <p:grpSpPr bwMode="auto">
          <a:xfrm>
            <a:off x="1393825" y="3567113"/>
            <a:ext cx="6567488" cy="2711450"/>
            <a:chOff x="878" y="2247"/>
            <a:chExt cx="4137" cy="1708"/>
          </a:xfrm>
        </p:grpSpPr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878" y="2912"/>
              <a:ext cx="689" cy="695"/>
              <a:chOff x="494" y="2432"/>
              <a:chExt cx="689" cy="695"/>
            </a:xfrm>
          </p:grpSpPr>
          <p:pic>
            <p:nvPicPr>
              <p:cNvPr id="18565" name="Picture 16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08" y="2432"/>
                <a:ext cx="675" cy="47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8566" name="Text Box 17"/>
              <p:cNvSpPr txBox="1">
                <a:spLocks noChangeArrowheads="1"/>
              </p:cNvSpPr>
              <p:nvPr/>
            </p:nvSpPr>
            <p:spPr bwMode="auto">
              <a:xfrm>
                <a:off x="494" y="2935"/>
                <a:ext cx="68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400" b="1">
                    <a:latin typeface="Times New Roman" pitchFamily="18" charset="0"/>
                  </a:rPr>
                  <a:t>Server Host</a:t>
                </a:r>
              </a:p>
            </p:txBody>
          </p:sp>
        </p:grpSp>
        <p:grpSp>
          <p:nvGrpSpPr>
            <p:cNvPr id="7" name="Group 107"/>
            <p:cNvGrpSpPr>
              <a:grpSpLocks/>
            </p:cNvGrpSpPr>
            <p:nvPr/>
          </p:nvGrpSpPr>
          <p:grpSpPr bwMode="auto">
            <a:xfrm>
              <a:off x="2032" y="2568"/>
              <a:ext cx="1754" cy="1387"/>
              <a:chOff x="1672" y="2304"/>
              <a:chExt cx="1754" cy="1387"/>
            </a:xfrm>
          </p:grpSpPr>
          <p:grpSp>
            <p:nvGrpSpPr>
              <p:cNvPr id="8" name="Group 105"/>
              <p:cNvGrpSpPr>
                <a:grpSpLocks/>
              </p:cNvGrpSpPr>
              <p:nvPr/>
            </p:nvGrpSpPr>
            <p:grpSpPr bwMode="auto">
              <a:xfrm>
                <a:off x="1672" y="2304"/>
                <a:ext cx="1754" cy="1091"/>
                <a:chOff x="1568" y="2496"/>
                <a:chExt cx="1002" cy="747"/>
              </a:xfrm>
            </p:grpSpPr>
            <p:sp>
              <p:nvSpPr>
                <p:cNvPr id="18491" name="Rectangle 20"/>
                <p:cNvSpPr>
                  <a:spLocks noChangeArrowheads="1"/>
                </p:cNvSpPr>
                <p:nvPr/>
              </p:nvSpPr>
              <p:spPr bwMode="auto">
                <a:xfrm>
                  <a:off x="1808" y="2834"/>
                  <a:ext cx="274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2" name="Rectangle 22"/>
                <p:cNvSpPr>
                  <a:spLocks noChangeArrowheads="1"/>
                </p:cNvSpPr>
                <p:nvPr/>
              </p:nvSpPr>
              <p:spPr bwMode="auto">
                <a:xfrm>
                  <a:off x="1808" y="2834"/>
                  <a:ext cx="274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3" name="Freeform 24"/>
                <p:cNvSpPr>
                  <a:spLocks/>
                </p:cNvSpPr>
                <p:nvPr/>
              </p:nvSpPr>
              <p:spPr bwMode="auto">
                <a:xfrm>
                  <a:off x="1776" y="2496"/>
                  <a:ext cx="793" cy="654"/>
                </a:xfrm>
                <a:custGeom>
                  <a:avLst/>
                  <a:gdLst>
                    <a:gd name="T0" fmla="*/ 71 w 793"/>
                    <a:gd name="T1" fmla="*/ 579 h 654"/>
                    <a:gd name="T2" fmla="*/ 236 w 793"/>
                    <a:gd name="T3" fmla="*/ 563 h 654"/>
                    <a:gd name="T4" fmla="*/ 384 w 793"/>
                    <a:gd name="T5" fmla="*/ 654 h 654"/>
                    <a:gd name="T6" fmla="*/ 553 w 793"/>
                    <a:gd name="T7" fmla="*/ 554 h 654"/>
                    <a:gd name="T8" fmla="*/ 585 w 793"/>
                    <a:gd name="T9" fmla="*/ 555 h 654"/>
                    <a:gd name="T10" fmla="*/ 677 w 793"/>
                    <a:gd name="T11" fmla="*/ 541 h 654"/>
                    <a:gd name="T12" fmla="*/ 713 w 793"/>
                    <a:gd name="T13" fmla="*/ 513 h 654"/>
                    <a:gd name="T14" fmla="*/ 791 w 793"/>
                    <a:gd name="T15" fmla="*/ 466 h 654"/>
                    <a:gd name="T16" fmla="*/ 793 w 793"/>
                    <a:gd name="T17" fmla="*/ 441 h 654"/>
                    <a:gd name="T18" fmla="*/ 778 w 793"/>
                    <a:gd name="T19" fmla="*/ 194 h 654"/>
                    <a:gd name="T20" fmla="*/ 713 w 793"/>
                    <a:gd name="T21" fmla="*/ 136 h 654"/>
                    <a:gd name="T22" fmla="*/ 454 w 793"/>
                    <a:gd name="T23" fmla="*/ 44 h 654"/>
                    <a:gd name="T24" fmla="*/ 421 w 793"/>
                    <a:gd name="T25" fmla="*/ 67 h 654"/>
                    <a:gd name="T26" fmla="*/ 239 w 793"/>
                    <a:gd name="T27" fmla="*/ 28 h 654"/>
                    <a:gd name="T28" fmla="*/ 216 w 793"/>
                    <a:gd name="T29" fmla="*/ 0 h 654"/>
                    <a:gd name="T30" fmla="*/ 0 w 793"/>
                    <a:gd name="T31" fmla="*/ 297 h 654"/>
                    <a:gd name="T32" fmla="*/ 71 w 793"/>
                    <a:gd name="T33" fmla="*/ 579 h 6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93"/>
                    <a:gd name="T52" fmla="*/ 0 h 654"/>
                    <a:gd name="T53" fmla="*/ 793 w 793"/>
                    <a:gd name="T54" fmla="*/ 654 h 6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93" h="654">
                      <a:moveTo>
                        <a:pt x="71" y="579"/>
                      </a:moveTo>
                      <a:lnTo>
                        <a:pt x="236" y="563"/>
                      </a:lnTo>
                      <a:lnTo>
                        <a:pt x="384" y="654"/>
                      </a:lnTo>
                      <a:lnTo>
                        <a:pt x="553" y="554"/>
                      </a:lnTo>
                      <a:lnTo>
                        <a:pt x="585" y="555"/>
                      </a:lnTo>
                      <a:lnTo>
                        <a:pt x="677" y="541"/>
                      </a:lnTo>
                      <a:lnTo>
                        <a:pt x="713" y="513"/>
                      </a:lnTo>
                      <a:lnTo>
                        <a:pt x="791" y="466"/>
                      </a:lnTo>
                      <a:lnTo>
                        <a:pt x="793" y="441"/>
                      </a:lnTo>
                      <a:lnTo>
                        <a:pt x="778" y="194"/>
                      </a:lnTo>
                      <a:lnTo>
                        <a:pt x="713" y="136"/>
                      </a:lnTo>
                      <a:lnTo>
                        <a:pt x="454" y="44"/>
                      </a:lnTo>
                      <a:lnTo>
                        <a:pt x="421" y="67"/>
                      </a:lnTo>
                      <a:lnTo>
                        <a:pt x="239" y="28"/>
                      </a:lnTo>
                      <a:lnTo>
                        <a:pt x="216" y="0"/>
                      </a:lnTo>
                      <a:lnTo>
                        <a:pt x="0" y="297"/>
                      </a:lnTo>
                      <a:lnTo>
                        <a:pt x="71" y="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4" name="Rectangle 25"/>
                <p:cNvSpPr>
                  <a:spLocks noChangeArrowheads="1"/>
                </p:cNvSpPr>
                <p:nvPr/>
              </p:nvSpPr>
              <p:spPr bwMode="auto">
                <a:xfrm>
                  <a:off x="1716" y="2758"/>
                  <a:ext cx="102" cy="1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5" name="Rectangle 26"/>
                <p:cNvSpPr>
                  <a:spLocks noChangeArrowheads="1"/>
                </p:cNvSpPr>
                <p:nvPr/>
              </p:nvSpPr>
              <p:spPr bwMode="auto">
                <a:xfrm>
                  <a:off x="1900" y="2501"/>
                  <a:ext cx="117" cy="13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6" name="Rectangle 27"/>
                <p:cNvSpPr>
                  <a:spLocks noChangeArrowheads="1"/>
                </p:cNvSpPr>
                <p:nvPr/>
              </p:nvSpPr>
              <p:spPr bwMode="auto">
                <a:xfrm>
                  <a:off x="1929" y="2927"/>
                  <a:ext cx="331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7" name="Rectangle 28"/>
                <p:cNvSpPr>
                  <a:spLocks noChangeArrowheads="1"/>
                </p:cNvSpPr>
                <p:nvPr/>
              </p:nvSpPr>
              <p:spPr bwMode="auto">
                <a:xfrm>
                  <a:off x="1987" y="2960"/>
                  <a:ext cx="122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 b="1" i="1">
                      <a:solidFill>
                        <a:srgbClr val="000000"/>
                      </a:solidFill>
                      <a:latin typeface="Times New Roman" pitchFamily="18" charset="0"/>
                    </a:rPr>
                    <a:t>Internet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498" name="Line 29"/>
                <p:cNvSpPr>
                  <a:spLocks noChangeShapeType="1"/>
                </p:cNvSpPr>
                <p:nvPr/>
              </p:nvSpPr>
              <p:spPr bwMode="auto">
                <a:xfrm>
                  <a:off x="2320" y="2581"/>
                  <a:ext cx="1" cy="6"/>
                </a:xfrm>
                <a:prstGeom prst="line">
                  <a:avLst/>
                </a:prstGeom>
                <a:noFill/>
                <a:ln w="9525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99" name="Rectangle 30"/>
                <p:cNvSpPr>
                  <a:spLocks noChangeArrowheads="1"/>
                </p:cNvSpPr>
                <p:nvPr/>
              </p:nvSpPr>
              <p:spPr bwMode="auto">
                <a:xfrm>
                  <a:off x="2321" y="2599"/>
                  <a:ext cx="3" cy="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0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1624" y="2870"/>
                  <a:ext cx="880" cy="8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1" name="Freeform 33"/>
                <p:cNvSpPr>
                  <a:spLocks/>
                </p:cNvSpPr>
                <p:nvPr/>
              </p:nvSpPr>
              <p:spPr bwMode="auto">
                <a:xfrm>
                  <a:off x="1598" y="2851"/>
                  <a:ext cx="43" cy="41"/>
                </a:xfrm>
                <a:custGeom>
                  <a:avLst/>
                  <a:gdLst>
                    <a:gd name="T0" fmla="*/ 43 w 43"/>
                    <a:gd name="T1" fmla="*/ 0 h 41"/>
                    <a:gd name="T2" fmla="*/ 0 w 43"/>
                    <a:gd name="T3" fmla="*/ 17 h 41"/>
                    <a:gd name="T4" fmla="*/ 39 w 43"/>
                    <a:gd name="T5" fmla="*/ 41 h 41"/>
                    <a:gd name="T6" fmla="*/ 28 w 43"/>
                    <a:gd name="T7" fmla="*/ 19 h 41"/>
                    <a:gd name="T8" fmla="*/ 43 w 43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41"/>
                    <a:gd name="T17" fmla="*/ 43 w 43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41">
                      <a:moveTo>
                        <a:pt x="43" y="0"/>
                      </a:moveTo>
                      <a:lnTo>
                        <a:pt x="0" y="17"/>
                      </a:lnTo>
                      <a:lnTo>
                        <a:pt x="39" y="41"/>
                      </a:lnTo>
                      <a:lnTo>
                        <a:pt x="28" y="19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2" name="Rectangle 34"/>
                <p:cNvSpPr>
                  <a:spLocks noChangeArrowheads="1"/>
                </p:cNvSpPr>
                <p:nvPr/>
              </p:nvSpPr>
              <p:spPr bwMode="auto">
                <a:xfrm rot="-1260000">
                  <a:off x="1839" y="2646"/>
                  <a:ext cx="11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03" name="Rectangle 35"/>
                <p:cNvSpPr>
                  <a:spLocks noChangeArrowheads="1"/>
                </p:cNvSpPr>
                <p:nvPr/>
              </p:nvSpPr>
              <p:spPr bwMode="auto">
                <a:xfrm rot="-420000">
                  <a:off x="1956" y="2739"/>
                  <a:ext cx="140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04" name="Rectangle 36"/>
                <p:cNvSpPr>
                  <a:spLocks noChangeArrowheads="1"/>
                </p:cNvSpPr>
                <p:nvPr/>
              </p:nvSpPr>
              <p:spPr bwMode="auto">
                <a:xfrm>
                  <a:off x="1776" y="2867"/>
                  <a:ext cx="92" cy="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5" name="Oval 38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6" name="Oval 39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7" name="Oval 40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8" name="Oval 41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09" name="Oval 42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0" name="Oval 43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1" name="Oval 44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2" name="Oval 45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3" name="Oval 46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4" name="Oval 47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5" name="Oval 48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6" name="Freeform 49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7" name="Line 51"/>
                <p:cNvSpPr>
                  <a:spLocks noChangeShapeType="1"/>
                </p:cNvSpPr>
                <p:nvPr/>
              </p:nvSpPr>
              <p:spPr bwMode="auto">
                <a:xfrm flipV="1">
                  <a:off x="1602" y="2653"/>
                  <a:ext cx="822" cy="1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8" name="Freeform 52"/>
                <p:cNvSpPr>
                  <a:spLocks/>
                </p:cNvSpPr>
                <p:nvPr/>
              </p:nvSpPr>
              <p:spPr bwMode="auto">
                <a:xfrm>
                  <a:off x="2405" y="2636"/>
                  <a:ext cx="45" cy="40"/>
                </a:xfrm>
                <a:custGeom>
                  <a:avLst/>
                  <a:gdLst>
                    <a:gd name="T0" fmla="*/ 9 w 45"/>
                    <a:gd name="T1" fmla="*/ 40 h 40"/>
                    <a:gd name="T2" fmla="*/ 45 w 45"/>
                    <a:gd name="T3" fmla="*/ 12 h 40"/>
                    <a:gd name="T4" fmla="*/ 0 w 45"/>
                    <a:gd name="T5" fmla="*/ 0 h 40"/>
                    <a:gd name="T6" fmla="*/ 17 w 45"/>
                    <a:gd name="T7" fmla="*/ 18 h 40"/>
                    <a:gd name="T8" fmla="*/ 9 w 45"/>
                    <a:gd name="T9" fmla="*/ 4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9" y="40"/>
                      </a:moveTo>
                      <a:lnTo>
                        <a:pt x="45" y="12"/>
                      </a:lnTo>
                      <a:lnTo>
                        <a:pt x="0" y="0"/>
                      </a:lnTo>
                      <a:lnTo>
                        <a:pt x="17" y="18"/>
                      </a:lnTo>
                      <a:lnTo>
                        <a:pt x="9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19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1627" y="2681"/>
                  <a:ext cx="822" cy="1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0" name="Freeform 55"/>
                <p:cNvSpPr>
                  <a:spLocks/>
                </p:cNvSpPr>
                <p:nvPr/>
              </p:nvSpPr>
              <p:spPr bwMode="auto">
                <a:xfrm>
                  <a:off x="1602" y="2848"/>
                  <a:ext cx="45" cy="40"/>
                </a:xfrm>
                <a:custGeom>
                  <a:avLst/>
                  <a:gdLst>
                    <a:gd name="T0" fmla="*/ 36 w 45"/>
                    <a:gd name="T1" fmla="*/ 0 h 40"/>
                    <a:gd name="T2" fmla="*/ 0 w 45"/>
                    <a:gd name="T3" fmla="*/ 28 h 40"/>
                    <a:gd name="T4" fmla="*/ 45 w 45"/>
                    <a:gd name="T5" fmla="*/ 40 h 40"/>
                    <a:gd name="T6" fmla="*/ 28 w 45"/>
                    <a:gd name="T7" fmla="*/ 22 h 40"/>
                    <a:gd name="T8" fmla="*/ 36 w 45"/>
                    <a:gd name="T9" fmla="*/ 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36" y="0"/>
                      </a:moveTo>
                      <a:lnTo>
                        <a:pt x="0" y="28"/>
                      </a:lnTo>
                      <a:lnTo>
                        <a:pt x="45" y="40"/>
                      </a:lnTo>
                      <a:lnTo>
                        <a:pt x="28" y="22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1" name="Line 57"/>
                <p:cNvSpPr>
                  <a:spLocks noChangeShapeType="1"/>
                </p:cNvSpPr>
                <p:nvPr/>
              </p:nvSpPr>
              <p:spPr bwMode="auto">
                <a:xfrm>
                  <a:off x="1641" y="2906"/>
                  <a:ext cx="731" cy="1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2" name="Freeform 58"/>
                <p:cNvSpPr>
                  <a:spLocks/>
                </p:cNvSpPr>
                <p:nvPr/>
              </p:nvSpPr>
              <p:spPr bwMode="auto">
                <a:xfrm>
                  <a:off x="2353" y="3025"/>
                  <a:ext cx="45" cy="40"/>
                </a:xfrm>
                <a:custGeom>
                  <a:avLst/>
                  <a:gdLst>
                    <a:gd name="T0" fmla="*/ 0 w 45"/>
                    <a:gd name="T1" fmla="*/ 40 h 40"/>
                    <a:gd name="T2" fmla="*/ 45 w 45"/>
                    <a:gd name="T3" fmla="*/ 27 h 40"/>
                    <a:gd name="T4" fmla="*/ 8 w 45"/>
                    <a:gd name="T5" fmla="*/ 0 h 40"/>
                    <a:gd name="T6" fmla="*/ 17 w 45"/>
                    <a:gd name="T7" fmla="*/ 22 h 40"/>
                    <a:gd name="T8" fmla="*/ 0 w 45"/>
                    <a:gd name="T9" fmla="*/ 4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0" y="40"/>
                      </a:moveTo>
                      <a:lnTo>
                        <a:pt x="45" y="27"/>
                      </a:lnTo>
                      <a:lnTo>
                        <a:pt x="8" y="0"/>
                      </a:lnTo>
                      <a:lnTo>
                        <a:pt x="17" y="22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3" name="Rectangle 59"/>
                <p:cNvSpPr>
                  <a:spLocks noChangeArrowheads="1"/>
                </p:cNvSpPr>
                <p:nvPr/>
              </p:nvSpPr>
              <p:spPr bwMode="auto">
                <a:xfrm rot="-840000">
                  <a:off x="1904" y="2676"/>
                  <a:ext cx="169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 (1)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24" name="Rectangle 60"/>
                <p:cNvSpPr>
                  <a:spLocks noChangeArrowheads="1"/>
                </p:cNvSpPr>
                <p:nvPr/>
              </p:nvSpPr>
              <p:spPr bwMode="auto">
                <a:xfrm rot="-780000">
                  <a:off x="1928" y="2767"/>
                  <a:ext cx="32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 with tag  (2)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25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1652" y="2940"/>
                  <a:ext cx="731" cy="1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6" name="Freeform 63"/>
                <p:cNvSpPr>
                  <a:spLocks/>
                </p:cNvSpPr>
                <p:nvPr/>
              </p:nvSpPr>
              <p:spPr bwMode="auto">
                <a:xfrm>
                  <a:off x="1628" y="2923"/>
                  <a:ext cx="44" cy="40"/>
                </a:xfrm>
                <a:custGeom>
                  <a:avLst/>
                  <a:gdLst>
                    <a:gd name="T0" fmla="*/ 44 w 44"/>
                    <a:gd name="T1" fmla="*/ 0 h 40"/>
                    <a:gd name="T2" fmla="*/ 0 w 44"/>
                    <a:gd name="T3" fmla="*/ 13 h 40"/>
                    <a:gd name="T4" fmla="*/ 36 w 44"/>
                    <a:gd name="T5" fmla="*/ 40 h 40"/>
                    <a:gd name="T6" fmla="*/ 27 w 44"/>
                    <a:gd name="T7" fmla="*/ 18 h 40"/>
                    <a:gd name="T8" fmla="*/ 44 w 44"/>
                    <a:gd name="T9" fmla="*/ 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40"/>
                    <a:gd name="T17" fmla="*/ 44 w 44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40">
                      <a:moveTo>
                        <a:pt x="44" y="0"/>
                      </a:moveTo>
                      <a:lnTo>
                        <a:pt x="0" y="13"/>
                      </a:lnTo>
                      <a:lnTo>
                        <a:pt x="36" y="40"/>
                      </a:lnTo>
                      <a:lnTo>
                        <a:pt x="27" y="18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7" name="Rectangle 64"/>
                <p:cNvSpPr>
                  <a:spLocks noChangeArrowheads="1"/>
                </p:cNvSpPr>
                <p:nvPr/>
              </p:nvSpPr>
              <p:spPr bwMode="auto">
                <a:xfrm rot="600000">
                  <a:off x="1911" y="2899"/>
                  <a:ext cx="169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 (3)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28" name="Rectangle 65"/>
                <p:cNvSpPr>
                  <a:spLocks noChangeArrowheads="1"/>
                </p:cNvSpPr>
                <p:nvPr/>
              </p:nvSpPr>
              <p:spPr bwMode="auto">
                <a:xfrm rot="600000">
                  <a:off x="1894" y="3007"/>
                  <a:ext cx="191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 (4)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29" name="Freeform 67"/>
                <p:cNvSpPr>
                  <a:spLocks/>
                </p:cNvSpPr>
                <p:nvPr/>
              </p:nvSpPr>
              <p:spPr bwMode="auto">
                <a:xfrm>
                  <a:off x="1776" y="2496"/>
                  <a:ext cx="793" cy="654"/>
                </a:xfrm>
                <a:custGeom>
                  <a:avLst/>
                  <a:gdLst>
                    <a:gd name="T0" fmla="*/ 71 w 793"/>
                    <a:gd name="T1" fmla="*/ 579 h 654"/>
                    <a:gd name="T2" fmla="*/ 236 w 793"/>
                    <a:gd name="T3" fmla="*/ 563 h 654"/>
                    <a:gd name="T4" fmla="*/ 384 w 793"/>
                    <a:gd name="T5" fmla="*/ 654 h 654"/>
                    <a:gd name="T6" fmla="*/ 553 w 793"/>
                    <a:gd name="T7" fmla="*/ 554 h 654"/>
                    <a:gd name="T8" fmla="*/ 585 w 793"/>
                    <a:gd name="T9" fmla="*/ 555 h 654"/>
                    <a:gd name="T10" fmla="*/ 677 w 793"/>
                    <a:gd name="T11" fmla="*/ 541 h 654"/>
                    <a:gd name="T12" fmla="*/ 713 w 793"/>
                    <a:gd name="T13" fmla="*/ 513 h 654"/>
                    <a:gd name="T14" fmla="*/ 791 w 793"/>
                    <a:gd name="T15" fmla="*/ 466 h 654"/>
                    <a:gd name="T16" fmla="*/ 793 w 793"/>
                    <a:gd name="T17" fmla="*/ 441 h 654"/>
                    <a:gd name="T18" fmla="*/ 778 w 793"/>
                    <a:gd name="T19" fmla="*/ 194 h 654"/>
                    <a:gd name="T20" fmla="*/ 713 w 793"/>
                    <a:gd name="T21" fmla="*/ 136 h 654"/>
                    <a:gd name="T22" fmla="*/ 454 w 793"/>
                    <a:gd name="T23" fmla="*/ 44 h 654"/>
                    <a:gd name="T24" fmla="*/ 421 w 793"/>
                    <a:gd name="T25" fmla="*/ 67 h 654"/>
                    <a:gd name="T26" fmla="*/ 239 w 793"/>
                    <a:gd name="T27" fmla="*/ 28 h 654"/>
                    <a:gd name="T28" fmla="*/ 216 w 793"/>
                    <a:gd name="T29" fmla="*/ 0 h 654"/>
                    <a:gd name="T30" fmla="*/ 0 w 793"/>
                    <a:gd name="T31" fmla="*/ 297 h 654"/>
                    <a:gd name="T32" fmla="*/ 71 w 793"/>
                    <a:gd name="T33" fmla="*/ 579 h 6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93"/>
                    <a:gd name="T52" fmla="*/ 0 h 654"/>
                    <a:gd name="T53" fmla="*/ 793 w 793"/>
                    <a:gd name="T54" fmla="*/ 654 h 6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93" h="654">
                      <a:moveTo>
                        <a:pt x="71" y="579"/>
                      </a:moveTo>
                      <a:lnTo>
                        <a:pt x="236" y="563"/>
                      </a:lnTo>
                      <a:lnTo>
                        <a:pt x="384" y="654"/>
                      </a:lnTo>
                      <a:lnTo>
                        <a:pt x="553" y="554"/>
                      </a:lnTo>
                      <a:lnTo>
                        <a:pt x="585" y="555"/>
                      </a:lnTo>
                      <a:lnTo>
                        <a:pt x="677" y="541"/>
                      </a:lnTo>
                      <a:lnTo>
                        <a:pt x="713" y="513"/>
                      </a:lnTo>
                      <a:lnTo>
                        <a:pt x="791" y="466"/>
                      </a:lnTo>
                      <a:lnTo>
                        <a:pt x="793" y="441"/>
                      </a:lnTo>
                      <a:lnTo>
                        <a:pt x="778" y="194"/>
                      </a:lnTo>
                      <a:lnTo>
                        <a:pt x="713" y="136"/>
                      </a:lnTo>
                      <a:lnTo>
                        <a:pt x="454" y="44"/>
                      </a:lnTo>
                      <a:lnTo>
                        <a:pt x="421" y="67"/>
                      </a:lnTo>
                      <a:lnTo>
                        <a:pt x="239" y="28"/>
                      </a:lnTo>
                      <a:lnTo>
                        <a:pt x="216" y="0"/>
                      </a:lnTo>
                      <a:lnTo>
                        <a:pt x="0" y="297"/>
                      </a:lnTo>
                      <a:lnTo>
                        <a:pt x="71" y="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0" name="Rectangle 68"/>
                <p:cNvSpPr>
                  <a:spLocks noChangeArrowheads="1"/>
                </p:cNvSpPr>
                <p:nvPr/>
              </p:nvSpPr>
              <p:spPr bwMode="auto">
                <a:xfrm>
                  <a:off x="1716" y="2758"/>
                  <a:ext cx="102" cy="1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1" name="Rectangle 69"/>
                <p:cNvSpPr>
                  <a:spLocks noChangeArrowheads="1"/>
                </p:cNvSpPr>
                <p:nvPr/>
              </p:nvSpPr>
              <p:spPr bwMode="auto">
                <a:xfrm>
                  <a:off x="1900" y="2501"/>
                  <a:ext cx="117" cy="13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2" name="Rectangle 70"/>
                <p:cNvSpPr>
                  <a:spLocks noChangeArrowheads="1"/>
                </p:cNvSpPr>
                <p:nvPr/>
              </p:nvSpPr>
              <p:spPr bwMode="auto">
                <a:xfrm>
                  <a:off x="1929" y="2927"/>
                  <a:ext cx="331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3" name="Rectangle 71"/>
                <p:cNvSpPr>
                  <a:spLocks noChangeArrowheads="1"/>
                </p:cNvSpPr>
                <p:nvPr/>
              </p:nvSpPr>
              <p:spPr bwMode="auto">
                <a:xfrm>
                  <a:off x="1987" y="2960"/>
                  <a:ext cx="122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 b="1" i="1">
                      <a:solidFill>
                        <a:srgbClr val="000000"/>
                      </a:solidFill>
                      <a:latin typeface="Times New Roman" pitchFamily="18" charset="0"/>
                    </a:rPr>
                    <a:t>Internet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34" name="Line 72"/>
                <p:cNvSpPr>
                  <a:spLocks noChangeShapeType="1"/>
                </p:cNvSpPr>
                <p:nvPr/>
              </p:nvSpPr>
              <p:spPr bwMode="auto">
                <a:xfrm>
                  <a:off x="2320" y="2581"/>
                  <a:ext cx="1" cy="6"/>
                </a:xfrm>
                <a:prstGeom prst="line">
                  <a:avLst/>
                </a:prstGeom>
                <a:noFill/>
                <a:ln w="9525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5" name="Rectangle 73"/>
                <p:cNvSpPr>
                  <a:spLocks noChangeArrowheads="1"/>
                </p:cNvSpPr>
                <p:nvPr/>
              </p:nvSpPr>
              <p:spPr bwMode="auto">
                <a:xfrm>
                  <a:off x="2321" y="2599"/>
                  <a:ext cx="3" cy="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6" name="Line 75"/>
                <p:cNvSpPr>
                  <a:spLocks noChangeShapeType="1"/>
                </p:cNvSpPr>
                <p:nvPr/>
              </p:nvSpPr>
              <p:spPr bwMode="auto">
                <a:xfrm flipH="1" flipV="1">
                  <a:off x="1624" y="2870"/>
                  <a:ext cx="880" cy="8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7" name="Freeform 76"/>
                <p:cNvSpPr>
                  <a:spLocks/>
                </p:cNvSpPr>
                <p:nvPr/>
              </p:nvSpPr>
              <p:spPr bwMode="auto">
                <a:xfrm>
                  <a:off x="1598" y="2851"/>
                  <a:ext cx="43" cy="41"/>
                </a:xfrm>
                <a:custGeom>
                  <a:avLst/>
                  <a:gdLst>
                    <a:gd name="T0" fmla="*/ 43 w 43"/>
                    <a:gd name="T1" fmla="*/ 0 h 41"/>
                    <a:gd name="T2" fmla="*/ 0 w 43"/>
                    <a:gd name="T3" fmla="*/ 17 h 41"/>
                    <a:gd name="T4" fmla="*/ 39 w 43"/>
                    <a:gd name="T5" fmla="*/ 41 h 41"/>
                    <a:gd name="T6" fmla="*/ 28 w 43"/>
                    <a:gd name="T7" fmla="*/ 19 h 41"/>
                    <a:gd name="T8" fmla="*/ 43 w 43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41"/>
                    <a:gd name="T17" fmla="*/ 43 w 43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41">
                      <a:moveTo>
                        <a:pt x="43" y="0"/>
                      </a:moveTo>
                      <a:lnTo>
                        <a:pt x="0" y="17"/>
                      </a:lnTo>
                      <a:lnTo>
                        <a:pt x="39" y="41"/>
                      </a:lnTo>
                      <a:lnTo>
                        <a:pt x="28" y="19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8" name="Rectangle 77"/>
                <p:cNvSpPr>
                  <a:spLocks noChangeArrowheads="1"/>
                </p:cNvSpPr>
                <p:nvPr/>
              </p:nvSpPr>
              <p:spPr bwMode="auto">
                <a:xfrm rot="-1260000">
                  <a:off x="1839" y="2646"/>
                  <a:ext cx="11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39" name="Rectangle 78"/>
                <p:cNvSpPr>
                  <a:spLocks noChangeArrowheads="1"/>
                </p:cNvSpPr>
                <p:nvPr/>
              </p:nvSpPr>
              <p:spPr bwMode="auto">
                <a:xfrm rot="-420000">
                  <a:off x="1956" y="2739"/>
                  <a:ext cx="140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8540" name="Rectangle 79"/>
                <p:cNvSpPr>
                  <a:spLocks noChangeArrowheads="1"/>
                </p:cNvSpPr>
                <p:nvPr/>
              </p:nvSpPr>
              <p:spPr bwMode="auto">
                <a:xfrm>
                  <a:off x="1776" y="2867"/>
                  <a:ext cx="92" cy="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1" name="Oval 80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2" name="Oval 81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3" name="Oval 82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4" name="Oval 83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5" name="Oval 84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6" name="Oval 85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7" name="Oval 86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8" name="Oval 87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49" name="Oval 88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0" name="Oval 89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1" name="Oval 90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2" name="Freeform 91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3" name="Oval 92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4" name="Oval 93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5" name="Oval 94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6" name="Oval 95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7" name="Oval 96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8" name="Oval 97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59" name="Oval 98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60" name="Oval 99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61" name="Oval 100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62" name="Oval 101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63" name="Oval 102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64" name="Freeform 103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8490" name="Text Box 106"/>
              <p:cNvSpPr txBox="1">
                <a:spLocks noChangeArrowheads="1"/>
              </p:cNvSpPr>
              <p:nvPr/>
            </p:nvSpPr>
            <p:spPr bwMode="auto">
              <a:xfrm>
                <a:off x="2246" y="3441"/>
                <a:ext cx="6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FF0000"/>
                    </a:solidFill>
                    <a:latin typeface="Times New Roman" pitchFamily="18" charset="0"/>
                  </a:rPr>
                  <a:t>Internet</a:t>
                </a:r>
              </a:p>
            </p:txBody>
          </p:sp>
        </p:grpSp>
        <p:grpSp>
          <p:nvGrpSpPr>
            <p:cNvPr id="9" name="Group 140"/>
            <p:cNvGrpSpPr>
              <a:grpSpLocks/>
            </p:cNvGrpSpPr>
            <p:nvPr/>
          </p:nvGrpSpPr>
          <p:grpSpPr bwMode="auto">
            <a:xfrm>
              <a:off x="4246" y="2247"/>
              <a:ext cx="769" cy="570"/>
              <a:chOff x="4246" y="2247"/>
              <a:chExt cx="769" cy="570"/>
            </a:xfrm>
          </p:grpSpPr>
          <p:pic>
            <p:nvPicPr>
              <p:cNvPr id="18487" name="Picture 111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400" y="2426"/>
                <a:ext cx="546" cy="3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8488" name="Text Box 112"/>
              <p:cNvSpPr txBox="1">
                <a:spLocks noChangeArrowheads="1"/>
              </p:cNvSpPr>
              <p:nvPr/>
            </p:nvSpPr>
            <p:spPr bwMode="auto">
              <a:xfrm>
                <a:off x="4246" y="2247"/>
                <a:ext cx="76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400" b="1">
                    <a:latin typeface="Times New Roman" pitchFamily="18" charset="0"/>
                  </a:rPr>
                  <a:t>Client Host X</a:t>
                </a:r>
              </a:p>
            </p:txBody>
          </p:sp>
        </p:grpSp>
      </p:grpSp>
      <p:grpSp>
        <p:nvGrpSpPr>
          <p:cNvPr id="10" name="Group 119"/>
          <p:cNvGrpSpPr>
            <a:grpSpLocks/>
          </p:cNvGrpSpPr>
          <p:nvPr/>
        </p:nvGrpSpPr>
        <p:grpSpPr bwMode="auto">
          <a:xfrm>
            <a:off x="2222500" y="4152900"/>
            <a:ext cx="4673600" cy="762000"/>
            <a:chOff x="1080" y="2408"/>
            <a:chExt cx="2944" cy="480"/>
          </a:xfrm>
        </p:grpSpPr>
        <p:sp>
          <p:nvSpPr>
            <p:cNvPr id="18480" name="Line 114"/>
            <p:cNvSpPr>
              <a:spLocks noChangeShapeType="1"/>
            </p:cNvSpPr>
            <p:nvPr/>
          </p:nvSpPr>
          <p:spPr bwMode="auto">
            <a:xfrm flipH="1">
              <a:off x="3088" y="2408"/>
              <a:ext cx="936" cy="48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Line 115"/>
            <p:cNvSpPr>
              <a:spLocks noChangeShapeType="1"/>
            </p:cNvSpPr>
            <p:nvPr/>
          </p:nvSpPr>
          <p:spPr bwMode="auto">
            <a:xfrm flipH="1">
              <a:off x="2752" y="2888"/>
              <a:ext cx="35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Line 116"/>
            <p:cNvSpPr>
              <a:spLocks noChangeShapeType="1"/>
            </p:cNvSpPr>
            <p:nvPr/>
          </p:nvSpPr>
          <p:spPr bwMode="auto">
            <a:xfrm flipH="1">
              <a:off x="1080" y="2888"/>
              <a:ext cx="1336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117"/>
            <p:cNvSpPr>
              <a:spLocks noChangeShapeType="1"/>
            </p:cNvSpPr>
            <p:nvPr/>
          </p:nvSpPr>
          <p:spPr bwMode="auto">
            <a:xfrm flipH="1">
              <a:off x="2408" y="2888"/>
              <a:ext cx="35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28"/>
          <p:cNvGrpSpPr>
            <a:grpSpLocks/>
          </p:cNvGrpSpPr>
          <p:nvPr/>
        </p:nvGrpSpPr>
        <p:grpSpPr bwMode="auto">
          <a:xfrm>
            <a:off x="2270125" y="3490913"/>
            <a:ext cx="823913" cy="674687"/>
            <a:chOff x="1110" y="2135"/>
            <a:chExt cx="519" cy="425"/>
          </a:xfrm>
        </p:grpSpPr>
        <p:grpSp>
          <p:nvGrpSpPr>
            <p:cNvPr id="12" name="Group 126"/>
            <p:cNvGrpSpPr>
              <a:grpSpLocks/>
            </p:cNvGrpSpPr>
            <p:nvPr/>
          </p:nvGrpSpPr>
          <p:grpSpPr bwMode="auto">
            <a:xfrm>
              <a:off x="1232" y="2296"/>
              <a:ext cx="232" cy="264"/>
              <a:chOff x="1176" y="2240"/>
              <a:chExt cx="232" cy="264"/>
            </a:xfrm>
          </p:grpSpPr>
          <p:sp>
            <p:nvSpPr>
              <p:cNvPr id="34936" name="Rectangle 120"/>
              <p:cNvSpPr>
                <a:spLocks noChangeArrowheads="1"/>
              </p:cNvSpPr>
              <p:nvPr/>
            </p:nvSpPr>
            <p:spPr bwMode="auto">
              <a:xfrm>
                <a:off x="1176" y="2240"/>
                <a:ext cx="232" cy="2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475" name="Line 121"/>
              <p:cNvSpPr>
                <a:spLocks noChangeShapeType="1"/>
              </p:cNvSpPr>
              <p:nvPr/>
            </p:nvSpPr>
            <p:spPr bwMode="auto">
              <a:xfrm>
                <a:off x="1208" y="229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6" name="Line 122"/>
              <p:cNvSpPr>
                <a:spLocks noChangeShapeType="1"/>
              </p:cNvSpPr>
              <p:nvPr/>
            </p:nvSpPr>
            <p:spPr bwMode="auto">
              <a:xfrm>
                <a:off x="1208" y="233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7" name="Line 123"/>
              <p:cNvSpPr>
                <a:spLocks noChangeShapeType="1"/>
              </p:cNvSpPr>
              <p:nvPr/>
            </p:nvSpPr>
            <p:spPr bwMode="auto">
              <a:xfrm>
                <a:off x="1208" y="237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8" name="Line 124"/>
              <p:cNvSpPr>
                <a:spLocks noChangeShapeType="1"/>
              </p:cNvSpPr>
              <p:nvPr/>
            </p:nvSpPr>
            <p:spPr bwMode="auto">
              <a:xfrm>
                <a:off x="1208" y="241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9" name="Line 125"/>
              <p:cNvSpPr>
                <a:spLocks noChangeShapeType="1"/>
              </p:cNvSpPr>
              <p:nvPr/>
            </p:nvSpPr>
            <p:spPr bwMode="auto">
              <a:xfrm>
                <a:off x="1208" y="245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73" name="Text Box 127"/>
            <p:cNvSpPr txBox="1">
              <a:spLocks noChangeArrowheads="1"/>
            </p:cNvSpPr>
            <p:nvPr/>
          </p:nvSpPr>
          <p:spPr bwMode="auto">
            <a:xfrm>
              <a:off x="1110" y="2135"/>
              <a:ext cx="51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FF0000"/>
                  </a:solidFill>
                  <a:latin typeface="Times New Roman" pitchFamily="18" charset="0"/>
                </a:rPr>
                <a:t>Process A</a:t>
              </a:r>
            </a:p>
          </p:txBody>
        </p:sp>
      </p:grpSp>
      <p:grpSp>
        <p:nvGrpSpPr>
          <p:cNvPr id="13" name="Group 138"/>
          <p:cNvGrpSpPr>
            <a:grpSpLocks/>
          </p:cNvGrpSpPr>
          <p:nvPr/>
        </p:nvGrpSpPr>
        <p:grpSpPr bwMode="auto">
          <a:xfrm>
            <a:off x="733425" y="3452813"/>
            <a:ext cx="815975" cy="674687"/>
            <a:chOff x="422" y="2183"/>
            <a:chExt cx="514" cy="425"/>
          </a:xfrm>
        </p:grpSpPr>
        <p:grpSp>
          <p:nvGrpSpPr>
            <p:cNvPr id="14" name="Group 130"/>
            <p:cNvGrpSpPr>
              <a:grpSpLocks/>
            </p:cNvGrpSpPr>
            <p:nvPr/>
          </p:nvGrpSpPr>
          <p:grpSpPr bwMode="auto">
            <a:xfrm>
              <a:off x="544" y="2344"/>
              <a:ext cx="232" cy="264"/>
              <a:chOff x="1176" y="2240"/>
              <a:chExt cx="232" cy="264"/>
            </a:xfrm>
          </p:grpSpPr>
          <p:sp>
            <p:nvSpPr>
              <p:cNvPr id="34947" name="Rectangle 131"/>
              <p:cNvSpPr>
                <a:spLocks noChangeArrowheads="1"/>
              </p:cNvSpPr>
              <p:nvPr/>
            </p:nvSpPr>
            <p:spPr bwMode="auto">
              <a:xfrm>
                <a:off x="1176" y="2240"/>
                <a:ext cx="232" cy="2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8467" name="Line 132"/>
              <p:cNvSpPr>
                <a:spLocks noChangeShapeType="1"/>
              </p:cNvSpPr>
              <p:nvPr/>
            </p:nvSpPr>
            <p:spPr bwMode="auto">
              <a:xfrm>
                <a:off x="1208" y="229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8" name="Line 133"/>
              <p:cNvSpPr>
                <a:spLocks noChangeShapeType="1"/>
              </p:cNvSpPr>
              <p:nvPr/>
            </p:nvSpPr>
            <p:spPr bwMode="auto">
              <a:xfrm>
                <a:off x="1208" y="233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69" name="Line 134"/>
              <p:cNvSpPr>
                <a:spLocks noChangeShapeType="1"/>
              </p:cNvSpPr>
              <p:nvPr/>
            </p:nvSpPr>
            <p:spPr bwMode="auto">
              <a:xfrm>
                <a:off x="1208" y="237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0" name="Line 135"/>
              <p:cNvSpPr>
                <a:spLocks noChangeShapeType="1"/>
              </p:cNvSpPr>
              <p:nvPr/>
            </p:nvSpPr>
            <p:spPr bwMode="auto">
              <a:xfrm>
                <a:off x="1208" y="241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1" name="Line 136"/>
              <p:cNvSpPr>
                <a:spLocks noChangeShapeType="1"/>
              </p:cNvSpPr>
              <p:nvPr/>
            </p:nvSpPr>
            <p:spPr bwMode="auto">
              <a:xfrm>
                <a:off x="1208" y="245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8465" name="Text Box 137"/>
            <p:cNvSpPr txBox="1">
              <a:spLocks noChangeArrowheads="1"/>
            </p:cNvSpPr>
            <p:nvPr/>
          </p:nvSpPr>
          <p:spPr bwMode="auto">
            <a:xfrm>
              <a:off x="422" y="2183"/>
              <a:ext cx="51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chemeClr val="accent2"/>
                  </a:solidFill>
                  <a:latin typeface="Times New Roman" pitchFamily="18" charset="0"/>
                </a:rPr>
                <a:t>Process B</a:t>
              </a:r>
            </a:p>
          </p:txBody>
        </p:sp>
      </p:grpSp>
      <p:sp>
        <p:nvSpPr>
          <p:cNvPr id="34955" name="Line 139"/>
          <p:cNvSpPr>
            <a:spLocks noChangeShapeType="1"/>
          </p:cNvSpPr>
          <p:nvPr/>
        </p:nvSpPr>
        <p:spPr bwMode="auto">
          <a:xfrm flipV="1">
            <a:off x="2070100" y="4229100"/>
            <a:ext cx="393700" cy="5461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957" name="Text Box 141"/>
          <p:cNvSpPr txBox="1">
            <a:spLocks noChangeArrowheads="1"/>
          </p:cNvSpPr>
          <p:nvPr/>
        </p:nvSpPr>
        <p:spPr bwMode="auto">
          <a:xfrm>
            <a:off x="4060825" y="4646613"/>
            <a:ext cx="1136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1200" b="1">
                <a:solidFill>
                  <a:schemeClr val="accent2"/>
                </a:solidFill>
                <a:latin typeface="Times New Roman" pitchFamily="18" charset="0"/>
              </a:rPr>
              <a:t>146.163.147.81</a:t>
            </a:r>
          </a:p>
        </p:txBody>
      </p:sp>
      <p:grpSp>
        <p:nvGrpSpPr>
          <p:cNvPr id="15" name="Group 145"/>
          <p:cNvGrpSpPr>
            <a:grpSpLocks/>
          </p:cNvGrpSpPr>
          <p:nvPr/>
        </p:nvGrpSpPr>
        <p:grpSpPr bwMode="auto">
          <a:xfrm>
            <a:off x="6016625" y="5057775"/>
            <a:ext cx="1220788" cy="896938"/>
            <a:chOff x="3910" y="3202"/>
            <a:chExt cx="769" cy="565"/>
          </a:xfrm>
        </p:grpSpPr>
        <p:pic>
          <p:nvPicPr>
            <p:cNvPr id="18462" name="Picture 14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048" y="3202"/>
              <a:ext cx="546" cy="3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8463" name="Text Box 144"/>
            <p:cNvSpPr txBox="1">
              <a:spLocks noChangeArrowheads="1"/>
            </p:cNvSpPr>
            <p:nvPr/>
          </p:nvSpPr>
          <p:spPr bwMode="auto">
            <a:xfrm>
              <a:off x="3910" y="3575"/>
              <a:ext cx="76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400" b="1">
                  <a:latin typeface="Times New Roman" pitchFamily="18" charset="0"/>
                </a:rPr>
                <a:t>Client Host Y</a:t>
              </a:r>
            </a:p>
          </p:txBody>
        </p:sp>
      </p:grpSp>
      <p:grpSp>
        <p:nvGrpSpPr>
          <p:cNvPr id="16" name="Group 148"/>
          <p:cNvGrpSpPr>
            <a:grpSpLocks/>
          </p:cNvGrpSpPr>
          <p:nvPr/>
        </p:nvGrpSpPr>
        <p:grpSpPr bwMode="auto">
          <a:xfrm>
            <a:off x="6175375" y="5954713"/>
            <a:ext cx="911225" cy="458787"/>
            <a:chOff x="4410" y="1895"/>
            <a:chExt cx="574" cy="289"/>
          </a:xfrm>
        </p:grpSpPr>
        <p:sp>
          <p:nvSpPr>
            <p:cNvPr id="34963" name="AutoShape 147"/>
            <p:cNvSpPr>
              <a:spLocks noChangeArrowheads="1"/>
            </p:cNvSpPr>
            <p:nvPr/>
          </p:nvSpPr>
          <p:spPr bwMode="auto">
            <a:xfrm>
              <a:off x="4416" y="1904"/>
              <a:ext cx="568" cy="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461" name="Text Box 146"/>
            <p:cNvSpPr txBox="1">
              <a:spLocks noChangeArrowheads="1"/>
            </p:cNvSpPr>
            <p:nvPr/>
          </p:nvSpPr>
          <p:spPr bwMode="auto">
            <a:xfrm>
              <a:off x="4410" y="1895"/>
              <a:ext cx="5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Connect to</a:t>
              </a:r>
            </a:p>
            <a:p>
              <a:pPr algn="ctr"/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process B</a:t>
              </a:r>
            </a:p>
          </p:txBody>
        </p:sp>
      </p:grpSp>
      <p:grpSp>
        <p:nvGrpSpPr>
          <p:cNvPr id="17" name="Group 159"/>
          <p:cNvGrpSpPr>
            <a:grpSpLocks/>
          </p:cNvGrpSpPr>
          <p:nvPr/>
        </p:nvGrpSpPr>
        <p:grpSpPr bwMode="auto">
          <a:xfrm>
            <a:off x="2222500" y="5041900"/>
            <a:ext cx="3949700" cy="393700"/>
            <a:chOff x="1400" y="3176"/>
            <a:chExt cx="2488" cy="248"/>
          </a:xfrm>
        </p:grpSpPr>
        <p:grpSp>
          <p:nvGrpSpPr>
            <p:cNvPr id="18" name="Group 156"/>
            <p:cNvGrpSpPr>
              <a:grpSpLocks/>
            </p:cNvGrpSpPr>
            <p:nvPr/>
          </p:nvGrpSpPr>
          <p:grpSpPr bwMode="auto">
            <a:xfrm>
              <a:off x="1400" y="3176"/>
              <a:ext cx="2488" cy="248"/>
              <a:chOff x="2768" y="1016"/>
              <a:chExt cx="2488" cy="248"/>
            </a:xfrm>
          </p:grpSpPr>
          <p:sp>
            <p:nvSpPr>
              <p:cNvPr id="18455" name="Line 150"/>
              <p:cNvSpPr>
                <a:spLocks noChangeShapeType="1"/>
              </p:cNvSpPr>
              <p:nvPr/>
            </p:nvSpPr>
            <p:spPr bwMode="auto">
              <a:xfrm flipH="1" flipV="1">
                <a:off x="4792" y="1016"/>
                <a:ext cx="464" cy="248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oup 154"/>
              <p:cNvGrpSpPr>
                <a:grpSpLocks/>
              </p:cNvGrpSpPr>
              <p:nvPr/>
            </p:nvGrpSpPr>
            <p:grpSpPr bwMode="auto">
              <a:xfrm>
                <a:off x="2768" y="1016"/>
                <a:ext cx="2024" cy="0"/>
                <a:chOff x="2032" y="1176"/>
                <a:chExt cx="2024" cy="0"/>
              </a:xfrm>
            </p:grpSpPr>
            <p:sp>
              <p:nvSpPr>
                <p:cNvPr id="18457" name="Line 151"/>
                <p:cNvSpPr>
                  <a:spLocks noChangeShapeType="1"/>
                </p:cNvSpPr>
                <p:nvPr/>
              </p:nvSpPr>
              <p:spPr bwMode="auto">
                <a:xfrm flipH="1">
                  <a:off x="3704" y="1176"/>
                  <a:ext cx="352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8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2032" y="1176"/>
                  <a:ext cx="1336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59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3360" y="1176"/>
                  <a:ext cx="352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8454" name="Text Box 157"/>
            <p:cNvSpPr txBox="1">
              <a:spLocks noChangeArrowheads="1"/>
            </p:cNvSpPr>
            <p:nvPr/>
          </p:nvSpPr>
          <p:spPr bwMode="auto">
            <a:xfrm>
              <a:off x="2446" y="3191"/>
              <a:ext cx="7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chemeClr val="accent2"/>
                  </a:solidFill>
                  <a:latin typeface="Times New Roman" pitchFamily="18" charset="0"/>
                </a:rPr>
                <a:t>146.163.147.81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7" grpId="0"/>
      <p:bldP spid="34831" grpId="0"/>
      <p:bldP spid="34955" grpId="0" animBg="1"/>
      <p:bldP spid="3495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53A419AF-A42B-4F1F-B2DD-CB1694C810E9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1945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090A3A-3C75-4B19-B79C-A498AE686FC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7019" name="Rectangle 155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43"/>
          <p:cNvGrpSpPr>
            <a:grpSpLocks/>
          </p:cNvGrpSpPr>
          <p:nvPr/>
        </p:nvGrpSpPr>
        <p:grpSpPr bwMode="auto">
          <a:xfrm>
            <a:off x="454025" y="979488"/>
            <a:ext cx="2492375" cy="396875"/>
            <a:chOff x="2094" y="729"/>
            <a:chExt cx="1570" cy="250"/>
          </a:xfrm>
        </p:grpSpPr>
        <p:sp>
          <p:nvSpPr>
            <p:cNvPr id="36874" name="AutoShape 10"/>
            <p:cNvSpPr>
              <a:spLocks noChangeArrowheads="1"/>
            </p:cNvSpPr>
            <p:nvPr/>
          </p:nvSpPr>
          <p:spPr bwMode="auto">
            <a:xfrm>
              <a:off x="2096" y="752"/>
              <a:ext cx="1568" cy="22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602" name="Text Box 11"/>
            <p:cNvSpPr txBox="1">
              <a:spLocks noChangeArrowheads="1"/>
            </p:cNvSpPr>
            <p:nvPr/>
          </p:nvSpPr>
          <p:spPr bwMode="auto">
            <a:xfrm>
              <a:off x="2094" y="729"/>
              <a:ext cx="15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Concept of “ports” (2)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282700" y="5726113"/>
            <a:ext cx="1320800" cy="517525"/>
            <a:chOff x="512" y="3239"/>
            <a:chExt cx="832" cy="326"/>
          </a:xfrm>
        </p:grpSpPr>
        <p:sp>
          <p:nvSpPr>
            <p:cNvPr id="36882" name="AutoShape 18"/>
            <p:cNvSpPr>
              <a:spLocks noChangeArrowheads="1"/>
            </p:cNvSpPr>
            <p:nvPr/>
          </p:nvSpPr>
          <p:spPr bwMode="auto">
            <a:xfrm>
              <a:off x="512" y="3256"/>
              <a:ext cx="832" cy="30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600" name="Text Box 19"/>
            <p:cNvSpPr txBox="1">
              <a:spLocks noChangeArrowheads="1"/>
            </p:cNvSpPr>
            <p:nvPr/>
          </p:nvSpPr>
          <p:spPr bwMode="auto">
            <a:xfrm>
              <a:off x="520" y="3239"/>
              <a:ext cx="816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sz="1400" b="1">
                  <a:solidFill>
                    <a:schemeClr val="accent2"/>
                  </a:solidFill>
                  <a:latin typeface="Times New Roman" pitchFamily="18" charset="0"/>
                </a:rPr>
                <a:t>IP Address</a:t>
              </a:r>
            </a:p>
            <a:p>
              <a:pPr algn="ctr"/>
              <a:r>
                <a:rPr kumimoji="1" lang="en-US" sz="1400" b="1">
                  <a:solidFill>
                    <a:schemeClr val="accent2"/>
                  </a:solidFill>
                  <a:latin typeface="Times New Roman" pitchFamily="18" charset="0"/>
                </a:rPr>
                <a:t>146.163.147.81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1393825" y="3567113"/>
            <a:ext cx="6567488" cy="2711450"/>
            <a:chOff x="878" y="2247"/>
            <a:chExt cx="4137" cy="1708"/>
          </a:xfrm>
        </p:grpSpPr>
        <p:grpSp>
          <p:nvGrpSpPr>
            <p:cNvPr id="5" name="Group 21"/>
            <p:cNvGrpSpPr>
              <a:grpSpLocks/>
            </p:cNvGrpSpPr>
            <p:nvPr/>
          </p:nvGrpSpPr>
          <p:grpSpPr bwMode="auto">
            <a:xfrm>
              <a:off x="878" y="2912"/>
              <a:ext cx="689" cy="695"/>
              <a:chOff x="494" y="2432"/>
              <a:chExt cx="689" cy="695"/>
            </a:xfrm>
          </p:grpSpPr>
          <p:pic>
            <p:nvPicPr>
              <p:cNvPr id="19597" name="Picture 22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508" y="2432"/>
                <a:ext cx="675" cy="470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9598" name="Text Box 23"/>
              <p:cNvSpPr txBox="1">
                <a:spLocks noChangeArrowheads="1"/>
              </p:cNvSpPr>
              <p:nvPr/>
            </p:nvSpPr>
            <p:spPr bwMode="auto">
              <a:xfrm>
                <a:off x="494" y="2935"/>
                <a:ext cx="68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400" b="1">
                    <a:latin typeface="Times New Roman" pitchFamily="18" charset="0"/>
                  </a:rPr>
                  <a:t>Server Host</a:t>
                </a:r>
              </a:p>
            </p:txBody>
          </p:sp>
        </p:grp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2032" y="2568"/>
              <a:ext cx="1754" cy="1387"/>
              <a:chOff x="1672" y="2304"/>
              <a:chExt cx="1754" cy="1387"/>
            </a:xfrm>
          </p:grpSpPr>
          <p:grpSp>
            <p:nvGrpSpPr>
              <p:cNvPr id="7" name="Group 25"/>
              <p:cNvGrpSpPr>
                <a:grpSpLocks/>
              </p:cNvGrpSpPr>
              <p:nvPr/>
            </p:nvGrpSpPr>
            <p:grpSpPr bwMode="auto">
              <a:xfrm>
                <a:off x="1672" y="2304"/>
                <a:ext cx="1754" cy="1091"/>
                <a:chOff x="1568" y="2496"/>
                <a:chExt cx="1002" cy="747"/>
              </a:xfrm>
            </p:grpSpPr>
            <p:sp>
              <p:nvSpPr>
                <p:cNvPr id="19523" name="Rectangle 26"/>
                <p:cNvSpPr>
                  <a:spLocks noChangeArrowheads="1"/>
                </p:cNvSpPr>
                <p:nvPr/>
              </p:nvSpPr>
              <p:spPr bwMode="auto">
                <a:xfrm>
                  <a:off x="1808" y="2834"/>
                  <a:ext cx="274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4" name="Rectangle 27"/>
                <p:cNvSpPr>
                  <a:spLocks noChangeArrowheads="1"/>
                </p:cNvSpPr>
                <p:nvPr/>
              </p:nvSpPr>
              <p:spPr bwMode="auto">
                <a:xfrm>
                  <a:off x="1808" y="2834"/>
                  <a:ext cx="274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5" name="Freeform 28"/>
                <p:cNvSpPr>
                  <a:spLocks/>
                </p:cNvSpPr>
                <p:nvPr/>
              </p:nvSpPr>
              <p:spPr bwMode="auto">
                <a:xfrm>
                  <a:off x="1776" y="2496"/>
                  <a:ext cx="793" cy="654"/>
                </a:xfrm>
                <a:custGeom>
                  <a:avLst/>
                  <a:gdLst>
                    <a:gd name="T0" fmla="*/ 71 w 793"/>
                    <a:gd name="T1" fmla="*/ 579 h 654"/>
                    <a:gd name="T2" fmla="*/ 236 w 793"/>
                    <a:gd name="T3" fmla="*/ 563 h 654"/>
                    <a:gd name="T4" fmla="*/ 384 w 793"/>
                    <a:gd name="T5" fmla="*/ 654 h 654"/>
                    <a:gd name="T6" fmla="*/ 553 w 793"/>
                    <a:gd name="T7" fmla="*/ 554 h 654"/>
                    <a:gd name="T8" fmla="*/ 585 w 793"/>
                    <a:gd name="T9" fmla="*/ 555 h 654"/>
                    <a:gd name="T10" fmla="*/ 677 w 793"/>
                    <a:gd name="T11" fmla="*/ 541 h 654"/>
                    <a:gd name="T12" fmla="*/ 713 w 793"/>
                    <a:gd name="T13" fmla="*/ 513 h 654"/>
                    <a:gd name="T14" fmla="*/ 791 w 793"/>
                    <a:gd name="T15" fmla="*/ 466 h 654"/>
                    <a:gd name="T16" fmla="*/ 793 w 793"/>
                    <a:gd name="T17" fmla="*/ 441 h 654"/>
                    <a:gd name="T18" fmla="*/ 778 w 793"/>
                    <a:gd name="T19" fmla="*/ 194 h 654"/>
                    <a:gd name="T20" fmla="*/ 713 w 793"/>
                    <a:gd name="T21" fmla="*/ 136 h 654"/>
                    <a:gd name="T22" fmla="*/ 454 w 793"/>
                    <a:gd name="T23" fmla="*/ 44 h 654"/>
                    <a:gd name="T24" fmla="*/ 421 w 793"/>
                    <a:gd name="T25" fmla="*/ 67 h 654"/>
                    <a:gd name="T26" fmla="*/ 239 w 793"/>
                    <a:gd name="T27" fmla="*/ 28 h 654"/>
                    <a:gd name="T28" fmla="*/ 216 w 793"/>
                    <a:gd name="T29" fmla="*/ 0 h 654"/>
                    <a:gd name="T30" fmla="*/ 0 w 793"/>
                    <a:gd name="T31" fmla="*/ 297 h 654"/>
                    <a:gd name="T32" fmla="*/ 71 w 793"/>
                    <a:gd name="T33" fmla="*/ 579 h 6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93"/>
                    <a:gd name="T52" fmla="*/ 0 h 654"/>
                    <a:gd name="T53" fmla="*/ 793 w 793"/>
                    <a:gd name="T54" fmla="*/ 654 h 6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93" h="654">
                      <a:moveTo>
                        <a:pt x="71" y="579"/>
                      </a:moveTo>
                      <a:lnTo>
                        <a:pt x="236" y="563"/>
                      </a:lnTo>
                      <a:lnTo>
                        <a:pt x="384" y="654"/>
                      </a:lnTo>
                      <a:lnTo>
                        <a:pt x="553" y="554"/>
                      </a:lnTo>
                      <a:lnTo>
                        <a:pt x="585" y="555"/>
                      </a:lnTo>
                      <a:lnTo>
                        <a:pt x="677" y="541"/>
                      </a:lnTo>
                      <a:lnTo>
                        <a:pt x="713" y="513"/>
                      </a:lnTo>
                      <a:lnTo>
                        <a:pt x="791" y="466"/>
                      </a:lnTo>
                      <a:lnTo>
                        <a:pt x="793" y="441"/>
                      </a:lnTo>
                      <a:lnTo>
                        <a:pt x="778" y="194"/>
                      </a:lnTo>
                      <a:lnTo>
                        <a:pt x="713" y="136"/>
                      </a:lnTo>
                      <a:lnTo>
                        <a:pt x="454" y="44"/>
                      </a:lnTo>
                      <a:lnTo>
                        <a:pt x="421" y="67"/>
                      </a:lnTo>
                      <a:lnTo>
                        <a:pt x="239" y="28"/>
                      </a:lnTo>
                      <a:lnTo>
                        <a:pt x="216" y="0"/>
                      </a:lnTo>
                      <a:lnTo>
                        <a:pt x="0" y="297"/>
                      </a:lnTo>
                      <a:lnTo>
                        <a:pt x="71" y="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6" name="Rectangle 29"/>
                <p:cNvSpPr>
                  <a:spLocks noChangeArrowheads="1"/>
                </p:cNvSpPr>
                <p:nvPr/>
              </p:nvSpPr>
              <p:spPr bwMode="auto">
                <a:xfrm>
                  <a:off x="1716" y="2758"/>
                  <a:ext cx="102" cy="1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7" name="Rectangle 30"/>
                <p:cNvSpPr>
                  <a:spLocks noChangeArrowheads="1"/>
                </p:cNvSpPr>
                <p:nvPr/>
              </p:nvSpPr>
              <p:spPr bwMode="auto">
                <a:xfrm>
                  <a:off x="1900" y="2501"/>
                  <a:ext cx="117" cy="13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8" name="Rectangle 31"/>
                <p:cNvSpPr>
                  <a:spLocks noChangeArrowheads="1"/>
                </p:cNvSpPr>
                <p:nvPr/>
              </p:nvSpPr>
              <p:spPr bwMode="auto">
                <a:xfrm>
                  <a:off x="1929" y="2927"/>
                  <a:ext cx="331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9" name="Rectangle 32"/>
                <p:cNvSpPr>
                  <a:spLocks noChangeArrowheads="1"/>
                </p:cNvSpPr>
                <p:nvPr/>
              </p:nvSpPr>
              <p:spPr bwMode="auto">
                <a:xfrm>
                  <a:off x="1987" y="2960"/>
                  <a:ext cx="122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 b="1" i="1">
                      <a:solidFill>
                        <a:srgbClr val="000000"/>
                      </a:solidFill>
                      <a:latin typeface="Times New Roman" pitchFamily="18" charset="0"/>
                    </a:rPr>
                    <a:t>Internet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30" name="Line 33"/>
                <p:cNvSpPr>
                  <a:spLocks noChangeShapeType="1"/>
                </p:cNvSpPr>
                <p:nvPr/>
              </p:nvSpPr>
              <p:spPr bwMode="auto">
                <a:xfrm>
                  <a:off x="2320" y="2581"/>
                  <a:ext cx="1" cy="6"/>
                </a:xfrm>
                <a:prstGeom prst="line">
                  <a:avLst/>
                </a:prstGeom>
                <a:noFill/>
                <a:ln w="9525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1" name="Rectangle 34"/>
                <p:cNvSpPr>
                  <a:spLocks noChangeArrowheads="1"/>
                </p:cNvSpPr>
                <p:nvPr/>
              </p:nvSpPr>
              <p:spPr bwMode="auto">
                <a:xfrm>
                  <a:off x="2321" y="2599"/>
                  <a:ext cx="3" cy="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2" name="Line 35"/>
                <p:cNvSpPr>
                  <a:spLocks noChangeShapeType="1"/>
                </p:cNvSpPr>
                <p:nvPr/>
              </p:nvSpPr>
              <p:spPr bwMode="auto">
                <a:xfrm flipH="1" flipV="1">
                  <a:off x="1624" y="2870"/>
                  <a:ext cx="880" cy="8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3" name="Freeform 36"/>
                <p:cNvSpPr>
                  <a:spLocks/>
                </p:cNvSpPr>
                <p:nvPr/>
              </p:nvSpPr>
              <p:spPr bwMode="auto">
                <a:xfrm>
                  <a:off x="1598" y="2851"/>
                  <a:ext cx="43" cy="41"/>
                </a:xfrm>
                <a:custGeom>
                  <a:avLst/>
                  <a:gdLst>
                    <a:gd name="T0" fmla="*/ 43 w 43"/>
                    <a:gd name="T1" fmla="*/ 0 h 41"/>
                    <a:gd name="T2" fmla="*/ 0 w 43"/>
                    <a:gd name="T3" fmla="*/ 17 h 41"/>
                    <a:gd name="T4" fmla="*/ 39 w 43"/>
                    <a:gd name="T5" fmla="*/ 41 h 41"/>
                    <a:gd name="T6" fmla="*/ 28 w 43"/>
                    <a:gd name="T7" fmla="*/ 19 h 41"/>
                    <a:gd name="T8" fmla="*/ 43 w 43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41"/>
                    <a:gd name="T17" fmla="*/ 43 w 43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41">
                      <a:moveTo>
                        <a:pt x="43" y="0"/>
                      </a:moveTo>
                      <a:lnTo>
                        <a:pt x="0" y="17"/>
                      </a:lnTo>
                      <a:lnTo>
                        <a:pt x="39" y="41"/>
                      </a:lnTo>
                      <a:lnTo>
                        <a:pt x="28" y="19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4" name="Rectangle 37"/>
                <p:cNvSpPr>
                  <a:spLocks noChangeArrowheads="1"/>
                </p:cNvSpPr>
                <p:nvPr/>
              </p:nvSpPr>
              <p:spPr bwMode="auto">
                <a:xfrm rot="-1260000">
                  <a:off x="1839" y="2646"/>
                  <a:ext cx="11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35" name="Rectangle 38"/>
                <p:cNvSpPr>
                  <a:spLocks noChangeArrowheads="1"/>
                </p:cNvSpPr>
                <p:nvPr/>
              </p:nvSpPr>
              <p:spPr bwMode="auto">
                <a:xfrm rot="-420000">
                  <a:off x="1956" y="2739"/>
                  <a:ext cx="140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36" name="Rectangle 39"/>
                <p:cNvSpPr>
                  <a:spLocks noChangeArrowheads="1"/>
                </p:cNvSpPr>
                <p:nvPr/>
              </p:nvSpPr>
              <p:spPr bwMode="auto">
                <a:xfrm>
                  <a:off x="1776" y="2867"/>
                  <a:ext cx="92" cy="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7" name="Oval 40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8" name="Oval 41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9" name="Oval 42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0" name="Oval 43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1" name="Oval 44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2" name="Oval 45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3" name="Oval 46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4" name="Oval 47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5" name="Oval 48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6" name="Oval 49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7" name="Oval 50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8" name="Freeform 51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9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1602" y="2653"/>
                  <a:ext cx="822" cy="1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0" name="Freeform 53"/>
                <p:cNvSpPr>
                  <a:spLocks/>
                </p:cNvSpPr>
                <p:nvPr/>
              </p:nvSpPr>
              <p:spPr bwMode="auto">
                <a:xfrm>
                  <a:off x="2405" y="2636"/>
                  <a:ext cx="45" cy="40"/>
                </a:xfrm>
                <a:custGeom>
                  <a:avLst/>
                  <a:gdLst>
                    <a:gd name="T0" fmla="*/ 9 w 45"/>
                    <a:gd name="T1" fmla="*/ 40 h 40"/>
                    <a:gd name="T2" fmla="*/ 45 w 45"/>
                    <a:gd name="T3" fmla="*/ 12 h 40"/>
                    <a:gd name="T4" fmla="*/ 0 w 45"/>
                    <a:gd name="T5" fmla="*/ 0 h 40"/>
                    <a:gd name="T6" fmla="*/ 17 w 45"/>
                    <a:gd name="T7" fmla="*/ 18 h 40"/>
                    <a:gd name="T8" fmla="*/ 9 w 45"/>
                    <a:gd name="T9" fmla="*/ 4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9" y="40"/>
                      </a:moveTo>
                      <a:lnTo>
                        <a:pt x="45" y="12"/>
                      </a:lnTo>
                      <a:lnTo>
                        <a:pt x="0" y="0"/>
                      </a:lnTo>
                      <a:lnTo>
                        <a:pt x="17" y="18"/>
                      </a:lnTo>
                      <a:lnTo>
                        <a:pt x="9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1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1627" y="2681"/>
                  <a:ext cx="822" cy="1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2" name="Freeform 55"/>
                <p:cNvSpPr>
                  <a:spLocks/>
                </p:cNvSpPr>
                <p:nvPr/>
              </p:nvSpPr>
              <p:spPr bwMode="auto">
                <a:xfrm>
                  <a:off x="1602" y="2848"/>
                  <a:ext cx="45" cy="40"/>
                </a:xfrm>
                <a:custGeom>
                  <a:avLst/>
                  <a:gdLst>
                    <a:gd name="T0" fmla="*/ 36 w 45"/>
                    <a:gd name="T1" fmla="*/ 0 h 40"/>
                    <a:gd name="T2" fmla="*/ 0 w 45"/>
                    <a:gd name="T3" fmla="*/ 28 h 40"/>
                    <a:gd name="T4" fmla="*/ 45 w 45"/>
                    <a:gd name="T5" fmla="*/ 40 h 40"/>
                    <a:gd name="T6" fmla="*/ 28 w 45"/>
                    <a:gd name="T7" fmla="*/ 22 h 40"/>
                    <a:gd name="T8" fmla="*/ 36 w 45"/>
                    <a:gd name="T9" fmla="*/ 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36" y="0"/>
                      </a:moveTo>
                      <a:lnTo>
                        <a:pt x="0" y="28"/>
                      </a:lnTo>
                      <a:lnTo>
                        <a:pt x="45" y="40"/>
                      </a:lnTo>
                      <a:lnTo>
                        <a:pt x="28" y="22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3" name="Line 56"/>
                <p:cNvSpPr>
                  <a:spLocks noChangeShapeType="1"/>
                </p:cNvSpPr>
                <p:nvPr/>
              </p:nvSpPr>
              <p:spPr bwMode="auto">
                <a:xfrm>
                  <a:off x="1641" y="2906"/>
                  <a:ext cx="731" cy="1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4" name="Freeform 57"/>
                <p:cNvSpPr>
                  <a:spLocks/>
                </p:cNvSpPr>
                <p:nvPr/>
              </p:nvSpPr>
              <p:spPr bwMode="auto">
                <a:xfrm>
                  <a:off x="2353" y="3025"/>
                  <a:ext cx="45" cy="40"/>
                </a:xfrm>
                <a:custGeom>
                  <a:avLst/>
                  <a:gdLst>
                    <a:gd name="T0" fmla="*/ 0 w 45"/>
                    <a:gd name="T1" fmla="*/ 40 h 40"/>
                    <a:gd name="T2" fmla="*/ 45 w 45"/>
                    <a:gd name="T3" fmla="*/ 27 h 40"/>
                    <a:gd name="T4" fmla="*/ 8 w 45"/>
                    <a:gd name="T5" fmla="*/ 0 h 40"/>
                    <a:gd name="T6" fmla="*/ 17 w 45"/>
                    <a:gd name="T7" fmla="*/ 22 h 40"/>
                    <a:gd name="T8" fmla="*/ 0 w 45"/>
                    <a:gd name="T9" fmla="*/ 4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5"/>
                    <a:gd name="T16" fmla="*/ 0 h 40"/>
                    <a:gd name="T17" fmla="*/ 45 w 45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5" h="40">
                      <a:moveTo>
                        <a:pt x="0" y="40"/>
                      </a:moveTo>
                      <a:lnTo>
                        <a:pt x="45" y="27"/>
                      </a:lnTo>
                      <a:lnTo>
                        <a:pt x="8" y="0"/>
                      </a:lnTo>
                      <a:lnTo>
                        <a:pt x="17" y="22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5" name="Rectangle 58"/>
                <p:cNvSpPr>
                  <a:spLocks noChangeArrowheads="1"/>
                </p:cNvSpPr>
                <p:nvPr/>
              </p:nvSpPr>
              <p:spPr bwMode="auto">
                <a:xfrm rot="-840000">
                  <a:off x="1904" y="2676"/>
                  <a:ext cx="169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 (1)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56" name="Rectangle 59"/>
                <p:cNvSpPr>
                  <a:spLocks noChangeArrowheads="1"/>
                </p:cNvSpPr>
                <p:nvPr/>
              </p:nvSpPr>
              <p:spPr bwMode="auto">
                <a:xfrm rot="-780000">
                  <a:off x="1928" y="2767"/>
                  <a:ext cx="32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 with tag  (2)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57" name="Line 60"/>
                <p:cNvSpPr>
                  <a:spLocks noChangeShapeType="1"/>
                </p:cNvSpPr>
                <p:nvPr/>
              </p:nvSpPr>
              <p:spPr bwMode="auto">
                <a:xfrm flipH="1" flipV="1">
                  <a:off x="1652" y="2940"/>
                  <a:ext cx="731" cy="14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8" name="Freeform 61"/>
                <p:cNvSpPr>
                  <a:spLocks/>
                </p:cNvSpPr>
                <p:nvPr/>
              </p:nvSpPr>
              <p:spPr bwMode="auto">
                <a:xfrm>
                  <a:off x="1628" y="2923"/>
                  <a:ext cx="44" cy="40"/>
                </a:xfrm>
                <a:custGeom>
                  <a:avLst/>
                  <a:gdLst>
                    <a:gd name="T0" fmla="*/ 44 w 44"/>
                    <a:gd name="T1" fmla="*/ 0 h 40"/>
                    <a:gd name="T2" fmla="*/ 0 w 44"/>
                    <a:gd name="T3" fmla="*/ 13 h 40"/>
                    <a:gd name="T4" fmla="*/ 36 w 44"/>
                    <a:gd name="T5" fmla="*/ 40 h 40"/>
                    <a:gd name="T6" fmla="*/ 27 w 44"/>
                    <a:gd name="T7" fmla="*/ 18 h 40"/>
                    <a:gd name="T8" fmla="*/ 44 w 44"/>
                    <a:gd name="T9" fmla="*/ 0 h 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4"/>
                    <a:gd name="T16" fmla="*/ 0 h 40"/>
                    <a:gd name="T17" fmla="*/ 44 w 44"/>
                    <a:gd name="T18" fmla="*/ 40 h 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4" h="40">
                      <a:moveTo>
                        <a:pt x="44" y="0"/>
                      </a:moveTo>
                      <a:lnTo>
                        <a:pt x="0" y="13"/>
                      </a:lnTo>
                      <a:lnTo>
                        <a:pt x="36" y="40"/>
                      </a:lnTo>
                      <a:lnTo>
                        <a:pt x="27" y="18"/>
                      </a:lnTo>
                      <a:lnTo>
                        <a:pt x="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9" name="Rectangle 62"/>
                <p:cNvSpPr>
                  <a:spLocks noChangeArrowheads="1"/>
                </p:cNvSpPr>
                <p:nvPr/>
              </p:nvSpPr>
              <p:spPr bwMode="auto">
                <a:xfrm rot="600000">
                  <a:off x="1911" y="2899"/>
                  <a:ext cx="169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 (3)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60" name="Rectangle 63"/>
                <p:cNvSpPr>
                  <a:spLocks noChangeArrowheads="1"/>
                </p:cNvSpPr>
                <p:nvPr/>
              </p:nvSpPr>
              <p:spPr bwMode="auto">
                <a:xfrm rot="600000">
                  <a:off x="1894" y="3007"/>
                  <a:ext cx="191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 (4)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61" name="Freeform 64"/>
                <p:cNvSpPr>
                  <a:spLocks/>
                </p:cNvSpPr>
                <p:nvPr/>
              </p:nvSpPr>
              <p:spPr bwMode="auto">
                <a:xfrm>
                  <a:off x="1776" y="2496"/>
                  <a:ext cx="793" cy="654"/>
                </a:xfrm>
                <a:custGeom>
                  <a:avLst/>
                  <a:gdLst>
                    <a:gd name="T0" fmla="*/ 71 w 793"/>
                    <a:gd name="T1" fmla="*/ 579 h 654"/>
                    <a:gd name="T2" fmla="*/ 236 w 793"/>
                    <a:gd name="T3" fmla="*/ 563 h 654"/>
                    <a:gd name="T4" fmla="*/ 384 w 793"/>
                    <a:gd name="T5" fmla="*/ 654 h 654"/>
                    <a:gd name="T6" fmla="*/ 553 w 793"/>
                    <a:gd name="T7" fmla="*/ 554 h 654"/>
                    <a:gd name="T8" fmla="*/ 585 w 793"/>
                    <a:gd name="T9" fmla="*/ 555 h 654"/>
                    <a:gd name="T10" fmla="*/ 677 w 793"/>
                    <a:gd name="T11" fmla="*/ 541 h 654"/>
                    <a:gd name="T12" fmla="*/ 713 w 793"/>
                    <a:gd name="T13" fmla="*/ 513 h 654"/>
                    <a:gd name="T14" fmla="*/ 791 w 793"/>
                    <a:gd name="T15" fmla="*/ 466 h 654"/>
                    <a:gd name="T16" fmla="*/ 793 w 793"/>
                    <a:gd name="T17" fmla="*/ 441 h 654"/>
                    <a:gd name="T18" fmla="*/ 778 w 793"/>
                    <a:gd name="T19" fmla="*/ 194 h 654"/>
                    <a:gd name="T20" fmla="*/ 713 w 793"/>
                    <a:gd name="T21" fmla="*/ 136 h 654"/>
                    <a:gd name="T22" fmla="*/ 454 w 793"/>
                    <a:gd name="T23" fmla="*/ 44 h 654"/>
                    <a:gd name="T24" fmla="*/ 421 w 793"/>
                    <a:gd name="T25" fmla="*/ 67 h 654"/>
                    <a:gd name="T26" fmla="*/ 239 w 793"/>
                    <a:gd name="T27" fmla="*/ 28 h 654"/>
                    <a:gd name="T28" fmla="*/ 216 w 793"/>
                    <a:gd name="T29" fmla="*/ 0 h 654"/>
                    <a:gd name="T30" fmla="*/ 0 w 793"/>
                    <a:gd name="T31" fmla="*/ 297 h 654"/>
                    <a:gd name="T32" fmla="*/ 71 w 793"/>
                    <a:gd name="T33" fmla="*/ 579 h 654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793"/>
                    <a:gd name="T52" fmla="*/ 0 h 654"/>
                    <a:gd name="T53" fmla="*/ 793 w 793"/>
                    <a:gd name="T54" fmla="*/ 654 h 654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793" h="654">
                      <a:moveTo>
                        <a:pt x="71" y="579"/>
                      </a:moveTo>
                      <a:lnTo>
                        <a:pt x="236" y="563"/>
                      </a:lnTo>
                      <a:lnTo>
                        <a:pt x="384" y="654"/>
                      </a:lnTo>
                      <a:lnTo>
                        <a:pt x="553" y="554"/>
                      </a:lnTo>
                      <a:lnTo>
                        <a:pt x="585" y="555"/>
                      </a:lnTo>
                      <a:lnTo>
                        <a:pt x="677" y="541"/>
                      </a:lnTo>
                      <a:lnTo>
                        <a:pt x="713" y="513"/>
                      </a:lnTo>
                      <a:lnTo>
                        <a:pt x="791" y="466"/>
                      </a:lnTo>
                      <a:lnTo>
                        <a:pt x="793" y="441"/>
                      </a:lnTo>
                      <a:lnTo>
                        <a:pt x="778" y="194"/>
                      </a:lnTo>
                      <a:lnTo>
                        <a:pt x="713" y="136"/>
                      </a:lnTo>
                      <a:lnTo>
                        <a:pt x="454" y="44"/>
                      </a:lnTo>
                      <a:lnTo>
                        <a:pt x="421" y="67"/>
                      </a:lnTo>
                      <a:lnTo>
                        <a:pt x="239" y="28"/>
                      </a:lnTo>
                      <a:lnTo>
                        <a:pt x="216" y="0"/>
                      </a:lnTo>
                      <a:lnTo>
                        <a:pt x="0" y="297"/>
                      </a:lnTo>
                      <a:lnTo>
                        <a:pt x="71" y="57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2" name="Rectangle 65"/>
                <p:cNvSpPr>
                  <a:spLocks noChangeArrowheads="1"/>
                </p:cNvSpPr>
                <p:nvPr/>
              </p:nvSpPr>
              <p:spPr bwMode="auto">
                <a:xfrm>
                  <a:off x="1716" y="2758"/>
                  <a:ext cx="102" cy="112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3" name="Rectangle 66"/>
                <p:cNvSpPr>
                  <a:spLocks noChangeArrowheads="1"/>
                </p:cNvSpPr>
                <p:nvPr/>
              </p:nvSpPr>
              <p:spPr bwMode="auto">
                <a:xfrm>
                  <a:off x="1900" y="2501"/>
                  <a:ext cx="117" cy="13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4" name="Rectangle 67"/>
                <p:cNvSpPr>
                  <a:spLocks noChangeArrowheads="1"/>
                </p:cNvSpPr>
                <p:nvPr/>
              </p:nvSpPr>
              <p:spPr bwMode="auto">
                <a:xfrm>
                  <a:off x="1929" y="2927"/>
                  <a:ext cx="331" cy="13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5" name="Rectangle 68"/>
                <p:cNvSpPr>
                  <a:spLocks noChangeArrowheads="1"/>
                </p:cNvSpPr>
                <p:nvPr/>
              </p:nvSpPr>
              <p:spPr bwMode="auto">
                <a:xfrm>
                  <a:off x="1987" y="2960"/>
                  <a:ext cx="122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 b="1" i="1">
                      <a:solidFill>
                        <a:srgbClr val="000000"/>
                      </a:solidFill>
                      <a:latin typeface="Times New Roman" pitchFamily="18" charset="0"/>
                    </a:rPr>
                    <a:t>Internet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66" name="Line 69"/>
                <p:cNvSpPr>
                  <a:spLocks noChangeShapeType="1"/>
                </p:cNvSpPr>
                <p:nvPr/>
              </p:nvSpPr>
              <p:spPr bwMode="auto">
                <a:xfrm>
                  <a:off x="2320" y="2581"/>
                  <a:ext cx="1" cy="6"/>
                </a:xfrm>
                <a:prstGeom prst="line">
                  <a:avLst/>
                </a:prstGeom>
                <a:noFill/>
                <a:ln w="9525">
                  <a:solidFill>
                    <a:srgbClr val="FFFFFF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7" name="Rectangle 70"/>
                <p:cNvSpPr>
                  <a:spLocks noChangeArrowheads="1"/>
                </p:cNvSpPr>
                <p:nvPr/>
              </p:nvSpPr>
              <p:spPr bwMode="auto">
                <a:xfrm>
                  <a:off x="2321" y="2599"/>
                  <a:ext cx="3" cy="5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8" name="Line 71"/>
                <p:cNvSpPr>
                  <a:spLocks noChangeShapeType="1"/>
                </p:cNvSpPr>
                <p:nvPr/>
              </p:nvSpPr>
              <p:spPr bwMode="auto">
                <a:xfrm flipH="1" flipV="1">
                  <a:off x="1624" y="2870"/>
                  <a:ext cx="880" cy="8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9" name="Freeform 72"/>
                <p:cNvSpPr>
                  <a:spLocks/>
                </p:cNvSpPr>
                <p:nvPr/>
              </p:nvSpPr>
              <p:spPr bwMode="auto">
                <a:xfrm>
                  <a:off x="1598" y="2851"/>
                  <a:ext cx="43" cy="41"/>
                </a:xfrm>
                <a:custGeom>
                  <a:avLst/>
                  <a:gdLst>
                    <a:gd name="T0" fmla="*/ 43 w 43"/>
                    <a:gd name="T1" fmla="*/ 0 h 41"/>
                    <a:gd name="T2" fmla="*/ 0 w 43"/>
                    <a:gd name="T3" fmla="*/ 17 h 41"/>
                    <a:gd name="T4" fmla="*/ 39 w 43"/>
                    <a:gd name="T5" fmla="*/ 41 h 41"/>
                    <a:gd name="T6" fmla="*/ 28 w 43"/>
                    <a:gd name="T7" fmla="*/ 19 h 41"/>
                    <a:gd name="T8" fmla="*/ 43 w 43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3"/>
                    <a:gd name="T16" fmla="*/ 0 h 41"/>
                    <a:gd name="T17" fmla="*/ 43 w 43"/>
                    <a:gd name="T18" fmla="*/ 41 h 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3" h="41">
                      <a:moveTo>
                        <a:pt x="43" y="0"/>
                      </a:moveTo>
                      <a:lnTo>
                        <a:pt x="0" y="17"/>
                      </a:lnTo>
                      <a:lnTo>
                        <a:pt x="39" y="41"/>
                      </a:lnTo>
                      <a:lnTo>
                        <a:pt x="28" y="19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0" name="Rectangle 73"/>
                <p:cNvSpPr>
                  <a:spLocks noChangeArrowheads="1"/>
                </p:cNvSpPr>
                <p:nvPr/>
              </p:nvSpPr>
              <p:spPr bwMode="auto">
                <a:xfrm rot="-1260000">
                  <a:off x="1839" y="2646"/>
                  <a:ext cx="118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Request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71" name="Rectangle 74"/>
                <p:cNvSpPr>
                  <a:spLocks noChangeArrowheads="1"/>
                </p:cNvSpPr>
                <p:nvPr/>
              </p:nvSpPr>
              <p:spPr bwMode="auto">
                <a:xfrm rot="-420000">
                  <a:off x="1956" y="2739"/>
                  <a:ext cx="140" cy="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kumimoji="1" lang="en-US" altLang="ja-JP" sz="800">
                      <a:solidFill>
                        <a:srgbClr val="000000"/>
                      </a:solidFill>
                      <a:latin typeface="Times New Roman" pitchFamily="18" charset="0"/>
                    </a:rPr>
                    <a:t>Response</a:t>
                  </a:r>
                  <a:endParaRPr kumimoji="1" lang="en-US" altLang="ja-JP" sz="2400">
                    <a:latin typeface="Times New Roman" pitchFamily="18" charset="0"/>
                  </a:endParaRPr>
                </a:p>
              </p:txBody>
            </p:sp>
            <p:sp>
              <p:nvSpPr>
                <p:cNvPr id="19572" name="Rectangle 75"/>
                <p:cNvSpPr>
                  <a:spLocks noChangeArrowheads="1"/>
                </p:cNvSpPr>
                <p:nvPr/>
              </p:nvSpPr>
              <p:spPr bwMode="auto">
                <a:xfrm>
                  <a:off x="1776" y="2867"/>
                  <a:ext cx="92" cy="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3" name="Oval 76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4" name="Oval 77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5" name="Oval 78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6" name="Oval 79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7" name="Oval 80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8" name="Oval 81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9" name="Oval 82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0" name="Oval 83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1" name="Oval 84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2" name="Oval 85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3" name="Oval 86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4" name="Freeform 87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5" name="Oval 88"/>
                <p:cNvSpPr>
                  <a:spLocks noChangeArrowheads="1"/>
                </p:cNvSpPr>
                <p:nvPr/>
              </p:nvSpPr>
              <p:spPr bwMode="auto">
                <a:xfrm>
                  <a:off x="1879" y="2561"/>
                  <a:ext cx="246" cy="23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6" name="Oval 89"/>
                <p:cNvSpPr>
                  <a:spLocks noChangeArrowheads="1"/>
                </p:cNvSpPr>
                <p:nvPr/>
              </p:nvSpPr>
              <p:spPr bwMode="auto">
                <a:xfrm>
                  <a:off x="2080" y="2540"/>
                  <a:ext cx="201" cy="193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7" name="Oval 90"/>
                <p:cNvSpPr>
                  <a:spLocks noChangeArrowheads="1"/>
                </p:cNvSpPr>
                <p:nvPr/>
              </p:nvSpPr>
              <p:spPr bwMode="auto">
                <a:xfrm>
                  <a:off x="2258" y="2731"/>
                  <a:ext cx="312" cy="300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8" name="Oval 91"/>
                <p:cNvSpPr>
                  <a:spLocks noChangeArrowheads="1"/>
                </p:cNvSpPr>
                <p:nvPr/>
              </p:nvSpPr>
              <p:spPr bwMode="auto">
                <a:xfrm>
                  <a:off x="1679" y="2858"/>
                  <a:ext cx="357" cy="34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9" name="Oval 92"/>
                <p:cNvSpPr>
                  <a:spLocks noChangeArrowheads="1"/>
                </p:cNvSpPr>
                <p:nvPr/>
              </p:nvSpPr>
              <p:spPr bwMode="auto">
                <a:xfrm>
                  <a:off x="2168" y="2901"/>
                  <a:ext cx="268" cy="256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0" name="Oval 93"/>
                <p:cNvSpPr>
                  <a:spLocks noChangeArrowheads="1"/>
                </p:cNvSpPr>
                <p:nvPr/>
              </p:nvSpPr>
              <p:spPr bwMode="auto">
                <a:xfrm>
                  <a:off x="1591" y="2923"/>
                  <a:ext cx="200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1" name="Oval 94"/>
                <p:cNvSpPr>
                  <a:spLocks noChangeArrowheads="1"/>
                </p:cNvSpPr>
                <p:nvPr/>
              </p:nvSpPr>
              <p:spPr bwMode="auto">
                <a:xfrm>
                  <a:off x="1568" y="2774"/>
                  <a:ext cx="201" cy="192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2" name="Oval 95"/>
                <p:cNvSpPr>
                  <a:spLocks noChangeArrowheads="1"/>
                </p:cNvSpPr>
                <p:nvPr/>
              </p:nvSpPr>
              <p:spPr bwMode="auto">
                <a:xfrm>
                  <a:off x="1657" y="2604"/>
                  <a:ext cx="313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3" name="Oval 96"/>
                <p:cNvSpPr>
                  <a:spLocks noChangeArrowheads="1"/>
                </p:cNvSpPr>
                <p:nvPr/>
              </p:nvSpPr>
              <p:spPr bwMode="auto">
                <a:xfrm>
                  <a:off x="1925" y="2944"/>
                  <a:ext cx="311" cy="299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4" name="Oval 97"/>
                <p:cNvSpPr>
                  <a:spLocks noChangeArrowheads="1"/>
                </p:cNvSpPr>
                <p:nvPr/>
              </p:nvSpPr>
              <p:spPr bwMode="auto">
                <a:xfrm>
                  <a:off x="2302" y="2625"/>
                  <a:ext cx="245" cy="235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5" name="Oval 98"/>
                <p:cNvSpPr>
                  <a:spLocks noChangeArrowheads="1"/>
                </p:cNvSpPr>
                <p:nvPr/>
              </p:nvSpPr>
              <p:spPr bwMode="auto">
                <a:xfrm>
                  <a:off x="2235" y="2540"/>
                  <a:ext cx="224" cy="214"/>
                </a:xfrm>
                <a:prstGeom prst="ellipse">
                  <a:avLst/>
                </a:prstGeom>
                <a:solidFill>
                  <a:srgbClr val="FFFFF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96" name="Freeform 99"/>
                <p:cNvSpPr>
                  <a:spLocks/>
                </p:cNvSpPr>
                <p:nvPr/>
              </p:nvSpPr>
              <p:spPr bwMode="auto">
                <a:xfrm>
                  <a:off x="1650" y="2596"/>
                  <a:ext cx="862" cy="554"/>
                </a:xfrm>
                <a:custGeom>
                  <a:avLst/>
                  <a:gdLst>
                    <a:gd name="T0" fmla="*/ 266 w 862"/>
                    <a:gd name="T1" fmla="*/ 56 h 554"/>
                    <a:gd name="T2" fmla="*/ 302 w 862"/>
                    <a:gd name="T3" fmla="*/ 16 h 554"/>
                    <a:gd name="T4" fmla="*/ 463 w 862"/>
                    <a:gd name="T5" fmla="*/ 19 h 554"/>
                    <a:gd name="T6" fmla="*/ 577 w 862"/>
                    <a:gd name="T7" fmla="*/ 0 h 554"/>
                    <a:gd name="T8" fmla="*/ 721 w 862"/>
                    <a:gd name="T9" fmla="*/ 67 h 554"/>
                    <a:gd name="T10" fmla="*/ 793 w 862"/>
                    <a:gd name="T11" fmla="*/ 48 h 554"/>
                    <a:gd name="T12" fmla="*/ 832 w 862"/>
                    <a:gd name="T13" fmla="*/ 56 h 554"/>
                    <a:gd name="T14" fmla="*/ 840 w 862"/>
                    <a:gd name="T15" fmla="*/ 220 h 554"/>
                    <a:gd name="T16" fmla="*/ 862 w 862"/>
                    <a:gd name="T17" fmla="*/ 247 h 554"/>
                    <a:gd name="T18" fmla="*/ 796 w 862"/>
                    <a:gd name="T19" fmla="*/ 374 h 554"/>
                    <a:gd name="T20" fmla="*/ 724 w 862"/>
                    <a:gd name="T21" fmla="*/ 287 h 554"/>
                    <a:gd name="T22" fmla="*/ 704 w 862"/>
                    <a:gd name="T23" fmla="*/ 332 h 554"/>
                    <a:gd name="T24" fmla="*/ 602 w 862"/>
                    <a:gd name="T25" fmla="*/ 506 h 554"/>
                    <a:gd name="T26" fmla="*/ 260 w 862"/>
                    <a:gd name="T27" fmla="*/ 554 h 554"/>
                    <a:gd name="T28" fmla="*/ 83 w 862"/>
                    <a:gd name="T29" fmla="*/ 520 h 554"/>
                    <a:gd name="T30" fmla="*/ 27 w 862"/>
                    <a:gd name="T31" fmla="*/ 412 h 554"/>
                    <a:gd name="T32" fmla="*/ 27 w 862"/>
                    <a:gd name="T33" fmla="*/ 300 h 554"/>
                    <a:gd name="T34" fmla="*/ 0 w 862"/>
                    <a:gd name="T35" fmla="*/ 207 h 554"/>
                    <a:gd name="T36" fmla="*/ 266 w 862"/>
                    <a:gd name="T37" fmla="*/ 56 h 554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862"/>
                    <a:gd name="T58" fmla="*/ 0 h 554"/>
                    <a:gd name="T59" fmla="*/ 862 w 862"/>
                    <a:gd name="T60" fmla="*/ 554 h 554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862" h="554">
                      <a:moveTo>
                        <a:pt x="266" y="56"/>
                      </a:moveTo>
                      <a:lnTo>
                        <a:pt x="302" y="16"/>
                      </a:lnTo>
                      <a:lnTo>
                        <a:pt x="463" y="19"/>
                      </a:lnTo>
                      <a:lnTo>
                        <a:pt x="577" y="0"/>
                      </a:lnTo>
                      <a:lnTo>
                        <a:pt x="721" y="67"/>
                      </a:lnTo>
                      <a:lnTo>
                        <a:pt x="793" y="48"/>
                      </a:lnTo>
                      <a:lnTo>
                        <a:pt x="832" y="56"/>
                      </a:lnTo>
                      <a:lnTo>
                        <a:pt x="840" y="220"/>
                      </a:lnTo>
                      <a:lnTo>
                        <a:pt x="862" y="247"/>
                      </a:lnTo>
                      <a:lnTo>
                        <a:pt x="796" y="374"/>
                      </a:lnTo>
                      <a:lnTo>
                        <a:pt x="724" y="287"/>
                      </a:lnTo>
                      <a:lnTo>
                        <a:pt x="704" y="332"/>
                      </a:lnTo>
                      <a:lnTo>
                        <a:pt x="602" y="506"/>
                      </a:lnTo>
                      <a:lnTo>
                        <a:pt x="260" y="554"/>
                      </a:lnTo>
                      <a:lnTo>
                        <a:pt x="83" y="520"/>
                      </a:lnTo>
                      <a:lnTo>
                        <a:pt x="27" y="412"/>
                      </a:lnTo>
                      <a:lnTo>
                        <a:pt x="27" y="300"/>
                      </a:lnTo>
                      <a:lnTo>
                        <a:pt x="0" y="207"/>
                      </a:lnTo>
                      <a:lnTo>
                        <a:pt x="266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522" name="Text Box 100"/>
              <p:cNvSpPr txBox="1">
                <a:spLocks noChangeArrowheads="1"/>
              </p:cNvSpPr>
              <p:nvPr/>
            </p:nvSpPr>
            <p:spPr bwMode="auto">
              <a:xfrm>
                <a:off x="2246" y="3441"/>
                <a:ext cx="61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FF0000"/>
                    </a:solidFill>
                    <a:latin typeface="Times New Roman" pitchFamily="18" charset="0"/>
                  </a:rPr>
                  <a:t>Internet</a:t>
                </a:r>
              </a:p>
            </p:txBody>
          </p:sp>
        </p:grpSp>
        <p:grpSp>
          <p:nvGrpSpPr>
            <p:cNvPr id="8" name="Group 101"/>
            <p:cNvGrpSpPr>
              <a:grpSpLocks/>
            </p:cNvGrpSpPr>
            <p:nvPr/>
          </p:nvGrpSpPr>
          <p:grpSpPr bwMode="auto">
            <a:xfrm>
              <a:off x="4246" y="2247"/>
              <a:ext cx="769" cy="570"/>
              <a:chOff x="4246" y="2247"/>
              <a:chExt cx="769" cy="570"/>
            </a:xfrm>
          </p:grpSpPr>
          <p:pic>
            <p:nvPicPr>
              <p:cNvPr id="19519" name="Picture 10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400" y="2426"/>
                <a:ext cx="546" cy="391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</p:pic>
          <p:sp>
            <p:nvSpPr>
              <p:cNvPr id="19520" name="Text Box 103"/>
              <p:cNvSpPr txBox="1">
                <a:spLocks noChangeArrowheads="1"/>
              </p:cNvSpPr>
              <p:nvPr/>
            </p:nvSpPr>
            <p:spPr bwMode="auto">
              <a:xfrm>
                <a:off x="4246" y="2247"/>
                <a:ext cx="769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1400" b="1">
                    <a:latin typeface="Times New Roman" pitchFamily="18" charset="0"/>
                  </a:rPr>
                  <a:t>Client Host X</a:t>
                </a:r>
              </a:p>
            </p:txBody>
          </p:sp>
        </p:grpSp>
      </p:grpSp>
      <p:grpSp>
        <p:nvGrpSpPr>
          <p:cNvPr id="9" name="Group 104"/>
          <p:cNvGrpSpPr>
            <a:grpSpLocks/>
          </p:cNvGrpSpPr>
          <p:nvPr/>
        </p:nvGrpSpPr>
        <p:grpSpPr bwMode="auto">
          <a:xfrm>
            <a:off x="2222500" y="4152900"/>
            <a:ext cx="4673600" cy="762000"/>
            <a:chOff x="1080" y="2408"/>
            <a:chExt cx="2944" cy="480"/>
          </a:xfrm>
        </p:grpSpPr>
        <p:sp>
          <p:nvSpPr>
            <p:cNvPr id="19512" name="Line 105"/>
            <p:cNvSpPr>
              <a:spLocks noChangeShapeType="1"/>
            </p:cNvSpPr>
            <p:nvPr/>
          </p:nvSpPr>
          <p:spPr bwMode="auto">
            <a:xfrm flipH="1">
              <a:off x="3088" y="2408"/>
              <a:ext cx="936" cy="48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3" name="Line 106"/>
            <p:cNvSpPr>
              <a:spLocks noChangeShapeType="1"/>
            </p:cNvSpPr>
            <p:nvPr/>
          </p:nvSpPr>
          <p:spPr bwMode="auto">
            <a:xfrm flipH="1">
              <a:off x="2752" y="2888"/>
              <a:ext cx="35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4" name="Line 107"/>
            <p:cNvSpPr>
              <a:spLocks noChangeShapeType="1"/>
            </p:cNvSpPr>
            <p:nvPr/>
          </p:nvSpPr>
          <p:spPr bwMode="auto">
            <a:xfrm flipH="1">
              <a:off x="1080" y="2888"/>
              <a:ext cx="1336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15" name="Line 108"/>
            <p:cNvSpPr>
              <a:spLocks noChangeShapeType="1"/>
            </p:cNvSpPr>
            <p:nvPr/>
          </p:nvSpPr>
          <p:spPr bwMode="auto">
            <a:xfrm flipH="1">
              <a:off x="2408" y="2888"/>
              <a:ext cx="352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9"/>
          <p:cNvGrpSpPr>
            <a:grpSpLocks/>
          </p:cNvGrpSpPr>
          <p:nvPr/>
        </p:nvGrpSpPr>
        <p:grpSpPr bwMode="auto">
          <a:xfrm>
            <a:off x="2270125" y="3490913"/>
            <a:ext cx="823913" cy="674687"/>
            <a:chOff x="1110" y="2135"/>
            <a:chExt cx="519" cy="425"/>
          </a:xfrm>
        </p:grpSpPr>
        <p:grpSp>
          <p:nvGrpSpPr>
            <p:cNvPr id="11" name="Group 110"/>
            <p:cNvGrpSpPr>
              <a:grpSpLocks/>
            </p:cNvGrpSpPr>
            <p:nvPr/>
          </p:nvGrpSpPr>
          <p:grpSpPr bwMode="auto">
            <a:xfrm>
              <a:off x="1232" y="2296"/>
              <a:ext cx="232" cy="264"/>
              <a:chOff x="1176" y="2240"/>
              <a:chExt cx="232" cy="264"/>
            </a:xfrm>
          </p:grpSpPr>
          <p:sp>
            <p:nvSpPr>
              <p:cNvPr id="36975" name="Rectangle 111"/>
              <p:cNvSpPr>
                <a:spLocks noChangeArrowheads="1"/>
              </p:cNvSpPr>
              <p:nvPr/>
            </p:nvSpPr>
            <p:spPr bwMode="auto">
              <a:xfrm>
                <a:off x="1176" y="2240"/>
                <a:ext cx="232" cy="2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9507" name="Line 112"/>
              <p:cNvSpPr>
                <a:spLocks noChangeShapeType="1"/>
              </p:cNvSpPr>
              <p:nvPr/>
            </p:nvSpPr>
            <p:spPr bwMode="auto">
              <a:xfrm>
                <a:off x="1208" y="229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8" name="Line 113"/>
              <p:cNvSpPr>
                <a:spLocks noChangeShapeType="1"/>
              </p:cNvSpPr>
              <p:nvPr/>
            </p:nvSpPr>
            <p:spPr bwMode="auto">
              <a:xfrm>
                <a:off x="1208" y="233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9" name="Line 114"/>
              <p:cNvSpPr>
                <a:spLocks noChangeShapeType="1"/>
              </p:cNvSpPr>
              <p:nvPr/>
            </p:nvSpPr>
            <p:spPr bwMode="auto">
              <a:xfrm>
                <a:off x="1208" y="237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0" name="Line 115"/>
              <p:cNvSpPr>
                <a:spLocks noChangeShapeType="1"/>
              </p:cNvSpPr>
              <p:nvPr/>
            </p:nvSpPr>
            <p:spPr bwMode="auto">
              <a:xfrm>
                <a:off x="1208" y="241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1" name="Line 116"/>
              <p:cNvSpPr>
                <a:spLocks noChangeShapeType="1"/>
              </p:cNvSpPr>
              <p:nvPr/>
            </p:nvSpPr>
            <p:spPr bwMode="auto">
              <a:xfrm>
                <a:off x="1208" y="245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505" name="Text Box 117"/>
            <p:cNvSpPr txBox="1">
              <a:spLocks noChangeArrowheads="1"/>
            </p:cNvSpPr>
            <p:nvPr/>
          </p:nvSpPr>
          <p:spPr bwMode="auto">
            <a:xfrm>
              <a:off x="1110" y="2135"/>
              <a:ext cx="519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FF0000"/>
                  </a:solidFill>
                  <a:latin typeface="Times New Roman" pitchFamily="18" charset="0"/>
                </a:rPr>
                <a:t>Process A</a:t>
              </a:r>
            </a:p>
          </p:txBody>
        </p:sp>
      </p:grpSp>
      <p:grpSp>
        <p:nvGrpSpPr>
          <p:cNvPr id="12" name="Group 118"/>
          <p:cNvGrpSpPr>
            <a:grpSpLocks/>
          </p:cNvGrpSpPr>
          <p:nvPr/>
        </p:nvGrpSpPr>
        <p:grpSpPr bwMode="auto">
          <a:xfrm>
            <a:off x="733425" y="3452813"/>
            <a:ext cx="815975" cy="674687"/>
            <a:chOff x="422" y="2183"/>
            <a:chExt cx="514" cy="425"/>
          </a:xfrm>
        </p:grpSpPr>
        <p:grpSp>
          <p:nvGrpSpPr>
            <p:cNvPr id="13" name="Group 119"/>
            <p:cNvGrpSpPr>
              <a:grpSpLocks/>
            </p:cNvGrpSpPr>
            <p:nvPr/>
          </p:nvGrpSpPr>
          <p:grpSpPr bwMode="auto">
            <a:xfrm>
              <a:off x="544" y="2344"/>
              <a:ext cx="232" cy="264"/>
              <a:chOff x="1176" y="2240"/>
              <a:chExt cx="232" cy="264"/>
            </a:xfrm>
          </p:grpSpPr>
          <p:sp>
            <p:nvSpPr>
              <p:cNvPr id="36984" name="Rectangle 120"/>
              <p:cNvSpPr>
                <a:spLocks noChangeArrowheads="1"/>
              </p:cNvSpPr>
              <p:nvPr/>
            </p:nvSpPr>
            <p:spPr bwMode="auto">
              <a:xfrm>
                <a:off x="1176" y="2240"/>
                <a:ext cx="232" cy="2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9499" name="Line 121"/>
              <p:cNvSpPr>
                <a:spLocks noChangeShapeType="1"/>
              </p:cNvSpPr>
              <p:nvPr/>
            </p:nvSpPr>
            <p:spPr bwMode="auto">
              <a:xfrm>
                <a:off x="1208" y="229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0" name="Line 122"/>
              <p:cNvSpPr>
                <a:spLocks noChangeShapeType="1"/>
              </p:cNvSpPr>
              <p:nvPr/>
            </p:nvSpPr>
            <p:spPr bwMode="auto">
              <a:xfrm>
                <a:off x="1208" y="233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1" name="Line 123"/>
              <p:cNvSpPr>
                <a:spLocks noChangeShapeType="1"/>
              </p:cNvSpPr>
              <p:nvPr/>
            </p:nvSpPr>
            <p:spPr bwMode="auto">
              <a:xfrm>
                <a:off x="1208" y="237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2" name="Line 124"/>
              <p:cNvSpPr>
                <a:spLocks noChangeShapeType="1"/>
              </p:cNvSpPr>
              <p:nvPr/>
            </p:nvSpPr>
            <p:spPr bwMode="auto">
              <a:xfrm>
                <a:off x="1208" y="241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3" name="Line 125"/>
              <p:cNvSpPr>
                <a:spLocks noChangeShapeType="1"/>
              </p:cNvSpPr>
              <p:nvPr/>
            </p:nvSpPr>
            <p:spPr bwMode="auto">
              <a:xfrm>
                <a:off x="1208" y="2456"/>
                <a:ext cx="1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9497" name="Text Box 126"/>
            <p:cNvSpPr txBox="1">
              <a:spLocks noChangeArrowheads="1"/>
            </p:cNvSpPr>
            <p:nvPr/>
          </p:nvSpPr>
          <p:spPr bwMode="auto">
            <a:xfrm>
              <a:off x="422" y="2183"/>
              <a:ext cx="51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chemeClr val="accent2"/>
                  </a:solidFill>
                  <a:latin typeface="Times New Roman" pitchFamily="18" charset="0"/>
                </a:rPr>
                <a:t>Process B</a:t>
              </a:r>
            </a:p>
          </p:txBody>
        </p:sp>
      </p:grpSp>
      <p:sp>
        <p:nvSpPr>
          <p:cNvPr id="19469" name="Line 127"/>
          <p:cNvSpPr>
            <a:spLocks noChangeShapeType="1"/>
          </p:cNvSpPr>
          <p:nvPr/>
        </p:nvSpPr>
        <p:spPr bwMode="auto">
          <a:xfrm flipV="1">
            <a:off x="2070100" y="4229100"/>
            <a:ext cx="393700" cy="5461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Text Box 128"/>
          <p:cNvSpPr txBox="1">
            <a:spLocks noChangeArrowheads="1"/>
          </p:cNvSpPr>
          <p:nvPr/>
        </p:nvSpPr>
        <p:spPr bwMode="auto">
          <a:xfrm>
            <a:off x="4060825" y="4646613"/>
            <a:ext cx="1136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1200" b="1">
                <a:solidFill>
                  <a:schemeClr val="accent2"/>
                </a:solidFill>
                <a:latin typeface="Times New Roman" pitchFamily="18" charset="0"/>
              </a:rPr>
              <a:t>146.163.147.81</a:t>
            </a:r>
          </a:p>
        </p:txBody>
      </p:sp>
      <p:grpSp>
        <p:nvGrpSpPr>
          <p:cNvPr id="14" name="Group 129"/>
          <p:cNvGrpSpPr>
            <a:grpSpLocks/>
          </p:cNvGrpSpPr>
          <p:nvPr/>
        </p:nvGrpSpPr>
        <p:grpSpPr bwMode="auto">
          <a:xfrm>
            <a:off x="6016625" y="5057775"/>
            <a:ext cx="1220788" cy="896938"/>
            <a:chOff x="3910" y="3202"/>
            <a:chExt cx="769" cy="565"/>
          </a:xfrm>
        </p:grpSpPr>
        <p:pic>
          <p:nvPicPr>
            <p:cNvPr id="19494" name="Picture 130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048" y="3202"/>
              <a:ext cx="546" cy="39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</p:pic>
        <p:sp>
          <p:nvSpPr>
            <p:cNvPr id="19495" name="Text Box 131"/>
            <p:cNvSpPr txBox="1">
              <a:spLocks noChangeArrowheads="1"/>
            </p:cNvSpPr>
            <p:nvPr/>
          </p:nvSpPr>
          <p:spPr bwMode="auto">
            <a:xfrm>
              <a:off x="3910" y="3575"/>
              <a:ext cx="769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400" b="1">
                  <a:latin typeface="Times New Roman" pitchFamily="18" charset="0"/>
                </a:rPr>
                <a:t>Client Host Y</a:t>
              </a:r>
            </a:p>
          </p:txBody>
        </p:sp>
      </p:grpSp>
      <p:grpSp>
        <p:nvGrpSpPr>
          <p:cNvPr id="15" name="Group 132"/>
          <p:cNvGrpSpPr>
            <a:grpSpLocks/>
          </p:cNvGrpSpPr>
          <p:nvPr/>
        </p:nvGrpSpPr>
        <p:grpSpPr bwMode="auto">
          <a:xfrm>
            <a:off x="6175375" y="5954713"/>
            <a:ext cx="911225" cy="458787"/>
            <a:chOff x="4410" y="1895"/>
            <a:chExt cx="574" cy="289"/>
          </a:xfrm>
        </p:grpSpPr>
        <p:sp>
          <p:nvSpPr>
            <p:cNvPr id="36997" name="AutoShape 133"/>
            <p:cNvSpPr>
              <a:spLocks noChangeArrowheads="1"/>
            </p:cNvSpPr>
            <p:nvPr/>
          </p:nvSpPr>
          <p:spPr bwMode="auto">
            <a:xfrm>
              <a:off x="4416" y="1904"/>
              <a:ext cx="568" cy="28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93" name="Text Box 134"/>
            <p:cNvSpPr txBox="1">
              <a:spLocks noChangeArrowheads="1"/>
            </p:cNvSpPr>
            <p:nvPr/>
          </p:nvSpPr>
          <p:spPr bwMode="auto">
            <a:xfrm>
              <a:off x="4410" y="1895"/>
              <a:ext cx="5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Connect to</a:t>
              </a:r>
            </a:p>
            <a:p>
              <a:pPr algn="ctr"/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process B</a:t>
              </a:r>
            </a:p>
          </p:txBody>
        </p:sp>
      </p:grpSp>
      <p:grpSp>
        <p:nvGrpSpPr>
          <p:cNvPr id="16" name="Group 135"/>
          <p:cNvGrpSpPr>
            <a:grpSpLocks/>
          </p:cNvGrpSpPr>
          <p:nvPr/>
        </p:nvGrpSpPr>
        <p:grpSpPr bwMode="auto">
          <a:xfrm>
            <a:off x="2222500" y="5041900"/>
            <a:ext cx="3949700" cy="393700"/>
            <a:chOff x="1400" y="3176"/>
            <a:chExt cx="2488" cy="248"/>
          </a:xfrm>
        </p:grpSpPr>
        <p:grpSp>
          <p:nvGrpSpPr>
            <p:cNvPr id="17" name="Group 136"/>
            <p:cNvGrpSpPr>
              <a:grpSpLocks/>
            </p:cNvGrpSpPr>
            <p:nvPr/>
          </p:nvGrpSpPr>
          <p:grpSpPr bwMode="auto">
            <a:xfrm>
              <a:off x="1400" y="3176"/>
              <a:ext cx="2488" cy="248"/>
              <a:chOff x="2768" y="1016"/>
              <a:chExt cx="2488" cy="248"/>
            </a:xfrm>
          </p:grpSpPr>
          <p:sp>
            <p:nvSpPr>
              <p:cNvPr id="19487" name="Line 137"/>
              <p:cNvSpPr>
                <a:spLocks noChangeShapeType="1"/>
              </p:cNvSpPr>
              <p:nvPr/>
            </p:nvSpPr>
            <p:spPr bwMode="auto">
              <a:xfrm flipH="1" flipV="1">
                <a:off x="4792" y="1016"/>
                <a:ext cx="464" cy="248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" name="Group 138"/>
              <p:cNvGrpSpPr>
                <a:grpSpLocks/>
              </p:cNvGrpSpPr>
              <p:nvPr/>
            </p:nvGrpSpPr>
            <p:grpSpPr bwMode="auto">
              <a:xfrm>
                <a:off x="2768" y="1016"/>
                <a:ext cx="2024" cy="0"/>
                <a:chOff x="2032" y="1176"/>
                <a:chExt cx="2024" cy="0"/>
              </a:xfrm>
            </p:grpSpPr>
            <p:sp>
              <p:nvSpPr>
                <p:cNvPr id="19489" name="Line 139"/>
                <p:cNvSpPr>
                  <a:spLocks noChangeShapeType="1"/>
                </p:cNvSpPr>
                <p:nvPr/>
              </p:nvSpPr>
              <p:spPr bwMode="auto">
                <a:xfrm flipH="1">
                  <a:off x="3704" y="1176"/>
                  <a:ext cx="352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0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2032" y="1176"/>
                  <a:ext cx="1336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91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3360" y="1176"/>
                  <a:ext cx="352" cy="0"/>
                </a:xfrm>
                <a:prstGeom prst="line">
                  <a:avLst/>
                </a:prstGeom>
                <a:noFill/>
                <a:ln w="28575">
                  <a:solidFill>
                    <a:srgbClr val="006600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486" name="Text Box 142"/>
            <p:cNvSpPr txBox="1">
              <a:spLocks noChangeArrowheads="1"/>
            </p:cNvSpPr>
            <p:nvPr/>
          </p:nvSpPr>
          <p:spPr bwMode="auto">
            <a:xfrm>
              <a:off x="2446" y="3191"/>
              <a:ext cx="71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chemeClr val="accent2"/>
                  </a:solidFill>
                  <a:latin typeface="Times New Roman" pitchFamily="18" charset="0"/>
                </a:rPr>
                <a:t>146.163.147.81</a:t>
              </a:r>
            </a:p>
          </p:txBody>
        </p:sp>
      </p:grpSp>
      <p:grpSp>
        <p:nvGrpSpPr>
          <p:cNvPr id="19" name="Group 151"/>
          <p:cNvGrpSpPr>
            <a:grpSpLocks/>
          </p:cNvGrpSpPr>
          <p:nvPr/>
        </p:nvGrpSpPr>
        <p:grpSpPr bwMode="auto">
          <a:xfrm>
            <a:off x="520700" y="1843088"/>
            <a:ext cx="8191500" cy="3935412"/>
            <a:chOff x="328" y="1161"/>
            <a:chExt cx="5160" cy="2479"/>
          </a:xfrm>
        </p:grpSpPr>
        <p:grpSp>
          <p:nvGrpSpPr>
            <p:cNvPr id="20" name="Group 147"/>
            <p:cNvGrpSpPr>
              <a:grpSpLocks/>
            </p:cNvGrpSpPr>
            <p:nvPr/>
          </p:nvGrpSpPr>
          <p:grpSpPr bwMode="auto">
            <a:xfrm>
              <a:off x="1784" y="1161"/>
              <a:ext cx="3704" cy="471"/>
              <a:chOff x="1464" y="1161"/>
              <a:chExt cx="3704" cy="471"/>
            </a:xfrm>
          </p:grpSpPr>
          <p:sp>
            <p:nvSpPr>
              <p:cNvPr id="37010" name="AutoShape 146"/>
              <p:cNvSpPr>
                <a:spLocks noChangeArrowheads="1"/>
              </p:cNvSpPr>
              <p:nvPr/>
            </p:nvSpPr>
            <p:spPr bwMode="auto">
              <a:xfrm>
                <a:off x="1464" y="1176"/>
                <a:ext cx="3704" cy="456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9484" name="Text Box 144"/>
              <p:cNvSpPr txBox="1">
                <a:spLocks noChangeArrowheads="1"/>
              </p:cNvSpPr>
              <p:nvPr/>
            </p:nvSpPr>
            <p:spPr bwMode="auto">
              <a:xfrm>
                <a:off x="1518" y="1161"/>
                <a:ext cx="3607" cy="4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latin typeface="Times New Roman" pitchFamily="18" charset="0"/>
                  </a:rPr>
                  <a:t>If we use only IP address, </a:t>
                </a:r>
                <a:r>
                  <a:rPr kumimoji="1" lang="en-US" sz="2000">
                    <a:solidFill>
                      <a:srgbClr val="FF0000"/>
                    </a:solidFill>
                    <a:latin typeface="Times New Roman" pitchFamily="18" charset="0"/>
                  </a:rPr>
                  <a:t>we can’t select a destination</a:t>
                </a:r>
              </a:p>
              <a:p>
                <a:r>
                  <a:rPr kumimoji="1" lang="en-US" sz="2000">
                    <a:solidFill>
                      <a:srgbClr val="FF0000"/>
                    </a:solidFill>
                    <a:latin typeface="Times New Roman" pitchFamily="18" charset="0"/>
                  </a:rPr>
                  <a:t>process at the destination host</a:t>
                </a:r>
              </a:p>
            </p:txBody>
          </p:sp>
        </p:grpSp>
        <p:grpSp>
          <p:nvGrpSpPr>
            <p:cNvPr id="21" name="Group 150"/>
            <p:cNvGrpSpPr>
              <a:grpSpLocks/>
            </p:cNvGrpSpPr>
            <p:nvPr/>
          </p:nvGrpSpPr>
          <p:grpSpPr bwMode="auto">
            <a:xfrm>
              <a:off x="328" y="1648"/>
              <a:ext cx="1872" cy="1992"/>
              <a:chOff x="328" y="1648"/>
              <a:chExt cx="1872" cy="1992"/>
            </a:xfrm>
          </p:grpSpPr>
          <p:sp>
            <p:nvSpPr>
              <p:cNvPr id="19480" name="Oval 145"/>
              <p:cNvSpPr>
                <a:spLocks noChangeArrowheads="1"/>
              </p:cNvSpPr>
              <p:nvPr/>
            </p:nvSpPr>
            <p:spPr bwMode="auto">
              <a:xfrm>
                <a:off x="328" y="1872"/>
                <a:ext cx="1768" cy="1768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81" name="Line 148"/>
              <p:cNvSpPr>
                <a:spLocks noChangeShapeType="1"/>
              </p:cNvSpPr>
              <p:nvPr/>
            </p:nvSpPr>
            <p:spPr bwMode="auto">
              <a:xfrm flipV="1">
                <a:off x="1832" y="1648"/>
                <a:ext cx="368" cy="46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82" name="Oval 149"/>
              <p:cNvSpPr>
                <a:spLocks noChangeArrowheads="1"/>
              </p:cNvSpPr>
              <p:nvPr/>
            </p:nvSpPr>
            <p:spPr bwMode="auto">
              <a:xfrm>
                <a:off x="1800" y="2096"/>
                <a:ext cx="56" cy="5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2" name="Group 154"/>
          <p:cNvGrpSpPr>
            <a:grpSpLocks/>
          </p:cNvGrpSpPr>
          <p:nvPr/>
        </p:nvGrpSpPr>
        <p:grpSpPr bwMode="auto">
          <a:xfrm>
            <a:off x="3489325" y="2743200"/>
            <a:ext cx="4129088" cy="1058863"/>
            <a:chOff x="2198" y="1752"/>
            <a:chExt cx="2601" cy="667"/>
          </a:xfrm>
        </p:grpSpPr>
        <p:sp>
          <p:nvSpPr>
            <p:cNvPr id="37016" name="AutoShape 152"/>
            <p:cNvSpPr>
              <a:spLocks noChangeArrowheads="1"/>
            </p:cNvSpPr>
            <p:nvPr/>
          </p:nvSpPr>
          <p:spPr bwMode="auto">
            <a:xfrm>
              <a:off x="3112" y="1752"/>
              <a:ext cx="848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vert="eaVert"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477" name="Text Box 153"/>
            <p:cNvSpPr txBox="1">
              <a:spLocks noChangeArrowheads="1"/>
            </p:cNvSpPr>
            <p:nvPr/>
          </p:nvSpPr>
          <p:spPr bwMode="auto">
            <a:xfrm>
              <a:off x="2198" y="1977"/>
              <a:ext cx="2601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Only one network application program</a:t>
              </a:r>
            </a:p>
            <a:p>
              <a:pPr algn="ctr"/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Can exist at a time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ECDE9C9-1F52-47CE-9FFD-5C89A59E83EA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048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63EA31-5335-4EAA-B3A2-756A8E7444F7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8129" name="Rectangle 241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grpSp>
        <p:nvGrpSpPr>
          <p:cNvPr id="2" name="Group 165"/>
          <p:cNvGrpSpPr>
            <a:grpSpLocks/>
          </p:cNvGrpSpPr>
          <p:nvPr/>
        </p:nvGrpSpPr>
        <p:grpSpPr bwMode="auto">
          <a:xfrm>
            <a:off x="622300" y="1055688"/>
            <a:ext cx="6985000" cy="5045075"/>
            <a:chOff x="392" y="665"/>
            <a:chExt cx="4400" cy="3178"/>
          </a:xfrm>
        </p:grpSpPr>
        <p:grpSp>
          <p:nvGrpSpPr>
            <p:cNvPr id="3" name="Group 164"/>
            <p:cNvGrpSpPr>
              <a:grpSpLocks/>
            </p:cNvGrpSpPr>
            <p:nvPr/>
          </p:nvGrpSpPr>
          <p:grpSpPr bwMode="auto">
            <a:xfrm>
              <a:off x="392" y="665"/>
              <a:ext cx="4400" cy="3047"/>
              <a:chOff x="392" y="665"/>
              <a:chExt cx="4400" cy="3047"/>
            </a:xfrm>
          </p:grpSpPr>
          <p:sp>
            <p:nvSpPr>
              <p:cNvPr id="38050" name="Rectangle 162"/>
              <p:cNvSpPr>
                <a:spLocks noChangeArrowheads="1"/>
              </p:cNvSpPr>
              <p:nvPr/>
            </p:nvSpPr>
            <p:spPr bwMode="auto">
              <a:xfrm>
                <a:off x="392" y="944"/>
                <a:ext cx="4400" cy="27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583" name="Text Box 161"/>
              <p:cNvSpPr txBox="1">
                <a:spLocks noChangeArrowheads="1"/>
              </p:cNvSpPr>
              <p:nvPr/>
            </p:nvSpPr>
            <p:spPr bwMode="auto">
              <a:xfrm>
                <a:off x="2127" y="665"/>
                <a:ext cx="109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chemeClr val="accent2"/>
                    </a:solidFill>
                    <a:latin typeface="Times New Roman" pitchFamily="18" charset="0"/>
                  </a:rPr>
                  <a:t>Host Computer</a:t>
                </a:r>
              </a:p>
            </p:txBody>
          </p:sp>
        </p:grpSp>
        <p:grpSp>
          <p:nvGrpSpPr>
            <p:cNvPr id="4" name="Group 159"/>
            <p:cNvGrpSpPr>
              <a:grpSpLocks/>
            </p:cNvGrpSpPr>
            <p:nvPr/>
          </p:nvGrpSpPr>
          <p:grpSpPr bwMode="auto">
            <a:xfrm>
              <a:off x="2200" y="3593"/>
              <a:ext cx="848" cy="250"/>
              <a:chOff x="2344" y="3625"/>
              <a:chExt cx="848" cy="250"/>
            </a:xfrm>
          </p:grpSpPr>
          <p:sp>
            <p:nvSpPr>
              <p:cNvPr id="38046" name="AutoShape 158"/>
              <p:cNvSpPr>
                <a:spLocks noChangeArrowheads="1"/>
              </p:cNvSpPr>
              <p:nvPr/>
            </p:nvSpPr>
            <p:spPr bwMode="auto">
              <a:xfrm>
                <a:off x="2344" y="3656"/>
                <a:ext cx="848" cy="200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581" name="Text Box 157"/>
              <p:cNvSpPr txBox="1">
                <a:spLocks noChangeArrowheads="1"/>
              </p:cNvSpPr>
              <p:nvPr/>
            </p:nvSpPr>
            <p:spPr bwMode="auto">
              <a:xfrm>
                <a:off x="2358" y="3625"/>
                <a:ext cx="82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FF0000"/>
                    </a:solidFill>
                    <a:latin typeface="Times New Roman" pitchFamily="18" charset="0"/>
                  </a:rPr>
                  <a:t>IP Address</a:t>
                </a:r>
              </a:p>
            </p:txBody>
          </p:sp>
        </p:grpSp>
      </p:grpSp>
      <p:sp>
        <p:nvSpPr>
          <p:cNvPr id="20487" name="Line 5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20"/>
          <p:cNvGrpSpPr>
            <a:grpSpLocks/>
          </p:cNvGrpSpPr>
          <p:nvPr/>
        </p:nvGrpSpPr>
        <p:grpSpPr bwMode="auto">
          <a:xfrm>
            <a:off x="1050925" y="1573213"/>
            <a:ext cx="6119813" cy="3976687"/>
            <a:chOff x="662" y="991"/>
            <a:chExt cx="3855" cy="2505"/>
          </a:xfrm>
        </p:grpSpPr>
        <p:grpSp>
          <p:nvGrpSpPr>
            <p:cNvPr id="6" name="Group 163"/>
            <p:cNvGrpSpPr>
              <a:grpSpLocks/>
            </p:cNvGrpSpPr>
            <p:nvPr/>
          </p:nvGrpSpPr>
          <p:grpSpPr bwMode="auto">
            <a:xfrm>
              <a:off x="808" y="1760"/>
              <a:ext cx="3592" cy="1736"/>
              <a:chOff x="808" y="1832"/>
              <a:chExt cx="3592" cy="1736"/>
            </a:xfrm>
          </p:grpSpPr>
          <p:sp>
            <p:nvSpPr>
              <p:cNvPr id="38037" name="Rectangle 149"/>
              <p:cNvSpPr>
                <a:spLocks noChangeArrowheads="1"/>
              </p:cNvSpPr>
              <p:nvPr/>
            </p:nvSpPr>
            <p:spPr bwMode="auto">
              <a:xfrm>
                <a:off x="808" y="1832"/>
                <a:ext cx="3592" cy="173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572" name="Line 150"/>
              <p:cNvSpPr>
                <a:spLocks noChangeShapeType="1"/>
              </p:cNvSpPr>
              <p:nvPr/>
            </p:nvSpPr>
            <p:spPr bwMode="auto">
              <a:xfrm>
                <a:off x="808" y="2272"/>
                <a:ext cx="3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3" name="Line 151"/>
              <p:cNvSpPr>
                <a:spLocks noChangeShapeType="1"/>
              </p:cNvSpPr>
              <p:nvPr/>
            </p:nvSpPr>
            <p:spPr bwMode="auto">
              <a:xfrm>
                <a:off x="816" y="2688"/>
                <a:ext cx="3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4" name="Line 152"/>
              <p:cNvSpPr>
                <a:spLocks noChangeShapeType="1"/>
              </p:cNvSpPr>
              <p:nvPr/>
            </p:nvSpPr>
            <p:spPr bwMode="auto">
              <a:xfrm>
                <a:off x="816" y="3136"/>
                <a:ext cx="3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5" name="Text Box 154"/>
              <p:cNvSpPr txBox="1">
                <a:spLocks noChangeArrowheads="1"/>
              </p:cNvSpPr>
              <p:nvPr/>
            </p:nvSpPr>
            <p:spPr bwMode="auto">
              <a:xfrm>
                <a:off x="2214" y="2785"/>
                <a:ext cx="83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latin typeface="Times New Roman" pitchFamily="18" charset="0"/>
                  </a:rPr>
                  <a:t>LLC Layer</a:t>
                </a:r>
              </a:p>
            </p:txBody>
          </p:sp>
          <p:sp>
            <p:nvSpPr>
              <p:cNvPr id="20576" name="Text Box 155"/>
              <p:cNvSpPr txBox="1">
                <a:spLocks noChangeArrowheads="1"/>
              </p:cNvSpPr>
              <p:nvPr/>
            </p:nvSpPr>
            <p:spPr bwMode="auto">
              <a:xfrm>
                <a:off x="1766" y="2385"/>
                <a:ext cx="179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latin typeface="Times New Roman" pitchFamily="18" charset="0"/>
                  </a:rPr>
                  <a:t>Network Layer (IP Layer)</a:t>
                </a:r>
              </a:p>
            </p:txBody>
          </p:sp>
          <p:sp>
            <p:nvSpPr>
              <p:cNvPr id="20577" name="Text Box 156"/>
              <p:cNvSpPr txBox="1">
                <a:spLocks noChangeArrowheads="1"/>
              </p:cNvSpPr>
              <p:nvPr/>
            </p:nvSpPr>
            <p:spPr bwMode="auto">
              <a:xfrm>
                <a:off x="1686" y="1937"/>
                <a:ext cx="200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latin typeface="Times New Roman" pitchFamily="18" charset="0"/>
                  </a:rPr>
                  <a:t>Transport Layer (TCP Layer)</a:t>
                </a:r>
              </a:p>
            </p:txBody>
          </p:sp>
        </p:grpSp>
        <p:grpSp>
          <p:nvGrpSpPr>
            <p:cNvPr id="7" name="Group 203"/>
            <p:cNvGrpSpPr>
              <a:grpSpLocks/>
            </p:cNvGrpSpPr>
            <p:nvPr/>
          </p:nvGrpSpPr>
          <p:grpSpPr bwMode="auto">
            <a:xfrm>
              <a:off x="662" y="991"/>
              <a:ext cx="3855" cy="441"/>
              <a:chOff x="510" y="1111"/>
              <a:chExt cx="3855" cy="441"/>
            </a:xfrm>
          </p:grpSpPr>
          <p:grpSp>
            <p:nvGrpSpPr>
              <p:cNvPr id="8" name="Group 167"/>
              <p:cNvGrpSpPr>
                <a:grpSpLocks/>
              </p:cNvGrpSpPr>
              <p:nvPr/>
            </p:nvGrpSpPr>
            <p:grpSpPr bwMode="auto">
              <a:xfrm>
                <a:off x="3846" y="1127"/>
                <a:ext cx="519" cy="425"/>
                <a:chOff x="1110" y="2135"/>
                <a:chExt cx="519" cy="425"/>
              </a:xfrm>
            </p:grpSpPr>
            <p:grpSp>
              <p:nvGrpSpPr>
                <p:cNvPr id="9" name="Group 168"/>
                <p:cNvGrpSpPr>
                  <a:grpSpLocks/>
                </p:cNvGrpSpPr>
                <p:nvPr/>
              </p:nvGrpSpPr>
              <p:grpSpPr bwMode="auto">
                <a:xfrm>
                  <a:off x="1232" y="2296"/>
                  <a:ext cx="232" cy="264"/>
                  <a:chOff x="1176" y="2240"/>
                  <a:chExt cx="232" cy="264"/>
                </a:xfrm>
              </p:grpSpPr>
              <p:sp>
                <p:nvSpPr>
                  <p:cNvPr id="38057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1176" y="2240"/>
                    <a:ext cx="232" cy="26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566" name="Line 170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29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7" name="Line 171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3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8" name="Line 172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7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9" name="Line 173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1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70" name="Line 174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5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564" name="Text Box 175"/>
                <p:cNvSpPr txBox="1">
                  <a:spLocks noChangeArrowheads="1"/>
                </p:cNvSpPr>
                <p:nvPr/>
              </p:nvSpPr>
              <p:spPr bwMode="auto">
                <a:xfrm>
                  <a:off x="1110" y="2135"/>
                  <a:ext cx="51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sz="1200" b="1">
                      <a:solidFill>
                        <a:srgbClr val="FF0000"/>
                      </a:solidFill>
                      <a:latin typeface="Times New Roman" pitchFamily="18" charset="0"/>
                    </a:rPr>
                    <a:t>Process D</a:t>
                  </a:r>
                </a:p>
              </p:txBody>
            </p:sp>
          </p:grpSp>
          <p:grpSp>
            <p:nvGrpSpPr>
              <p:cNvPr id="10" name="Group 176"/>
              <p:cNvGrpSpPr>
                <a:grpSpLocks/>
              </p:cNvGrpSpPr>
              <p:nvPr/>
            </p:nvGrpSpPr>
            <p:grpSpPr bwMode="auto">
              <a:xfrm>
                <a:off x="2758" y="1127"/>
                <a:ext cx="519" cy="425"/>
                <a:chOff x="1110" y="2135"/>
                <a:chExt cx="519" cy="425"/>
              </a:xfrm>
            </p:grpSpPr>
            <p:grpSp>
              <p:nvGrpSpPr>
                <p:cNvPr id="11" name="Group 177"/>
                <p:cNvGrpSpPr>
                  <a:grpSpLocks/>
                </p:cNvGrpSpPr>
                <p:nvPr/>
              </p:nvGrpSpPr>
              <p:grpSpPr bwMode="auto">
                <a:xfrm>
                  <a:off x="1232" y="2296"/>
                  <a:ext cx="232" cy="264"/>
                  <a:chOff x="1176" y="2240"/>
                  <a:chExt cx="232" cy="264"/>
                </a:xfrm>
              </p:grpSpPr>
              <p:sp>
                <p:nvSpPr>
                  <p:cNvPr id="38066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1176" y="2240"/>
                    <a:ext cx="232" cy="26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558" name="Line 179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29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59" name="Line 180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3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0" name="Line 181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7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1" name="Line 182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1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62" name="Line 183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5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556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1110" y="2135"/>
                  <a:ext cx="51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sz="1200" b="1">
                      <a:solidFill>
                        <a:srgbClr val="FF0000"/>
                      </a:solidFill>
                      <a:latin typeface="Times New Roman" pitchFamily="18" charset="0"/>
                    </a:rPr>
                    <a:t>Process C</a:t>
                  </a:r>
                </a:p>
              </p:txBody>
            </p:sp>
          </p:grpSp>
          <p:grpSp>
            <p:nvGrpSpPr>
              <p:cNvPr id="12" name="Group 185"/>
              <p:cNvGrpSpPr>
                <a:grpSpLocks/>
              </p:cNvGrpSpPr>
              <p:nvPr/>
            </p:nvGrpSpPr>
            <p:grpSpPr bwMode="auto">
              <a:xfrm>
                <a:off x="1598" y="1119"/>
                <a:ext cx="514" cy="425"/>
                <a:chOff x="1110" y="2135"/>
                <a:chExt cx="514" cy="425"/>
              </a:xfrm>
            </p:grpSpPr>
            <p:grpSp>
              <p:nvGrpSpPr>
                <p:cNvPr id="13" name="Group 186"/>
                <p:cNvGrpSpPr>
                  <a:grpSpLocks/>
                </p:cNvGrpSpPr>
                <p:nvPr/>
              </p:nvGrpSpPr>
              <p:grpSpPr bwMode="auto">
                <a:xfrm>
                  <a:off x="1232" y="2296"/>
                  <a:ext cx="232" cy="264"/>
                  <a:chOff x="1176" y="2240"/>
                  <a:chExt cx="232" cy="264"/>
                </a:xfrm>
              </p:grpSpPr>
              <p:sp>
                <p:nvSpPr>
                  <p:cNvPr id="38075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1176" y="2240"/>
                    <a:ext cx="232" cy="26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550" name="Line 188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29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51" name="Line 189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3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52" name="Line 190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7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53" name="Line 191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1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54" name="Line 192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5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548" name="Text Box 193"/>
                <p:cNvSpPr txBox="1">
                  <a:spLocks noChangeArrowheads="1"/>
                </p:cNvSpPr>
                <p:nvPr/>
              </p:nvSpPr>
              <p:spPr bwMode="auto">
                <a:xfrm>
                  <a:off x="1110" y="2135"/>
                  <a:ext cx="514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sz="1200" b="1">
                      <a:solidFill>
                        <a:srgbClr val="FF0000"/>
                      </a:solidFill>
                      <a:latin typeface="Times New Roman" pitchFamily="18" charset="0"/>
                    </a:rPr>
                    <a:t>Process B</a:t>
                  </a:r>
                </a:p>
              </p:txBody>
            </p:sp>
          </p:grpSp>
          <p:grpSp>
            <p:nvGrpSpPr>
              <p:cNvPr id="14" name="Group 194"/>
              <p:cNvGrpSpPr>
                <a:grpSpLocks/>
              </p:cNvGrpSpPr>
              <p:nvPr/>
            </p:nvGrpSpPr>
            <p:grpSpPr bwMode="auto">
              <a:xfrm>
                <a:off x="510" y="1111"/>
                <a:ext cx="519" cy="425"/>
                <a:chOff x="1110" y="2135"/>
                <a:chExt cx="519" cy="425"/>
              </a:xfrm>
            </p:grpSpPr>
            <p:grpSp>
              <p:nvGrpSpPr>
                <p:cNvPr id="15" name="Group 195"/>
                <p:cNvGrpSpPr>
                  <a:grpSpLocks/>
                </p:cNvGrpSpPr>
                <p:nvPr/>
              </p:nvGrpSpPr>
              <p:grpSpPr bwMode="auto">
                <a:xfrm>
                  <a:off x="1232" y="2296"/>
                  <a:ext cx="232" cy="264"/>
                  <a:chOff x="1176" y="2240"/>
                  <a:chExt cx="232" cy="264"/>
                </a:xfrm>
              </p:grpSpPr>
              <p:sp>
                <p:nvSpPr>
                  <p:cNvPr id="38084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1176" y="2240"/>
                    <a:ext cx="232" cy="264"/>
                  </a:xfrm>
                  <a:prstGeom prst="rect">
                    <a:avLst/>
                  </a:prstGeom>
                  <a:solidFill>
                    <a:schemeClr val="bg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en-US"/>
                  </a:p>
                </p:txBody>
              </p:sp>
              <p:sp>
                <p:nvSpPr>
                  <p:cNvPr id="20542" name="Line 197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29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43" name="Line 198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3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44" name="Line 199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37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45" name="Line 200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1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20546" name="Line 201"/>
                  <p:cNvSpPr>
                    <a:spLocks noChangeShapeType="1"/>
                  </p:cNvSpPr>
                  <p:nvPr/>
                </p:nvSpPr>
                <p:spPr bwMode="auto">
                  <a:xfrm>
                    <a:off x="1208" y="2456"/>
                    <a:ext cx="1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0540" name="Text Box 202"/>
                <p:cNvSpPr txBox="1">
                  <a:spLocks noChangeArrowheads="1"/>
                </p:cNvSpPr>
                <p:nvPr/>
              </p:nvSpPr>
              <p:spPr bwMode="auto">
                <a:xfrm>
                  <a:off x="1110" y="2135"/>
                  <a:ext cx="519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kumimoji="1" lang="en-US" sz="1200" b="1">
                      <a:solidFill>
                        <a:srgbClr val="FF0000"/>
                      </a:solidFill>
                      <a:latin typeface="Times New Roman" pitchFamily="18" charset="0"/>
                    </a:rPr>
                    <a:t>Process A</a:t>
                  </a:r>
                </a:p>
              </p:txBody>
            </p:sp>
          </p:grpSp>
        </p:grpSp>
      </p:grpSp>
      <p:grpSp>
        <p:nvGrpSpPr>
          <p:cNvPr id="16" name="Group 219"/>
          <p:cNvGrpSpPr>
            <a:grpSpLocks/>
          </p:cNvGrpSpPr>
          <p:nvPr/>
        </p:nvGrpSpPr>
        <p:grpSpPr bwMode="auto">
          <a:xfrm>
            <a:off x="1409700" y="2616200"/>
            <a:ext cx="5308600" cy="368300"/>
            <a:chOff x="888" y="1648"/>
            <a:chExt cx="3344" cy="232"/>
          </a:xfrm>
        </p:grpSpPr>
        <p:sp>
          <p:nvSpPr>
            <p:cNvPr id="38092" name="Rectangle 204"/>
            <p:cNvSpPr>
              <a:spLocks noChangeArrowheads="1"/>
            </p:cNvSpPr>
            <p:nvPr/>
          </p:nvSpPr>
          <p:spPr bwMode="auto">
            <a:xfrm>
              <a:off x="4128" y="1664"/>
              <a:ext cx="104" cy="21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093" name="Rectangle 205"/>
            <p:cNvSpPr>
              <a:spLocks noChangeArrowheads="1"/>
            </p:cNvSpPr>
            <p:nvPr/>
          </p:nvSpPr>
          <p:spPr bwMode="auto">
            <a:xfrm>
              <a:off x="3104" y="1648"/>
              <a:ext cx="104" cy="21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094" name="Rectangle 206"/>
            <p:cNvSpPr>
              <a:spLocks noChangeArrowheads="1"/>
            </p:cNvSpPr>
            <p:nvPr/>
          </p:nvSpPr>
          <p:spPr bwMode="auto">
            <a:xfrm>
              <a:off x="1936" y="1656"/>
              <a:ext cx="104" cy="21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8095" name="Rectangle 207"/>
            <p:cNvSpPr>
              <a:spLocks noChangeArrowheads="1"/>
            </p:cNvSpPr>
            <p:nvPr/>
          </p:nvSpPr>
          <p:spPr bwMode="auto">
            <a:xfrm>
              <a:off x="888" y="1656"/>
              <a:ext cx="104" cy="216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7" name="Group 227"/>
          <p:cNvGrpSpPr>
            <a:grpSpLocks/>
          </p:cNvGrpSpPr>
          <p:nvPr/>
        </p:nvGrpSpPr>
        <p:grpSpPr bwMode="auto">
          <a:xfrm>
            <a:off x="1384300" y="2108200"/>
            <a:ext cx="5346700" cy="647700"/>
            <a:chOff x="872" y="1328"/>
            <a:chExt cx="3368" cy="408"/>
          </a:xfrm>
        </p:grpSpPr>
        <p:sp>
          <p:nvSpPr>
            <p:cNvPr id="20525" name="Line 208"/>
            <p:cNvSpPr>
              <a:spLocks noChangeShapeType="1"/>
            </p:cNvSpPr>
            <p:nvPr/>
          </p:nvSpPr>
          <p:spPr bwMode="auto">
            <a:xfrm flipH="1" flipV="1">
              <a:off x="872" y="1328"/>
              <a:ext cx="64" cy="36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209"/>
            <p:cNvSpPr>
              <a:spLocks noChangeShapeType="1"/>
            </p:cNvSpPr>
            <p:nvPr/>
          </p:nvSpPr>
          <p:spPr bwMode="auto">
            <a:xfrm flipV="1">
              <a:off x="1992" y="1344"/>
              <a:ext cx="0" cy="36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Line 210"/>
            <p:cNvSpPr>
              <a:spLocks noChangeShapeType="1"/>
            </p:cNvSpPr>
            <p:nvPr/>
          </p:nvSpPr>
          <p:spPr bwMode="auto">
            <a:xfrm flipV="1">
              <a:off x="3152" y="1360"/>
              <a:ext cx="0" cy="344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Line 211"/>
            <p:cNvSpPr>
              <a:spLocks noChangeShapeType="1"/>
            </p:cNvSpPr>
            <p:nvPr/>
          </p:nvSpPr>
          <p:spPr bwMode="auto">
            <a:xfrm flipV="1">
              <a:off x="4184" y="1344"/>
              <a:ext cx="56" cy="392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217"/>
          <p:cNvGrpSpPr>
            <a:grpSpLocks/>
          </p:cNvGrpSpPr>
          <p:nvPr/>
        </p:nvGrpSpPr>
        <p:grpSpPr bwMode="auto">
          <a:xfrm>
            <a:off x="1054100" y="2476500"/>
            <a:ext cx="7481888" cy="1223963"/>
            <a:chOff x="664" y="1560"/>
            <a:chExt cx="4713" cy="771"/>
          </a:xfrm>
        </p:grpSpPr>
        <p:sp>
          <p:nvSpPr>
            <p:cNvPr id="20520" name="AutoShape 212"/>
            <p:cNvSpPr>
              <a:spLocks noChangeArrowheads="1"/>
            </p:cNvSpPr>
            <p:nvPr/>
          </p:nvSpPr>
          <p:spPr bwMode="auto">
            <a:xfrm>
              <a:off x="664" y="1560"/>
              <a:ext cx="3944" cy="392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0000CC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" name="Group 215"/>
            <p:cNvGrpSpPr>
              <a:grpSpLocks/>
            </p:cNvGrpSpPr>
            <p:nvPr/>
          </p:nvGrpSpPr>
          <p:grpSpPr bwMode="auto">
            <a:xfrm>
              <a:off x="4942" y="2081"/>
              <a:ext cx="435" cy="250"/>
              <a:chOff x="4958" y="2097"/>
              <a:chExt cx="435" cy="250"/>
            </a:xfrm>
          </p:grpSpPr>
          <p:sp>
            <p:nvSpPr>
              <p:cNvPr id="38102" name="AutoShape 214"/>
              <p:cNvSpPr>
                <a:spLocks noChangeArrowheads="1"/>
              </p:cNvSpPr>
              <p:nvPr/>
            </p:nvSpPr>
            <p:spPr bwMode="auto">
              <a:xfrm>
                <a:off x="4968" y="2160"/>
                <a:ext cx="416" cy="176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0524" name="Text Box 213"/>
              <p:cNvSpPr txBox="1">
                <a:spLocks noChangeArrowheads="1"/>
              </p:cNvSpPr>
              <p:nvPr/>
            </p:nvSpPr>
            <p:spPr bwMode="auto">
              <a:xfrm>
                <a:off x="4958" y="2097"/>
                <a:ext cx="43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chemeClr val="accent2"/>
                    </a:solidFill>
                    <a:latin typeface="Times New Roman" pitchFamily="18" charset="0"/>
                  </a:rPr>
                  <a:t>ports</a:t>
                </a:r>
              </a:p>
            </p:txBody>
          </p:sp>
        </p:grpSp>
        <p:sp>
          <p:nvSpPr>
            <p:cNvPr id="20522" name="Line 216"/>
            <p:cNvSpPr>
              <a:spLocks noChangeShapeType="1"/>
            </p:cNvSpPr>
            <p:nvPr/>
          </p:nvSpPr>
          <p:spPr bwMode="auto">
            <a:xfrm flipH="1" flipV="1">
              <a:off x="4608" y="1920"/>
              <a:ext cx="360" cy="232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106" name="AutoShape 218"/>
          <p:cNvSpPr>
            <a:spLocks noChangeArrowheads="1"/>
          </p:cNvSpPr>
          <p:nvPr/>
        </p:nvSpPr>
        <p:spPr bwMode="auto">
          <a:xfrm>
            <a:off x="3708400" y="6197600"/>
            <a:ext cx="914400" cy="2921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8109" name="AutoShape 221"/>
          <p:cNvSpPr>
            <a:spLocks noChangeArrowheads="1"/>
          </p:cNvSpPr>
          <p:nvPr/>
        </p:nvSpPr>
        <p:spPr bwMode="auto">
          <a:xfrm>
            <a:off x="1739900" y="3352800"/>
            <a:ext cx="4927600" cy="254000"/>
          </a:xfrm>
          <a:prstGeom prst="roundRect">
            <a:avLst>
              <a:gd name="adj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0" name="Group 226"/>
          <p:cNvGrpSpPr>
            <a:grpSpLocks/>
          </p:cNvGrpSpPr>
          <p:nvPr/>
        </p:nvGrpSpPr>
        <p:grpSpPr bwMode="auto">
          <a:xfrm>
            <a:off x="1485900" y="2844800"/>
            <a:ext cx="5130800" cy="635000"/>
            <a:chOff x="936" y="1792"/>
            <a:chExt cx="3232" cy="400"/>
          </a:xfrm>
        </p:grpSpPr>
        <p:sp>
          <p:nvSpPr>
            <p:cNvPr id="20516" name="Line 222"/>
            <p:cNvSpPr>
              <a:spLocks noChangeShapeType="1"/>
            </p:cNvSpPr>
            <p:nvPr/>
          </p:nvSpPr>
          <p:spPr bwMode="auto">
            <a:xfrm flipH="1" flipV="1">
              <a:off x="936" y="1800"/>
              <a:ext cx="384" cy="360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Line 223"/>
            <p:cNvSpPr>
              <a:spLocks noChangeShapeType="1"/>
            </p:cNvSpPr>
            <p:nvPr/>
          </p:nvSpPr>
          <p:spPr bwMode="auto">
            <a:xfrm flipV="1">
              <a:off x="1984" y="1792"/>
              <a:ext cx="0" cy="376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Line 224"/>
            <p:cNvSpPr>
              <a:spLocks noChangeShapeType="1"/>
            </p:cNvSpPr>
            <p:nvPr/>
          </p:nvSpPr>
          <p:spPr bwMode="auto">
            <a:xfrm flipV="1">
              <a:off x="3168" y="1792"/>
              <a:ext cx="0" cy="384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Line 225"/>
            <p:cNvSpPr>
              <a:spLocks noChangeShapeType="1"/>
            </p:cNvSpPr>
            <p:nvPr/>
          </p:nvSpPr>
          <p:spPr bwMode="auto">
            <a:xfrm flipV="1">
              <a:off x="4080" y="1808"/>
              <a:ext cx="88" cy="384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054" name="AutoShape 166"/>
          <p:cNvSpPr>
            <a:spLocks noChangeArrowheads="1"/>
          </p:cNvSpPr>
          <p:nvPr/>
        </p:nvSpPr>
        <p:spPr bwMode="auto">
          <a:xfrm>
            <a:off x="3937000" y="3517900"/>
            <a:ext cx="419100" cy="2095500"/>
          </a:xfrm>
          <a:prstGeom prst="up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vert="eaVert"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1" name="Group 233"/>
          <p:cNvGrpSpPr>
            <a:grpSpLocks/>
          </p:cNvGrpSpPr>
          <p:nvPr/>
        </p:nvGrpSpPr>
        <p:grpSpPr bwMode="auto">
          <a:xfrm>
            <a:off x="1558925" y="2500313"/>
            <a:ext cx="5619750" cy="274637"/>
            <a:chOff x="982" y="1575"/>
            <a:chExt cx="3540" cy="173"/>
          </a:xfrm>
        </p:grpSpPr>
        <p:sp>
          <p:nvSpPr>
            <p:cNvPr id="20512" name="Text Box 228"/>
            <p:cNvSpPr txBox="1">
              <a:spLocks noChangeArrowheads="1"/>
            </p:cNvSpPr>
            <p:nvPr/>
          </p:nvSpPr>
          <p:spPr bwMode="auto">
            <a:xfrm>
              <a:off x="4214" y="1575"/>
              <a:ext cx="30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1045</a:t>
              </a:r>
            </a:p>
          </p:txBody>
        </p:sp>
        <p:sp>
          <p:nvSpPr>
            <p:cNvPr id="20513" name="Text Box 230"/>
            <p:cNvSpPr txBox="1">
              <a:spLocks noChangeArrowheads="1"/>
            </p:cNvSpPr>
            <p:nvPr/>
          </p:nvSpPr>
          <p:spPr bwMode="auto">
            <a:xfrm>
              <a:off x="2038" y="1575"/>
              <a:ext cx="30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9133</a:t>
              </a:r>
            </a:p>
          </p:txBody>
        </p:sp>
        <p:sp>
          <p:nvSpPr>
            <p:cNvPr id="20514" name="Text Box 231"/>
            <p:cNvSpPr txBox="1">
              <a:spLocks noChangeArrowheads="1"/>
            </p:cNvSpPr>
            <p:nvPr/>
          </p:nvSpPr>
          <p:spPr bwMode="auto">
            <a:xfrm>
              <a:off x="982" y="1575"/>
              <a:ext cx="30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6055</a:t>
              </a:r>
            </a:p>
          </p:txBody>
        </p:sp>
        <p:sp>
          <p:nvSpPr>
            <p:cNvPr id="20515" name="Text Box 232"/>
            <p:cNvSpPr txBox="1">
              <a:spLocks noChangeArrowheads="1"/>
            </p:cNvSpPr>
            <p:nvPr/>
          </p:nvSpPr>
          <p:spPr bwMode="auto">
            <a:xfrm>
              <a:off x="3198" y="1575"/>
              <a:ext cx="35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200" b="1">
                  <a:solidFill>
                    <a:srgbClr val="CC0066"/>
                  </a:solidFill>
                  <a:latin typeface="Times New Roman" pitchFamily="18" charset="0"/>
                </a:rPr>
                <a:t>12133</a:t>
              </a:r>
            </a:p>
          </p:txBody>
        </p:sp>
      </p:grpSp>
      <p:grpSp>
        <p:nvGrpSpPr>
          <p:cNvPr id="22" name="Group 237"/>
          <p:cNvGrpSpPr>
            <a:grpSpLocks/>
          </p:cNvGrpSpPr>
          <p:nvPr/>
        </p:nvGrpSpPr>
        <p:grpSpPr bwMode="auto">
          <a:xfrm>
            <a:off x="3035300" y="2476500"/>
            <a:ext cx="4330700" cy="3835400"/>
            <a:chOff x="1912" y="1560"/>
            <a:chExt cx="2728" cy="2416"/>
          </a:xfrm>
        </p:grpSpPr>
        <p:sp>
          <p:nvSpPr>
            <p:cNvPr id="20509" name="Oval 234"/>
            <p:cNvSpPr>
              <a:spLocks noChangeArrowheads="1"/>
            </p:cNvSpPr>
            <p:nvPr/>
          </p:nvSpPr>
          <p:spPr bwMode="auto">
            <a:xfrm>
              <a:off x="4128" y="1560"/>
              <a:ext cx="512" cy="184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0" name="Oval 235"/>
            <p:cNvSpPr>
              <a:spLocks noChangeArrowheads="1"/>
            </p:cNvSpPr>
            <p:nvPr/>
          </p:nvSpPr>
          <p:spPr bwMode="auto">
            <a:xfrm>
              <a:off x="1912" y="3520"/>
              <a:ext cx="1488" cy="456"/>
            </a:xfrm>
            <a:prstGeom prst="ellips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1" name="Line 236"/>
            <p:cNvSpPr>
              <a:spLocks noChangeShapeType="1"/>
            </p:cNvSpPr>
            <p:nvPr/>
          </p:nvSpPr>
          <p:spPr bwMode="auto">
            <a:xfrm flipV="1">
              <a:off x="3200" y="1752"/>
              <a:ext cx="1168" cy="183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8"/>
          <p:cNvGrpSpPr>
            <a:grpSpLocks/>
          </p:cNvGrpSpPr>
          <p:nvPr/>
        </p:nvGrpSpPr>
        <p:grpSpPr bwMode="auto">
          <a:xfrm>
            <a:off x="301625" y="877888"/>
            <a:ext cx="2492375" cy="396875"/>
            <a:chOff x="2094" y="729"/>
            <a:chExt cx="1570" cy="250"/>
          </a:xfrm>
        </p:grpSpPr>
        <p:sp>
          <p:nvSpPr>
            <p:cNvPr id="38127" name="AutoShape 239"/>
            <p:cNvSpPr>
              <a:spLocks noChangeArrowheads="1"/>
            </p:cNvSpPr>
            <p:nvPr/>
          </p:nvSpPr>
          <p:spPr bwMode="auto">
            <a:xfrm>
              <a:off x="2096" y="752"/>
              <a:ext cx="1568" cy="22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508" name="Text Box 240"/>
            <p:cNvSpPr txBox="1">
              <a:spLocks noChangeArrowheads="1"/>
            </p:cNvSpPr>
            <p:nvPr/>
          </p:nvSpPr>
          <p:spPr bwMode="auto">
            <a:xfrm>
              <a:off x="2094" y="729"/>
              <a:ext cx="154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Concept of “ports” (3)</a:t>
              </a:r>
            </a:p>
          </p:txBody>
        </p:sp>
      </p:grpSp>
      <p:grpSp>
        <p:nvGrpSpPr>
          <p:cNvPr id="24" name="Group 249"/>
          <p:cNvGrpSpPr>
            <a:grpSpLocks/>
          </p:cNvGrpSpPr>
          <p:nvPr/>
        </p:nvGrpSpPr>
        <p:grpSpPr bwMode="auto">
          <a:xfrm>
            <a:off x="225425" y="4356100"/>
            <a:ext cx="1574800" cy="1027113"/>
            <a:chOff x="142" y="2744"/>
            <a:chExt cx="992" cy="647"/>
          </a:xfrm>
        </p:grpSpPr>
        <p:grpSp>
          <p:nvGrpSpPr>
            <p:cNvPr id="25" name="Group 243"/>
            <p:cNvGrpSpPr>
              <a:grpSpLocks/>
            </p:cNvGrpSpPr>
            <p:nvPr/>
          </p:nvGrpSpPr>
          <p:grpSpPr bwMode="auto">
            <a:xfrm>
              <a:off x="142" y="3160"/>
              <a:ext cx="976" cy="231"/>
              <a:chOff x="3982" y="3168"/>
              <a:chExt cx="976" cy="231"/>
            </a:xfrm>
          </p:grpSpPr>
          <p:sp>
            <p:nvSpPr>
              <p:cNvPr id="20505" name="AutoShape 244"/>
              <p:cNvSpPr>
                <a:spLocks noChangeArrowheads="1"/>
              </p:cNvSpPr>
              <p:nvPr/>
            </p:nvSpPr>
            <p:spPr bwMode="auto">
              <a:xfrm>
                <a:off x="4016" y="3184"/>
                <a:ext cx="912" cy="208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6" name="Text Box 245"/>
              <p:cNvSpPr txBox="1">
                <a:spLocks noChangeArrowheads="1"/>
              </p:cNvSpPr>
              <p:nvPr/>
            </p:nvSpPr>
            <p:spPr bwMode="auto">
              <a:xfrm>
                <a:off x="3982" y="3168"/>
                <a:ext cx="976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>
                    <a:solidFill>
                      <a:srgbClr val="CC0066"/>
                    </a:solidFill>
                    <a:latin typeface="Times New Roman" pitchFamily="18" charset="0"/>
                  </a:rPr>
                  <a:t>Physical Layer</a:t>
                </a:r>
              </a:p>
            </p:txBody>
          </p:sp>
        </p:grpSp>
        <p:grpSp>
          <p:nvGrpSpPr>
            <p:cNvPr id="26" name="Group 246"/>
            <p:cNvGrpSpPr>
              <a:grpSpLocks/>
            </p:cNvGrpSpPr>
            <p:nvPr/>
          </p:nvGrpSpPr>
          <p:grpSpPr bwMode="auto">
            <a:xfrm>
              <a:off x="150" y="2744"/>
              <a:ext cx="984" cy="231"/>
              <a:chOff x="3982" y="3168"/>
              <a:chExt cx="984" cy="231"/>
            </a:xfrm>
          </p:grpSpPr>
          <p:sp>
            <p:nvSpPr>
              <p:cNvPr id="20503" name="AutoShape 247"/>
              <p:cNvSpPr>
                <a:spLocks noChangeArrowheads="1"/>
              </p:cNvSpPr>
              <p:nvPr/>
            </p:nvSpPr>
            <p:spPr bwMode="auto">
              <a:xfrm>
                <a:off x="4016" y="3184"/>
                <a:ext cx="912" cy="208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04" name="Text Box 248"/>
              <p:cNvSpPr txBox="1">
                <a:spLocks noChangeArrowheads="1"/>
              </p:cNvSpPr>
              <p:nvPr/>
            </p:nvSpPr>
            <p:spPr bwMode="auto">
              <a:xfrm>
                <a:off x="3982" y="3168"/>
                <a:ext cx="98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>
                    <a:solidFill>
                      <a:srgbClr val="CC0066"/>
                    </a:solidFill>
                    <a:latin typeface="Times New Roman" pitchFamily="18" charset="0"/>
                  </a:rPr>
                  <a:t>Datalink Layer</a:t>
                </a:r>
              </a:p>
            </p:txBody>
          </p:sp>
        </p:grpSp>
      </p:grpSp>
      <p:sp>
        <p:nvSpPr>
          <p:cNvPr id="20500" name="Text Box 153"/>
          <p:cNvSpPr txBox="1">
            <a:spLocks noChangeArrowheads="1"/>
          </p:cNvSpPr>
          <p:nvPr/>
        </p:nvSpPr>
        <p:spPr bwMode="auto">
          <a:xfrm>
            <a:off x="3438525" y="5043488"/>
            <a:ext cx="1419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latin typeface="Times New Roman" pitchFamily="18" charset="0"/>
              </a:rPr>
              <a:t>MAC Layer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106" grpId="0" animBg="1"/>
      <p:bldP spid="38109" grpId="0" animBg="1"/>
      <p:bldP spid="380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7E8C2C4B-3C53-439B-949D-F8E1962A5DC3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150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C492F2-823A-4FAE-AB55-3F05497F32F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216" name="Rectangle 96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1510" name="Rectangle 13"/>
          <p:cNvSpPr>
            <a:spLocks noChangeArrowheads="1"/>
          </p:cNvSpPr>
          <p:nvPr/>
        </p:nvSpPr>
        <p:spPr bwMode="auto">
          <a:xfrm>
            <a:off x="2063750" y="1452563"/>
            <a:ext cx="1160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chemeClr val="accent2"/>
                </a:solidFill>
                <a:latin typeface="Times New Roman" pitchFamily="18" charset="0"/>
              </a:rPr>
              <a:t>SERVER</a:t>
            </a:r>
            <a:endParaRPr kumimoji="1" lang="en-US" altLang="ja-JP" sz="2000">
              <a:latin typeface="Times New Roman" pitchFamily="18" charset="0"/>
            </a:endParaRPr>
          </a:p>
        </p:txBody>
      </p:sp>
      <p:sp>
        <p:nvSpPr>
          <p:cNvPr id="21511" name="Rectangle 14"/>
          <p:cNvSpPr>
            <a:spLocks noChangeArrowheads="1"/>
          </p:cNvSpPr>
          <p:nvPr/>
        </p:nvSpPr>
        <p:spPr bwMode="auto">
          <a:xfrm>
            <a:off x="2019300" y="2592388"/>
            <a:ext cx="1301750" cy="330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Rectangle 15"/>
          <p:cNvSpPr>
            <a:spLocks noChangeArrowheads="1"/>
          </p:cNvSpPr>
          <p:nvPr/>
        </p:nvSpPr>
        <p:spPr bwMode="auto">
          <a:xfrm>
            <a:off x="2235200" y="2538413"/>
            <a:ext cx="8032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bind()</a:t>
            </a:r>
          </a:p>
        </p:txBody>
      </p:sp>
      <p:sp>
        <p:nvSpPr>
          <p:cNvPr id="21513" name="Rectangle 16"/>
          <p:cNvSpPr>
            <a:spLocks noChangeArrowheads="1"/>
          </p:cNvSpPr>
          <p:nvPr/>
        </p:nvSpPr>
        <p:spPr bwMode="auto">
          <a:xfrm>
            <a:off x="2019300" y="3268663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Rectangle 17"/>
          <p:cNvSpPr>
            <a:spLocks noChangeArrowheads="1"/>
          </p:cNvSpPr>
          <p:nvPr/>
        </p:nvSpPr>
        <p:spPr bwMode="auto">
          <a:xfrm>
            <a:off x="2190750" y="3270250"/>
            <a:ext cx="9001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listen()</a:t>
            </a:r>
          </a:p>
        </p:txBody>
      </p:sp>
      <p:sp>
        <p:nvSpPr>
          <p:cNvPr id="21515" name="Rectangle 18"/>
          <p:cNvSpPr>
            <a:spLocks noChangeArrowheads="1"/>
          </p:cNvSpPr>
          <p:nvPr/>
        </p:nvSpPr>
        <p:spPr bwMode="auto">
          <a:xfrm>
            <a:off x="2019300" y="3944938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6" name="Rectangle 19"/>
          <p:cNvSpPr>
            <a:spLocks noChangeArrowheads="1"/>
          </p:cNvSpPr>
          <p:nvPr/>
        </p:nvSpPr>
        <p:spPr bwMode="auto">
          <a:xfrm>
            <a:off x="2146300" y="3949700"/>
            <a:ext cx="100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accept()</a:t>
            </a:r>
          </a:p>
        </p:txBody>
      </p:sp>
      <p:sp>
        <p:nvSpPr>
          <p:cNvPr id="21517" name="Rectangle 20"/>
          <p:cNvSpPr>
            <a:spLocks noChangeArrowheads="1"/>
          </p:cNvSpPr>
          <p:nvPr/>
        </p:nvSpPr>
        <p:spPr bwMode="auto">
          <a:xfrm>
            <a:off x="2019300" y="4621213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Rectangle 21"/>
          <p:cNvSpPr>
            <a:spLocks noChangeArrowheads="1"/>
          </p:cNvSpPr>
          <p:nvPr/>
        </p:nvSpPr>
        <p:spPr bwMode="auto">
          <a:xfrm>
            <a:off x="2019300" y="5297488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Rectangle 22"/>
          <p:cNvSpPr>
            <a:spLocks noChangeArrowheads="1"/>
          </p:cNvSpPr>
          <p:nvPr/>
        </p:nvSpPr>
        <p:spPr bwMode="auto">
          <a:xfrm>
            <a:off x="2019300" y="6108700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Rectangle 23"/>
          <p:cNvSpPr>
            <a:spLocks noChangeArrowheads="1"/>
          </p:cNvSpPr>
          <p:nvPr/>
        </p:nvSpPr>
        <p:spPr bwMode="auto">
          <a:xfrm>
            <a:off x="2241550" y="4629150"/>
            <a:ext cx="796693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 dirty="0" err="1">
                <a:latin typeface="Times New Roman" pitchFamily="18" charset="0"/>
              </a:rPr>
              <a:t>recv</a:t>
            </a:r>
            <a:r>
              <a:rPr kumimoji="1" lang="en-US" altLang="ja-JP" sz="2000" dirty="0">
                <a:latin typeface="Times New Roman" pitchFamily="18" charset="0"/>
              </a:rPr>
              <a:t>()</a:t>
            </a:r>
          </a:p>
        </p:txBody>
      </p:sp>
      <p:sp>
        <p:nvSpPr>
          <p:cNvPr id="21521" name="Rectangle 24"/>
          <p:cNvSpPr>
            <a:spLocks noChangeArrowheads="1"/>
          </p:cNvSpPr>
          <p:nvPr/>
        </p:nvSpPr>
        <p:spPr bwMode="auto">
          <a:xfrm>
            <a:off x="2190750" y="5295900"/>
            <a:ext cx="825547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 dirty="0">
                <a:latin typeface="Times New Roman" pitchFamily="18" charset="0"/>
              </a:rPr>
              <a:t>send()</a:t>
            </a:r>
          </a:p>
        </p:txBody>
      </p:sp>
      <p:sp>
        <p:nvSpPr>
          <p:cNvPr id="21522" name="Rectangle 25"/>
          <p:cNvSpPr>
            <a:spLocks noChangeArrowheads="1"/>
          </p:cNvSpPr>
          <p:nvPr/>
        </p:nvSpPr>
        <p:spPr bwMode="auto">
          <a:xfrm>
            <a:off x="2203450" y="6127750"/>
            <a:ext cx="873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close()</a:t>
            </a:r>
          </a:p>
        </p:txBody>
      </p:sp>
      <p:sp>
        <p:nvSpPr>
          <p:cNvPr id="21523" name="Rectangle 26"/>
          <p:cNvSpPr>
            <a:spLocks noChangeArrowheads="1"/>
          </p:cNvSpPr>
          <p:nvPr/>
        </p:nvSpPr>
        <p:spPr bwMode="auto">
          <a:xfrm>
            <a:off x="5734050" y="2390775"/>
            <a:ext cx="129540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Rectangle 27"/>
          <p:cNvSpPr>
            <a:spLocks noChangeArrowheads="1"/>
          </p:cNvSpPr>
          <p:nvPr/>
        </p:nvSpPr>
        <p:spPr bwMode="auto">
          <a:xfrm>
            <a:off x="5734050" y="3336925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5" name="Rectangle 28"/>
          <p:cNvSpPr>
            <a:spLocks noChangeArrowheads="1"/>
          </p:cNvSpPr>
          <p:nvPr/>
        </p:nvSpPr>
        <p:spPr bwMode="auto">
          <a:xfrm>
            <a:off x="5734050" y="4284663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6" name="Rectangle 30"/>
          <p:cNvSpPr>
            <a:spLocks noChangeArrowheads="1"/>
          </p:cNvSpPr>
          <p:nvPr/>
        </p:nvSpPr>
        <p:spPr bwMode="auto">
          <a:xfrm>
            <a:off x="5734050" y="6110288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Rectangle 31"/>
          <p:cNvSpPr>
            <a:spLocks noChangeArrowheads="1"/>
          </p:cNvSpPr>
          <p:nvPr/>
        </p:nvSpPr>
        <p:spPr bwMode="auto">
          <a:xfrm>
            <a:off x="5799138" y="2022475"/>
            <a:ext cx="1089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CLIENT</a:t>
            </a:r>
          </a:p>
        </p:txBody>
      </p:sp>
      <p:sp>
        <p:nvSpPr>
          <p:cNvPr id="21528" name="Rectangle 32"/>
          <p:cNvSpPr>
            <a:spLocks noChangeArrowheads="1"/>
          </p:cNvSpPr>
          <p:nvPr/>
        </p:nvSpPr>
        <p:spPr bwMode="auto">
          <a:xfrm>
            <a:off x="5849938" y="2382838"/>
            <a:ext cx="100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socket()</a:t>
            </a:r>
          </a:p>
        </p:txBody>
      </p:sp>
      <p:sp>
        <p:nvSpPr>
          <p:cNvPr id="21529" name="Rectangle 33"/>
          <p:cNvSpPr>
            <a:spLocks noChangeArrowheads="1"/>
          </p:cNvSpPr>
          <p:nvPr/>
        </p:nvSpPr>
        <p:spPr bwMode="auto">
          <a:xfrm>
            <a:off x="5773738" y="3343275"/>
            <a:ext cx="11414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connect()</a:t>
            </a:r>
          </a:p>
        </p:txBody>
      </p:sp>
      <p:sp>
        <p:nvSpPr>
          <p:cNvPr id="21530" name="Rectangle 34"/>
          <p:cNvSpPr>
            <a:spLocks noChangeArrowheads="1"/>
          </p:cNvSpPr>
          <p:nvPr/>
        </p:nvSpPr>
        <p:spPr bwMode="auto">
          <a:xfrm>
            <a:off x="5919788" y="4260850"/>
            <a:ext cx="825547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 dirty="0">
                <a:latin typeface="Times New Roman" pitchFamily="18" charset="0"/>
              </a:rPr>
              <a:t>send()</a:t>
            </a:r>
          </a:p>
        </p:txBody>
      </p:sp>
      <p:sp>
        <p:nvSpPr>
          <p:cNvPr id="21531" name="Rectangle 36"/>
          <p:cNvSpPr>
            <a:spLocks noChangeArrowheads="1"/>
          </p:cNvSpPr>
          <p:nvPr/>
        </p:nvSpPr>
        <p:spPr bwMode="auto">
          <a:xfrm>
            <a:off x="5913438" y="6102350"/>
            <a:ext cx="873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close()</a:t>
            </a:r>
          </a:p>
        </p:txBody>
      </p:sp>
      <p:sp>
        <p:nvSpPr>
          <p:cNvPr id="21532" name="Line 37"/>
          <p:cNvSpPr>
            <a:spLocks noChangeShapeType="1"/>
          </p:cNvSpPr>
          <p:nvPr/>
        </p:nvSpPr>
        <p:spPr bwMode="auto">
          <a:xfrm>
            <a:off x="2641600" y="2928938"/>
            <a:ext cx="0" cy="33496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3" name="Line 38"/>
          <p:cNvSpPr>
            <a:spLocks noChangeShapeType="1"/>
          </p:cNvSpPr>
          <p:nvPr/>
        </p:nvSpPr>
        <p:spPr bwMode="auto">
          <a:xfrm>
            <a:off x="2641600" y="3671888"/>
            <a:ext cx="0" cy="268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4" name="Line 39"/>
          <p:cNvSpPr>
            <a:spLocks noChangeShapeType="1"/>
          </p:cNvSpPr>
          <p:nvPr/>
        </p:nvSpPr>
        <p:spPr bwMode="auto">
          <a:xfrm>
            <a:off x="2641600" y="4348163"/>
            <a:ext cx="0" cy="268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5" name="Line 40"/>
          <p:cNvSpPr>
            <a:spLocks noChangeShapeType="1"/>
          </p:cNvSpPr>
          <p:nvPr/>
        </p:nvSpPr>
        <p:spPr bwMode="auto">
          <a:xfrm>
            <a:off x="2641600" y="5024438"/>
            <a:ext cx="0" cy="2682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6" name="Line 41"/>
          <p:cNvSpPr>
            <a:spLocks noChangeShapeType="1"/>
          </p:cNvSpPr>
          <p:nvPr/>
        </p:nvSpPr>
        <p:spPr bwMode="auto">
          <a:xfrm>
            <a:off x="2641600" y="5700713"/>
            <a:ext cx="0" cy="4032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42"/>
          <p:cNvSpPr>
            <a:spLocks noChangeShapeType="1"/>
          </p:cNvSpPr>
          <p:nvPr/>
        </p:nvSpPr>
        <p:spPr bwMode="auto">
          <a:xfrm flipH="1">
            <a:off x="6354763" y="2794000"/>
            <a:ext cx="1587" cy="5461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Line 43"/>
          <p:cNvSpPr>
            <a:spLocks noChangeShapeType="1"/>
          </p:cNvSpPr>
          <p:nvPr/>
        </p:nvSpPr>
        <p:spPr bwMode="auto">
          <a:xfrm flipH="1">
            <a:off x="6354763" y="4686300"/>
            <a:ext cx="1587" cy="6111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39" name="Line 44"/>
          <p:cNvSpPr>
            <a:spLocks noChangeShapeType="1"/>
          </p:cNvSpPr>
          <p:nvPr/>
        </p:nvSpPr>
        <p:spPr bwMode="auto">
          <a:xfrm flipH="1">
            <a:off x="6354763" y="5632450"/>
            <a:ext cx="1587" cy="46831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0" name="Line 45"/>
          <p:cNvSpPr>
            <a:spLocks noChangeShapeType="1"/>
          </p:cNvSpPr>
          <p:nvPr/>
        </p:nvSpPr>
        <p:spPr bwMode="auto">
          <a:xfrm flipH="1">
            <a:off x="6354763" y="3740150"/>
            <a:ext cx="1587" cy="52387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1" name="Line 46"/>
          <p:cNvSpPr>
            <a:spLocks noChangeShapeType="1"/>
          </p:cNvSpPr>
          <p:nvPr/>
        </p:nvSpPr>
        <p:spPr bwMode="auto">
          <a:xfrm>
            <a:off x="2641600" y="2233613"/>
            <a:ext cx="0" cy="3540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Rectangle 47"/>
          <p:cNvSpPr>
            <a:spLocks noChangeArrowheads="1"/>
          </p:cNvSpPr>
          <p:nvPr/>
        </p:nvSpPr>
        <p:spPr bwMode="auto">
          <a:xfrm>
            <a:off x="2019300" y="1849438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3" name="Rectangle 48"/>
          <p:cNvSpPr>
            <a:spLocks noChangeArrowheads="1"/>
          </p:cNvSpPr>
          <p:nvPr/>
        </p:nvSpPr>
        <p:spPr bwMode="auto">
          <a:xfrm>
            <a:off x="2146300" y="1827213"/>
            <a:ext cx="10001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socket()</a:t>
            </a:r>
          </a:p>
        </p:txBody>
      </p:sp>
      <p:sp>
        <p:nvSpPr>
          <p:cNvPr id="21544" name="Line 55"/>
          <p:cNvSpPr>
            <a:spLocks noChangeShapeType="1"/>
          </p:cNvSpPr>
          <p:nvPr/>
        </p:nvSpPr>
        <p:spPr bwMode="auto">
          <a:xfrm>
            <a:off x="7696200" y="2714625"/>
            <a:ext cx="0" cy="2308225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45" name="Line 56"/>
          <p:cNvSpPr>
            <a:spLocks noChangeShapeType="1"/>
          </p:cNvSpPr>
          <p:nvPr/>
        </p:nvSpPr>
        <p:spPr bwMode="auto">
          <a:xfrm>
            <a:off x="1295400" y="3179763"/>
            <a:ext cx="0" cy="2079625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 type="none" w="sm" len="sm"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3365500" y="3179763"/>
            <a:ext cx="2390775" cy="981075"/>
            <a:chOff x="2120" y="1851"/>
            <a:chExt cx="1506" cy="618"/>
          </a:xfrm>
        </p:grpSpPr>
        <p:sp>
          <p:nvSpPr>
            <p:cNvPr id="21583" name="Line 49"/>
            <p:cNvSpPr>
              <a:spLocks noChangeShapeType="1"/>
            </p:cNvSpPr>
            <p:nvPr/>
          </p:nvSpPr>
          <p:spPr bwMode="auto">
            <a:xfrm flipH="1">
              <a:off x="2120" y="2080"/>
              <a:ext cx="1496" cy="38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4" name="Text Box 57"/>
            <p:cNvSpPr txBox="1">
              <a:spLocks noChangeArrowheads="1"/>
            </p:cNvSpPr>
            <p:nvPr/>
          </p:nvSpPr>
          <p:spPr bwMode="auto">
            <a:xfrm>
              <a:off x="2198" y="1851"/>
              <a:ext cx="1428" cy="23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>
                  <a:solidFill>
                    <a:srgbClr val="FF0000"/>
                  </a:solidFill>
                  <a:latin typeface="Times New Roman" pitchFamily="18" charset="0"/>
                </a:rPr>
                <a:t>1: Connection Request</a:t>
              </a:r>
              <a:endParaRPr kumimoji="1" lang="en-US" altLang="ja-JP" sz="20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" name="Group 64"/>
          <p:cNvGrpSpPr>
            <a:grpSpLocks/>
          </p:cNvGrpSpPr>
          <p:nvPr/>
        </p:nvGrpSpPr>
        <p:grpSpPr bwMode="auto">
          <a:xfrm>
            <a:off x="3390900" y="4498975"/>
            <a:ext cx="2349500" cy="576263"/>
            <a:chOff x="2136" y="2682"/>
            <a:chExt cx="1480" cy="363"/>
          </a:xfrm>
        </p:grpSpPr>
        <p:sp>
          <p:nvSpPr>
            <p:cNvPr id="21581" name="Line 50"/>
            <p:cNvSpPr>
              <a:spLocks noChangeShapeType="1"/>
            </p:cNvSpPr>
            <p:nvPr/>
          </p:nvSpPr>
          <p:spPr bwMode="auto">
            <a:xfrm flipH="1">
              <a:off x="2136" y="2682"/>
              <a:ext cx="1480" cy="20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2" name="Text Box 58"/>
            <p:cNvSpPr txBox="1">
              <a:spLocks noChangeArrowheads="1"/>
            </p:cNvSpPr>
            <p:nvPr/>
          </p:nvSpPr>
          <p:spPr bwMode="auto">
            <a:xfrm>
              <a:off x="2254" y="2795"/>
              <a:ext cx="1140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>
                  <a:solidFill>
                    <a:srgbClr val="FF0000"/>
                  </a:solidFill>
                  <a:latin typeface="Times New Roman" pitchFamily="18" charset="0"/>
                </a:rPr>
                <a:t>2. Send a request</a:t>
              </a:r>
              <a:r>
                <a:rPr kumimoji="1" lang="en-US" altLang="ja-JP" sz="2000">
                  <a:latin typeface="Times New Roman" pitchFamily="18" charset="0"/>
                </a:rPr>
                <a:t> </a:t>
              </a:r>
            </a:p>
          </p:txBody>
        </p:sp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3327400" y="5427663"/>
            <a:ext cx="2301875" cy="423862"/>
            <a:chOff x="2096" y="3267"/>
            <a:chExt cx="1450" cy="267"/>
          </a:xfrm>
        </p:grpSpPr>
        <p:sp>
          <p:nvSpPr>
            <p:cNvPr id="21579" name="Line 51"/>
            <p:cNvSpPr>
              <a:spLocks noChangeShapeType="1"/>
            </p:cNvSpPr>
            <p:nvPr/>
          </p:nvSpPr>
          <p:spPr bwMode="auto">
            <a:xfrm flipV="1">
              <a:off x="2096" y="3267"/>
              <a:ext cx="1450" cy="3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none" w="sm" len="sm"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80" name="Text Box 59"/>
            <p:cNvSpPr txBox="1">
              <a:spLocks noChangeArrowheads="1"/>
            </p:cNvSpPr>
            <p:nvPr/>
          </p:nvSpPr>
          <p:spPr bwMode="auto">
            <a:xfrm>
              <a:off x="2198" y="3301"/>
              <a:ext cx="888" cy="23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dirty="0">
                  <a:solidFill>
                    <a:schemeClr val="accent2"/>
                  </a:solidFill>
                  <a:latin typeface="Times New Roman" pitchFamily="18" charset="0"/>
                </a:rPr>
                <a:t>3. Send reply</a:t>
              </a:r>
              <a:endParaRPr kumimoji="1" lang="en-US" altLang="ja-JP" sz="2000" dirty="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</p:grpSp>
      <p:sp>
        <p:nvSpPr>
          <p:cNvPr id="5180" name="Rectangle 60"/>
          <p:cNvSpPr>
            <a:spLocks noChangeArrowheads="1"/>
          </p:cNvSpPr>
          <p:nvPr/>
        </p:nvSpPr>
        <p:spPr bwMode="auto">
          <a:xfrm>
            <a:off x="1828800" y="1801813"/>
            <a:ext cx="1622425" cy="2659062"/>
          </a:xfrm>
          <a:prstGeom prst="rect">
            <a:avLst/>
          </a:prstGeom>
          <a:noFill/>
          <a:ln w="9525">
            <a:solidFill>
              <a:schemeClr val="accent2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50" name="Rectangle 29"/>
          <p:cNvSpPr>
            <a:spLocks noChangeArrowheads="1"/>
          </p:cNvSpPr>
          <p:nvPr/>
        </p:nvSpPr>
        <p:spPr bwMode="auto">
          <a:xfrm>
            <a:off x="5743575" y="5259388"/>
            <a:ext cx="1301750" cy="396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51" name="Rectangle 35"/>
          <p:cNvSpPr>
            <a:spLocks noChangeArrowheads="1"/>
          </p:cNvSpPr>
          <p:nvPr/>
        </p:nvSpPr>
        <p:spPr bwMode="auto">
          <a:xfrm>
            <a:off x="5932488" y="5240338"/>
            <a:ext cx="796693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 dirty="0" err="1">
                <a:latin typeface="Times New Roman" pitchFamily="18" charset="0"/>
              </a:rPr>
              <a:t>recv</a:t>
            </a:r>
            <a:r>
              <a:rPr kumimoji="1" lang="en-US" altLang="ja-JP" sz="2000" dirty="0">
                <a:latin typeface="Times New Roman" pitchFamily="18" charset="0"/>
              </a:rPr>
              <a:t>()</a:t>
            </a:r>
          </a:p>
        </p:txBody>
      </p:sp>
      <p:grpSp>
        <p:nvGrpSpPr>
          <p:cNvPr id="5" name="Group 67"/>
          <p:cNvGrpSpPr>
            <a:grpSpLocks/>
          </p:cNvGrpSpPr>
          <p:nvPr/>
        </p:nvGrpSpPr>
        <p:grpSpPr bwMode="auto">
          <a:xfrm>
            <a:off x="1600200" y="1625600"/>
            <a:ext cx="6999288" cy="4211638"/>
            <a:chOff x="1008" y="872"/>
            <a:chExt cx="4409" cy="2653"/>
          </a:xfrm>
        </p:grpSpPr>
        <p:sp>
          <p:nvSpPr>
            <p:cNvPr id="21574" name="Text Box 10"/>
            <p:cNvSpPr txBox="1">
              <a:spLocks noChangeArrowheads="1"/>
            </p:cNvSpPr>
            <p:nvPr/>
          </p:nvSpPr>
          <p:spPr bwMode="auto">
            <a:xfrm>
              <a:off x="2880" y="872"/>
              <a:ext cx="2537" cy="25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2000">
                  <a:latin typeface="Times New Roman" pitchFamily="18" charset="0"/>
                </a:rPr>
                <a:t>“*” indicates a blocking function call.</a:t>
              </a:r>
            </a:p>
          </p:txBody>
        </p:sp>
        <p:sp>
          <p:nvSpPr>
            <p:cNvPr id="21575" name="Text Box 52"/>
            <p:cNvSpPr txBox="1">
              <a:spLocks noChangeArrowheads="1"/>
            </p:cNvSpPr>
            <p:nvPr/>
          </p:nvSpPr>
          <p:spPr bwMode="auto">
            <a:xfrm>
              <a:off x="1046" y="2309"/>
              <a:ext cx="244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32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21576" name="Text Box 53"/>
            <p:cNvSpPr txBox="1">
              <a:spLocks noChangeArrowheads="1"/>
            </p:cNvSpPr>
            <p:nvPr/>
          </p:nvSpPr>
          <p:spPr bwMode="auto">
            <a:xfrm>
              <a:off x="4406" y="1898"/>
              <a:ext cx="244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3200">
                  <a:latin typeface="Times New Roman" pitchFamily="18" charset="0"/>
                </a:rPr>
                <a:t>*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sp>
          <p:nvSpPr>
            <p:cNvPr id="21577" name="Text Box 54"/>
            <p:cNvSpPr txBox="1">
              <a:spLocks noChangeArrowheads="1"/>
            </p:cNvSpPr>
            <p:nvPr/>
          </p:nvSpPr>
          <p:spPr bwMode="auto">
            <a:xfrm>
              <a:off x="4416" y="2536"/>
              <a:ext cx="244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3200" dirty="0">
                  <a:latin typeface="Times New Roman" pitchFamily="18" charset="0"/>
                </a:rPr>
                <a:t>*</a:t>
              </a:r>
              <a:endParaRPr kumimoji="1" lang="en-US" altLang="ja-JP" sz="2000" dirty="0">
                <a:latin typeface="Times New Roman" pitchFamily="18" charset="0"/>
              </a:endParaRPr>
            </a:p>
          </p:txBody>
        </p:sp>
        <p:sp>
          <p:nvSpPr>
            <p:cNvPr id="21578" name="Text Box 61"/>
            <p:cNvSpPr txBox="1">
              <a:spLocks noChangeArrowheads="1"/>
            </p:cNvSpPr>
            <p:nvPr/>
          </p:nvSpPr>
          <p:spPr bwMode="auto">
            <a:xfrm>
              <a:off x="1008" y="3160"/>
              <a:ext cx="244" cy="365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defTabSz="762000"/>
              <a:r>
                <a:rPr kumimoji="1" lang="en-US" altLang="ja-JP" sz="3200" dirty="0">
                  <a:latin typeface="Times New Roman" pitchFamily="18" charset="0"/>
                </a:rPr>
                <a:t>*</a:t>
              </a:r>
              <a:endParaRPr kumimoji="1" lang="en-US" altLang="ja-JP" sz="2000" dirty="0">
                <a:latin typeface="Times New Roman" pitchFamily="18" charset="0"/>
              </a:endParaRPr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3276600" y="3670300"/>
            <a:ext cx="2397125" cy="620713"/>
            <a:chOff x="2064" y="2160"/>
            <a:chExt cx="1510" cy="391"/>
          </a:xfrm>
        </p:grpSpPr>
        <p:sp>
          <p:nvSpPr>
            <p:cNvPr id="21572" name="Line 62"/>
            <p:cNvSpPr>
              <a:spLocks noChangeShapeType="1"/>
            </p:cNvSpPr>
            <p:nvPr/>
          </p:nvSpPr>
          <p:spPr bwMode="auto">
            <a:xfrm flipV="1">
              <a:off x="2064" y="2160"/>
              <a:ext cx="1504" cy="38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Text Box 70"/>
            <p:cNvSpPr txBox="1">
              <a:spLocks noChangeArrowheads="1"/>
            </p:cNvSpPr>
            <p:nvPr/>
          </p:nvSpPr>
          <p:spPr bwMode="auto">
            <a:xfrm rot="-917746">
              <a:off x="2158" y="2320"/>
              <a:ext cx="141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>
                  <a:solidFill>
                    <a:schemeClr val="accent2"/>
                  </a:solidFill>
                  <a:latin typeface="Times New Roman" pitchFamily="18" charset="0"/>
                </a:rPr>
                <a:t>Request Acknowledge</a:t>
              </a:r>
            </a:p>
          </p:txBody>
        </p:sp>
      </p:grpSp>
      <p:sp>
        <p:nvSpPr>
          <p:cNvPr id="5193" name="Line 73"/>
          <p:cNvSpPr>
            <a:spLocks noChangeShapeType="1"/>
          </p:cNvSpPr>
          <p:nvPr/>
        </p:nvSpPr>
        <p:spPr bwMode="auto">
          <a:xfrm>
            <a:off x="2146300" y="2222500"/>
            <a:ext cx="0" cy="1866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4" name="Line 74"/>
          <p:cNvSpPr>
            <a:spLocks noChangeShapeType="1"/>
          </p:cNvSpPr>
          <p:nvPr/>
        </p:nvSpPr>
        <p:spPr bwMode="auto">
          <a:xfrm>
            <a:off x="6870700" y="2679700"/>
            <a:ext cx="0" cy="838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5" name="Line 75"/>
          <p:cNvSpPr>
            <a:spLocks noChangeShapeType="1"/>
          </p:cNvSpPr>
          <p:nvPr/>
        </p:nvSpPr>
        <p:spPr bwMode="auto">
          <a:xfrm>
            <a:off x="6858000" y="3644900"/>
            <a:ext cx="0" cy="8255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6" name="Line 76"/>
          <p:cNvSpPr>
            <a:spLocks noChangeShapeType="1"/>
          </p:cNvSpPr>
          <p:nvPr/>
        </p:nvSpPr>
        <p:spPr bwMode="auto">
          <a:xfrm flipH="1">
            <a:off x="2146300" y="4241800"/>
            <a:ext cx="0" cy="5080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7" name="Line 77"/>
          <p:cNvSpPr>
            <a:spLocks noChangeShapeType="1"/>
          </p:cNvSpPr>
          <p:nvPr/>
        </p:nvSpPr>
        <p:spPr bwMode="auto">
          <a:xfrm>
            <a:off x="6845300" y="4572000"/>
            <a:ext cx="0" cy="7874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8" name="Line 78"/>
          <p:cNvSpPr>
            <a:spLocks noChangeShapeType="1"/>
          </p:cNvSpPr>
          <p:nvPr/>
        </p:nvSpPr>
        <p:spPr bwMode="auto">
          <a:xfrm>
            <a:off x="2146300" y="4838700"/>
            <a:ext cx="0" cy="6096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199" name="Line 79"/>
          <p:cNvSpPr>
            <a:spLocks noChangeShapeType="1"/>
          </p:cNvSpPr>
          <p:nvPr/>
        </p:nvSpPr>
        <p:spPr bwMode="auto">
          <a:xfrm>
            <a:off x="6845300" y="5524500"/>
            <a:ext cx="0" cy="7239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200" name="Line 80"/>
          <p:cNvSpPr>
            <a:spLocks noChangeShapeType="1"/>
          </p:cNvSpPr>
          <p:nvPr/>
        </p:nvSpPr>
        <p:spPr bwMode="auto">
          <a:xfrm>
            <a:off x="2133600" y="5562600"/>
            <a:ext cx="0" cy="7112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562" name="Line 81"/>
          <p:cNvSpPr>
            <a:spLocks noChangeShapeType="1"/>
          </p:cNvSpPr>
          <p:nvPr/>
        </p:nvSpPr>
        <p:spPr bwMode="auto">
          <a:xfrm>
            <a:off x="228600" y="7366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88"/>
          <p:cNvGrpSpPr>
            <a:grpSpLocks/>
          </p:cNvGrpSpPr>
          <p:nvPr/>
        </p:nvGrpSpPr>
        <p:grpSpPr bwMode="auto">
          <a:xfrm>
            <a:off x="330200" y="966788"/>
            <a:ext cx="4300538" cy="396875"/>
            <a:chOff x="208" y="609"/>
            <a:chExt cx="2709" cy="250"/>
          </a:xfrm>
        </p:grpSpPr>
        <p:sp>
          <p:nvSpPr>
            <p:cNvPr id="5207" name="AutoShape 87"/>
            <p:cNvSpPr>
              <a:spLocks noChangeArrowheads="1"/>
            </p:cNvSpPr>
            <p:nvPr/>
          </p:nvSpPr>
          <p:spPr bwMode="auto">
            <a:xfrm>
              <a:off x="208" y="640"/>
              <a:ext cx="2376" cy="208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571" name="Text Box 86"/>
            <p:cNvSpPr txBox="1">
              <a:spLocks noChangeArrowheads="1"/>
            </p:cNvSpPr>
            <p:nvPr/>
          </p:nvSpPr>
          <p:spPr bwMode="auto">
            <a:xfrm>
              <a:off x="214" y="609"/>
              <a:ext cx="270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CC0066"/>
                  </a:solidFill>
                  <a:latin typeface="Times New Roman" pitchFamily="18" charset="0"/>
                </a:rPr>
                <a:t>TCP Client/Server Process Organization</a:t>
              </a:r>
            </a:p>
          </p:txBody>
        </p:sp>
      </p:grpSp>
      <p:sp>
        <p:nvSpPr>
          <p:cNvPr id="5210" name="Text Box 90"/>
          <p:cNvSpPr txBox="1">
            <a:spLocks noChangeArrowheads="1"/>
          </p:cNvSpPr>
          <p:nvPr/>
        </p:nvSpPr>
        <p:spPr bwMode="auto">
          <a:xfrm>
            <a:off x="4886325" y="1169988"/>
            <a:ext cx="3802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CC0066"/>
                </a:solidFill>
                <a:latin typeface="Times New Roman" pitchFamily="18" charset="0"/>
              </a:rPr>
              <a:t>Application Programming Interface</a:t>
            </a:r>
          </a:p>
        </p:txBody>
      </p: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3098800" y="839788"/>
            <a:ext cx="2114550" cy="1204912"/>
            <a:chOff x="1952" y="529"/>
            <a:chExt cx="1332" cy="759"/>
          </a:xfrm>
        </p:grpSpPr>
        <p:grpSp>
          <p:nvGrpSpPr>
            <p:cNvPr id="9" name="Group 93"/>
            <p:cNvGrpSpPr>
              <a:grpSpLocks/>
            </p:cNvGrpSpPr>
            <p:nvPr/>
          </p:nvGrpSpPr>
          <p:grpSpPr bwMode="auto">
            <a:xfrm>
              <a:off x="2910" y="529"/>
              <a:ext cx="374" cy="250"/>
              <a:chOff x="2910" y="529"/>
              <a:chExt cx="374" cy="250"/>
            </a:xfrm>
          </p:grpSpPr>
          <p:sp>
            <p:nvSpPr>
              <p:cNvPr id="5212" name="AutoShape 92"/>
              <p:cNvSpPr>
                <a:spLocks noChangeArrowheads="1"/>
              </p:cNvSpPr>
              <p:nvPr/>
            </p:nvSpPr>
            <p:spPr bwMode="auto">
              <a:xfrm>
                <a:off x="2920" y="568"/>
                <a:ext cx="344" cy="184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1569" name="Text Box 91"/>
              <p:cNvSpPr txBox="1">
                <a:spLocks noChangeArrowheads="1"/>
              </p:cNvSpPr>
              <p:nvPr/>
            </p:nvSpPr>
            <p:spPr bwMode="auto">
              <a:xfrm>
                <a:off x="2910" y="529"/>
                <a:ext cx="37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CC0066"/>
                    </a:solidFill>
                    <a:latin typeface="Times New Roman" pitchFamily="18" charset="0"/>
                  </a:rPr>
                  <a:t>API</a:t>
                </a:r>
              </a:p>
            </p:txBody>
          </p:sp>
        </p:grpSp>
        <p:sp>
          <p:nvSpPr>
            <p:cNvPr id="21567" name="Line 94"/>
            <p:cNvSpPr>
              <a:spLocks noChangeShapeType="1"/>
            </p:cNvSpPr>
            <p:nvPr/>
          </p:nvSpPr>
          <p:spPr bwMode="auto">
            <a:xfrm flipH="1">
              <a:off x="1952" y="680"/>
              <a:ext cx="968" cy="608"/>
            </a:xfrm>
            <a:prstGeom prst="line">
              <a:avLst/>
            </a:prstGeom>
            <a:noFill/>
            <a:ln w="28575">
              <a:solidFill>
                <a:srgbClr val="CC0066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0" grpId="0" animBg="1"/>
      <p:bldP spid="5193" grpId="0" animBg="1"/>
      <p:bldP spid="5194" grpId="0" animBg="1"/>
      <p:bldP spid="5195" grpId="0" animBg="1"/>
      <p:bldP spid="5196" grpId="0" animBg="1"/>
      <p:bldP spid="5197" grpId="0" animBg="1"/>
      <p:bldP spid="5198" grpId="0" animBg="1"/>
      <p:bldP spid="5199" grpId="0" animBg="1"/>
      <p:bldP spid="5200" grpId="0" animBg="1"/>
      <p:bldP spid="52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8179721-7F4D-476F-AD77-37C42AF4311B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253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18FDBA5-C64A-4E56-B6CD-3356448CF88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2534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14475"/>
            <a:ext cx="2500313" cy="457200"/>
            <a:chOff x="1640" y="2778"/>
            <a:chExt cx="1575" cy="288"/>
          </a:xfrm>
        </p:grpSpPr>
        <p:sp>
          <p:nvSpPr>
            <p:cNvPr id="93189" name="AutoShape 5"/>
            <p:cNvSpPr>
              <a:spLocks noChangeArrowheads="1"/>
            </p:cNvSpPr>
            <p:nvPr/>
          </p:nvSpPr>
          <p:spPr bwMode="auto">
            <a:xfrm>
              <a:off x="1640" y="2808"/>
              <a:ext cx="1552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561" name="Text Box 6"/>
            <p:cNvSpPr txBox="1">
              <a:spLocks noChangeArrowheads="1"/>
            </p:cNvSpPr>
            <p:nvPr/>
          </p:nvSpPr>
          <p:spPr bwMode="auto">
            <a:xfrm>
              <a:off x="1654" y="2778"/>
              <a:ext cx="15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socket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504825" y="3076575"/>
            <a:ext cx="8286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400" i="1">
                <a:latin typeface="Times New Roman" pitchFamily="18" charset="0"/>
              </a:rPr>
              <a:t>unsigned int</a:t>
            </a:r>
            <a:r>
              <a:rPr kumimoji="1" lang="en-US" altLang="ja-JP" sz="2400">
                <a:latin typeface="Times New Roman" pitchFamily="18" charset="0"/>
              </a:rPr>
              <a:t> socket_id = </a:t>
            </a:r>
            <a:r>
              <a:rPr kumimoji="1" lang="en-US" altLang="ja-JP" sz="2400" b="1" i="1">
                <a:latin typeface="Times New Roman" pitchFamily="18" charset="0"/>
              </a:rPr>
              <a:t>socket</a:t>
            </a:r>
            <a:r>
              <a:rPr kumimoji="1" lang="en-US" altLang="ja-JP" sz="2400">
                <a:latin typeface="Times New Roman" pitchFamily="18" charset="0"/>
              </a:rPr>
              <a:t> (AF_INET, SOCK_STREAM, 0);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15925" y="3543300"/>
            <a:ext cx="5375275" cy="739775"/>
            <a:chOff x="262" y="2232"/>
            <a:chExt cx="3386" cy="466"/>
          </a:xfrm>
        </p:grpSpPr>
        <p:sp>
          <p:nvSpPr>
            <p:cNvPr id="22555" name="Text Box 9"/>
            <p:cNvSpPr txBox="1">
              <a:spLocks noChangeArrowheads="1"/>
            </p:cNvSpPr>
            <p:nvPr/>
          </p:nvSpPr>
          <p:spPr bwMode="auto">
            <a:xfrm>
              <a:off x="262" y="2448"/>
              <a:ext cx="20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“AF_INET” = Use IP protocol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320" y="2232"/>
              <a:ext cx="1328" cy="344"/>
              <a:chOff x="2320" y="2232"/>
              <a:chExt cx="1328" cy="344"/>
            </a:xfrm>
          </p:grpSpPr>
          <p:sp>
            <p:nvSpPr>
              <p:cNvPr id="22557" name="Line 11"/>
              <p:cNvSpPr>
                <a:spLocks noChangeShapeType="1"/>
              </p:cNvSpPr>
              <p:nvPr/>
            </p:nvSpPr>
            <p:spPr bwMode="auto">
              <a:xfrm>
                <a:off x="2872" y="2232"/>
                <a:ext cx="77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8" name="Line 12"/>
              <p:cNvSpPr>
                <a:spLocks noChangeShapeType="1"/>
              </p:cNvSpPr>
              <p:nvPr/>
            </p:nvSpPr>
            <p:spPr bwMode="auto">
              <a:xfrm>
                <a:off x="2320" y="2576"/>
                <a:ext cx="688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9" name="Line 13"/>
              <p:cNvSpPr>
                <a:spLocks noChangeShapeType="1"/>
              </p:cNvSpPr>
              <p:nvPr/>
            </p:nvSpPr>
            <p:spPr bwMode="auto">
              <a:xfrm flipV="1">
                <a:off x="3008" y="2248"/>
                <a:ext cx="240" cy="3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555625" y="3543300"/>
            <a:ext cx="7623175" cy="1465263"/>
            <a:chOff x="350" y="2232"/>
            <a:chExt cx="4802" cy="923"/>
          </a:xfrm>
        </p:grpSpPr>
        <p:sp>
          <p:nvSpPr>
            <p:cNvPr id="22550" name="Text Box 15"/>
            <p:cNvSpPr txBox="1">
              <a:spLocks noChangeArrowheads="1"/>
            </p:cNvSpPr>
            <p:nvPr/>
          </p:nvSpPr>
          <p:spPr bwMode="auto">
            <a:xfrm>
              <a:off x="350" y="2905"/>
              <a:ext cx="216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“SOCK_STREAM” = Use TCP</a:t>
              </a:r>
            </a:p>
          </p:txBody>
        </p: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2488" y="2232"/>
              <a:ext cx="2664" cy="800"/>
              <a:chOff x="2496" y="1872"/>
              <a:chExt cx="2664" cy="800"/>
            </a:xfrm>
          </p:grpSpPr>
          <p:sp>
            <p:nvSpPr>
              <p:cNvPr id="22552" name="Line 17"/>
              <p:cNvSpPr>
                <a:spLocks noChangeShapeType="1"/>
              </p:cNvSpPr>
              <p:nvPr/>
            </p:nvSpPr>
            <p:spPr bwMode="auto">
              <a:xfrm>
                <a:off x="3800" y="1872"/>
                <a:ext cx="136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3" name="Line 18"/>
              <p:cNvSpPr>
                <a:spLocks noChangeShapeType="1"/>
              </p:cNvSpPr>
              <p:nvPr/>
            </p:nvSpPr>
            <p:spPr bwMode="auto">
              <a:xfrm>
                <a:off x="2496" y="2672"/>
                <a:ext cx="140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54" name="Line 19"/>
              <p:cNvSpPr>
                <a:spLocks noChangeShapeType="1"/>
              </p:cNvSpPr>
              <p:nvPr/>
            </p:nvSpPr>
            <p:spPr bwMode="auto">
              <a:xfrm flipV="1">
                <a:off x="3888" y="1896"/>
                <a:ext cx="472" cy="77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444500" y="1766888"/>
            <a:ext cx="7472363" cy="1776412"/>
            <a:chOff x="280" y="1113"/>
            <a:chExt cx="4707" cy="1119"/>
          </a:xfrm>
        </p:grpSpPr>
        <p:sp>
          <p:nvSpPr>
            <p:cNvPr id="22545" name="AutoShape 21"/>
            <p:cNvSpPr>
              <a:spLocks noChangeArrowheads="1"/>
            </p:cNvSpPr>
            <p:nvPr/>
          </p:nvSpPr>
          <p:spPr bwMode="auto">
            <a:xfrm>
              <a:off x="280" y="1976"/>
              <a:ext cx="1872" cy="25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6" name="Text Box 22"/>
            <p:cNvSpPr txBox="1">
              <a:spLocks noChangeArrowheads="1"/>
            </p:cNvSpPr>
            <p:nvPr/>
          </p:nvSpPr>
          <p:spPr bwMode="auto">
            <a:xfrm>
              <a:off x="2998" y="1113"/>
              <a:ext cx="19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Returns socket ID on success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8" name="Group 23"/>
            <p:cNvGrpSpPr>
              <a:grpSpLocks/>
            </p:cNvGrpSpPr>
            <p:nvPr/>
          </p:nvGrpSpPr>
          <p:grpSpPr bwMode="auto">
            <a:xfrm>
              <a:off x="1976" y="1240"/>
              <a:ext cx="1032" cy="688"/>
              <a:chOff x="1976" y="1240"/>
              <a:chExt cx="1032" cy="688"/>
            </a:xfrm>
          </p:grpSpPr>
          <p:sp>
            <p:nvSpPr>
              <p:cNvPr id="22548" name="Line 24"/>
              <p:cNvSpPr>
                <a:spLocks noChangeShapeType="1"/>
              </p:cNvSpPr>
              <p:nvPr/>
            </p:nvSpPr>
            <p:spPr bwMode="auto">
              <a:xfrm flipH="1">
                <a:off x="2632" y="1248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49" name="Line 25"/>
              <p:cNvSpPr>
                <a:spLocks noChangeShapeType="1"/>
              </p:cNvSpPr>
              <p:nvPr/>
            </p:nvSpPr>
            <p:spPr bwMode="auto">
              <a:xfrm flipH="1">
                <a:off x="1976" y="1240"/>
                <a:ext cx="656" cy="688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4010025" y="3543300"/>
            <a:ext cx="4524375" cy="2252663"/>
            <a:chOff x="2526" y="2232"/>
            <a:chExt cx="2850" cy="1419"/>
          </a:xfrm>
        </p:grpSpPr>
        <p:sp>
          <p:nvSpPr>
            <p:cNvPr id="22541" name="Text Box 27"/>
            <p:cNvSpPr txBox="1">
              <a:spLocks noChangeArrowheads="1"/>
            </p:cNvSpPr>
            <p:nvPr/>
          </p:nvSpPr>
          <p:spPr bwMode="auto">
            <a:xfrm>
              <a:off x="2526" y="3401"/>
              <a:ext cx="72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latin typeface="Times New Roman" pitchFamily="18" charset="0"/>
                </a:rPr>
                <a:t>Always 0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  <p:sp>
          <p:nvSpPr>
            <p:cNvPr id="22542" name="Line 28"/>
            <p:cNvSpPr>
              <a:spLocks noChangeShapeType="1"/>
            </p:cNvSpPr>
            <p:nvPr/>
          </p:nvSpPr>
          <p:spPr bwMode="auto">
            <a:xfrm flipV="1">
              <a:off x="5240" y="223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3" name="Line 29"/>
            <p:cNvSpPr>
              <a:spLocks noChangeShapeType="1"/>
            </p:cNvSpPr>
            <p:nvPr/>
          </p:nvSpPr>
          <p:spPr bwMode="auto">
            <a:xfrm>
              <a:off x="3224" y="3536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4" name="Line 30"/>
            <p:cNvSpPr>
              <a:spLocks noChangeShapeType="1"/>
            </p:cNvSpPr>
            <p:nvPr/>
          </p:nvSpPr>
          <p:spPr bwMode="auto">
            <a:xfrm flipV="1">
              <a:off x="4648" y="2240"/>
              <a:ext cx="656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391395D-5920-40F4-85B2-8CCDBD80FEBC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355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0DE5FF5-A0ED-4554-8463-73321F762460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283" name="Rectangle 43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3558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1574800" y="26336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431800" y="1304925"/>
            <a:ext cx="2133600" cy="396875"/>
            <a:chOff x="272" y="822"/>
            <a:chExt cx="1344" cy="250"/>
          </a:xfrm>
        </p:grpSpPr>
        <p:sp>
          <p:nvSpPr>
            <p:cNvPr id="10279" name="AutoShape 39"/>
            <p:cNvSpPr>
              <a:spLocks noChangeArrowheads="1"/>
            </p:cNvSpPr>
            <p:nvPr/>
          </p:nvSpPr>
          <p:spPr bwMode="auto">
            <a:xfrm>
              <a:off x="272" y="848"/>
              <a:ext cx="1344" cy="2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86" name="Rectangle 16"/>
            <p:cNvSpPr>
              <a:spLocks noChangeArrowheads="1"/>
            </p:cNvSpPr>
            <p:nvPr/>
          </p:nvSpPr>
          <p:spPr bwMode="auto">
            <a:xfrm>
              <a:off x="283" y="822"/>
              <a:ext cx="131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Step 2</a:t>
              </a:r>
              <a:r>
                <a:rPr kumimoji="1" lang="en-US" altLang="ja-JP" sz="2000">
                  <a:latin typeface="Times New Roman" pitchFamily="18" charset="0"/>
                </a:rPr>
                <a:t>: </a:t>
              </a:r>
              <a:r>
                <a:rPr kumimoji="1" lang="en-US" altLang="ja-JP" sz="2000" b="1" i="1">
                  <a:latin typeface="Times New Roman" pitchFamily="18" charset="0"/>
                </a:rPr>
                <a:t>bind</a:t>
              </a:r>
              <a:r>
                <a:rPr kumimoji="1" lang="en-US" altLang="ja-JP" sz="2000">
                  <a:latin typeface="Times New Roman" pitchFamily="18" charset="0"/>
                </a:rPr>
                <a:t>( ) call</a:t>
              </a:r>
            </a:p>
          </p:txBody>
        </p:sp>
      </p:grpSp>
      <p:sp>
        <p:nvSpPr>
          <p:cNvPr id="10257" name="Rectangle 17"/>
          <p:cNvSpPr>
            <a:spLocks noChangeArrowheads="1"/>
          </p:cNvSpPr>
          <p:nvPr/>
        </p:nvSpPr>
        <p:spPr bwMode="auto">
          <a:xfrm>
            <a:off x="730250" y="5781675"/>
            <a:ext cx="4756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It connects a process to a specific port</a:t>
            </a:r>
          </a:p>
        </p:txBody>
      </p:sp>
      <p:sp>
        <p:nvSpPr>
          <p:cNvPr id="23562" name="Text Box 20"/>
          <p:cNvSpPr txBox="1">
            <a:spLocks noChangeArrowheads="1"/>
          </p:cNvSpPr>
          <p:nvPr/>
        </p:nvSpPr>
        <p:spPr bwMode="auto">
          <a:xfrm>
            <a:off x="1431925" y="2109788"/>
            <a:ext cx="20272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>
                <a:latin typeface="Times New Roman" pitchFamily="18" charset="0"/>
              </a:rPr>
              <a:t>After </a:t>
            </a:r>
            <a:r>
              <a:rPr kumimoji="1" lang="en-US" altLang="ja-JP" sz="2000" i="1">
                <a:latin typeface="Times New Roman" pitchFamily="18" charset="0"/>
              </a:rPr>
              <a:t>bind(_)</a:t>
            </a:r>
            <a:r>
              <a:rPr kumimoji="1" lang="en-US" altLang="ja-JP" sz="2000">
                <a:latin typeface="Times New Roman" pitchFamily="18" charset="0"/>
              </a:rPr>
              <a:t> call: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4467225" y="3987800"/>
            <a:ext cx="152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>
                <a:latin typeface="Times New Roman" pitchFamily="18" charset="0"/>
              </a:rPr>
              <a:t>Port Numbers:</a:t>
            </a:r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4911725" y="4445000"/>
            <a:ext cx="25812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u="sng">
                <a:solidFill>
                  <a:srgbClr val="FF6600"/>
                </a:solidFill>
                <a:latin typeface="Times New Roman" pitchFamily="18" charset="0"/>
              </a:rPr>
              <a:t>0~1023: System Reserved</a:t>
            </a:r>
          </a:p>
          <a:p>
            <a:r>
              <a:rPr kumimoji="1" lang="en-US">
                <a:solidFill>
                  <a:srgbClr val="FF6600"/>
                </a:solidFill>
                <a:latin typeface="Times New Roman" pitchFamily="18" charset="0"/>
              </a:rPr>
              <a:t>      Port 21: FTP</a:t>
            </a:r>
          </a:p>
          <a:p>
            <a:r>
              <a:rPr kumimoji="1" lang="en-US">
                <a:solidFill>
                  <a:srgbClr val="FF6600"/>
                </a:solidFill>
                <a:latin typeface="Times New Roman" pitchFamily="18" charset="0"/>
              </a:rPr>
              <a:t>      Port 23: telnet</a:t>
            </a:r>
          </a:p>
          <a:p>
            <a:r>
              <a:rPr kumimoji="1" lang="en-US">
                <a:solidFill>
                  <a:srgbClr val="FF6600"/>
                </a:solidFill>
                <a:latin typeface="Times New Roman" pitchFamily="18" charset="0"/>
              </a:rPr>
              <a:t>      Port 80: HTTP</a:t>
            </a:r>
          </a:p>
        </p:txBody>
      </p:sp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4949825" y="5676900"/>
            <a:ext cx="3340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u="sng">
                <a:solidFill>
                  <a:srgbClr val="006600"/>
                </a:solidFill>
                <a:latin typeface="Times New Roman" pitchFamily="18" charset="0"/>
              </a:rPr>
              <a:t>1024 and above: available to users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3790950" y="1830388"/>
            <a:ext cx="1155700" cy="1152525"/>
            <a:chOff x="2388" y="1153"/>
            <a:chExt cx="728" cy="726"/>
          </a:xfrm>
        </p:grpSpPr>
        <p:sp>
          <p:nvSpPr>
            <p:cNvPr id="23583" name="Text Box 30"/>
            <p:cNvSpPr txBox="1">
              <a:spLocks noChangeArrowheads="1"/>
            </p:cNvSpPr>
            <p:nvPr/>
          </p:nvSpPr>
          <p:spPr bwMode="auto">
            <a:xfrm>
              <a:off x="2734" y="1153"/>
              <a:ext cx="38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latin typeface="Times New Roman" pitchFamily="18" charset="0"/>
                </a:rPr>
                <a:t>Port</a:t>
              </a:r>
            </a:p>
          </p:txBody>
        </p:sp>
        <p:cxnSp>
          <p:nvCxnSpPr>
            <p:cNvPr id="23584" name="AutoShape 31"/>
            <p:cNvCxnSpPr>
              <a:cxnSpLocks noChangeShapeType="1"/>
              <a:stCxn id="23583" idx="1"/>
            </p:cNvCxnSpPr>
            <p:nvPr/>
          </p:nvCxnSpPr>
          <p:spPr bwMode="auto">
            <a:xfrm rot="10800000" flipV="1">
              <a:off x="2388" y="1278"/>
              <a:ext cx="346" cy="601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4" name="Group 36"/>
          <p:cNvGrpSpPr>
            <a:grpSpLocks/>
          </p:cNvGrpSpPr>
          <p:nvPr/>
        </p:nvGrpSpPr>
        <p:grpSpPr bwMode="auto">
          <a:xfrm>
            <a:off x="4368800" y="2325688"/>
            <a:ext cx="3987800" cy="1573212"/>
            <a:chOff x="2752" y="1353"/>
            <a:chExt cx="2512" cy="991"/>
          </a:xfrm>
        </p:grpSpPr>
        <p:sp>
          <p:nvSpPr>
            <p:cNvPr id="10273" name="AutoShape 33"/>
            <p:cNvSpPr>
              <a:spLocks noChangeArrowheads="1"/>
            </p:cNvSpPr>
            <p:nvPr/>
          </p:nvSpPr>
          <p:spPr bwMode="auto">
            <a:xfrm>
              <a:off x="2752" y="1376"/>
              <a:ext cx="2512" cy="968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81" name="Text Box 34"/>
            <p:cNvSpPr txBox="1">
              <a:spLocks noChangeArrowheads="1"/>
            </p:cNvSpPr>
            <p:nvPr/>
          </p:nvSpPr>
          <p:spPr bwMode="auto">
            <a:xfrm>
              <a:off x="2846" y="1353"/>
              <a:ext cx="5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Port</a:t>
              </a:r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 =</a:t>
              </a:r>
            </a:p>
          </p:txBody>
        </p:sp>
        <p:sp>
          <p:nvSpPr>
            <p:cNvPr id="23582" name="Text Box 35"/>
            <p:cNvSpPr txBox="1">
              <a:spLocks noChangeArrowheads="1"/>
            </p:cNvSpPr>
            <p:nvPr/>
          </p:nvSpPr>
          <p:spPr bwMode="auto">
            <a:xfrm>
              <a:off x="2822" y="1657"/>
              <a:ext cx="2387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A </a:t>
              </a:r>
              <a:r>
                <a:rPr kumimoji="1" lang="en-US" sz="2000" u="sng">
                  <a:solidFill>
                    <a:srgbClr val="006600"/>
                  </a:solidFill>
                  <a:latin typeface="Times New Roman" pitchFamily="18" charset="0"/>
                </a:rPr>
                <a:t>logical connecting point</a:t>
              </a:r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 at a host</a:t>
              </a:r>
            </a:p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for two communicating processes</a:t>
              </a:r>
            </a:p>
            <a:p>
              <a:r>
                <a:rPr kumimoji="1" lang="en-US" sz="2000">
                  <a:solidFill>
                    <a:srgbClr val="006600"/>
                  </a:solidFill>
                  <a:latin typeface="Times New Roman" pitchFamily="18" charset="0"/>
                </a:rPr>
                <a:t>using socket</a:t>
              </a:r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289300" y="2836863"/>
            <a:ext cx="501650" cy="2324100"/>
            <a:chOff x="2072" y="1787"/>
            <a:chExt cx="316" cy="1464"/>
          </a:xfrm>
        </p:grpSpPr>
        <p:sp>
          <p:nvSpPr>
            <p:cNvPr id="23575" name="Rectangle 10"/>
            <p:cNvSpPr>
              <a:spLocks noChangeArrowheads="1"/>
            </p:cNvSpPr>
            <p:nvPr/>
          </p:nvSpPr>
          <p:spPr bwMode="auto">
            <a:xfrm>
              <a:off x="2072" y="2107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6" name="Rectangle 11"/>
            <p:cNvSpPr>
              <a:spLocks noChangeArrowheads="1"/>
            </p:cNvSpPr>
            <p:nvPr/>
          </p:nvSpPr>
          <p:spPr bwMode="auto">
            <a:xfrm>
              <a:off x="2072" y="3067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7" name="Rectangle 12"/>
            <p:cNvSpPr>
              <a:spLocks noChangeArrowheads="1"/>
            </p:cNvSpPr>
            <p:nvPr/>
          </p:nvSpPr>
          <p:spPr bwMode="auto">
            <a:xfrm>
              <a:off x="2072" y="2747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8" name="Rectangle 13"/>
            <p:cNvSpPr>
              <a:spLocks noChangeArrowheads="1"/>
            </p:cNvSpPr>
            <p:nvPr/>
          </p:nvSpPr>
          <p:spPr bwMode="auto">
            <a:xfrm>
              <a:off x="2072" y="2427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9" name="Rectangle 14"/>
            <p:cNvSpPr>
              <a:spLocks noChangeArrowheads="1"/>
            </p:cNvSpPr>
            <p:nvPr/>
          </p:nvSpPr>
          <p:spPr bwMode="auto">
            <a:xfrm>
              <a:off x="2072" y="1787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37"/>
          <p:cNvGrpSpPr>
            <a:grpSpLocks/>
          </p:cNvGrpSpPr>
          <p:nvPr/>
        </p:nvGrpSpPr>
        <p:grpSpPr bwMode="auto">
          <a:xfrm>
            <a:off x="2565400" y="3338513"/>
            <a:ext cx="1273175" cy="623887"/>
            <a:chOff x="1592" y="2079"/>
            <a:chExt cx="802" cy="393"/>
          </a:xfrm>
        </p:grpSpPr>
        <p:sp>
          <p:nvSpPr>
            <p:cNvPr id="23573" name="Line 21"/>
            <p:cNvSpPr>
              <a:spLocks noChangeShapeType="1"/>
            </p:cNvSpPr>
            <p:nvPr/>
          </p:nvSpPr>
          <p:spPr bwMode="auto">
            <a:xfrm flipV="1">
              <a:off x="1592" y="2152"/>
              <a:ext cx="480" cy="3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4" name="Text Box 22"/>
            <p:cNvSpPr txBox="1">
              <a:spLocks noChangeArrowheads="1"/>
            </p:cNvSpPr>
            <p:nvPr/>
          </p:nvSpPr>
          <p:spPr bwMode="auto">
            <a:xfrm>
              <a:off x="2022" y="2079"/>
              <a:ext cx="37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1600" b="1">
                  <a:solidFill>
                    <a:srgbClr val="FF0000"/>
                  </a:solidFill>
                  <a:latin typeface="Times New Roman" pitchFamily="18" charset="0"/>
                </a:rPr>
                <a:t>6500</a:t>
              </a: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1746250" y="3751263"/>
            <a:ext cx="977900" cy="800100"/>
            <a:chOff x="1100" y="2363"/>
            <a:chExt cx="616" cy="504"/>
          </a:xfrm>
        </p:grpSpPr>
        <p:sp>
          <p:nvSpPr>
            <p:cNvPr id="10249" name="Oval 9"/>
            <p:cNvSpPr>
              <a:spLocks noChangeArrowheads="1"/>
            </p:cNvSpPr>
            <p:nvPr/>
          </p:nvSpPr>
          <p:spPr bwMode="auto">
            <a:xfrm>
              <a:off x="1100" y="2363"/>
              <a:ext cx="616" cy="50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572" name="Rectangle 15"/>
            <p:cNvSpPr>
              <a:spLocks noChangeArrowheads="1"/>
            </p:cNvSpPr>
            <p:nvPr/>
          </p:nvSpPr>
          <p:spPr bwMode="auto">
            <a:xfrm>
              <a:off x="1164" y="2499"/>
              <a:ext cx="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Server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7" grpId="0"/>
      <p:bldP spid="10263" grpId="0"/>
      <p:bldP spid="10264" grpId="0"/>
      <p:bldP spid="102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DEC4F059-88D3-4E6C-870C-ABC14DD1C466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457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E800B4-18EF-4A4A-8163-4FD8771F361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4582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14475"/>
            <a:ext cx="2281238" cy="457200"/>
            <a:chOff x="368" y="954"/>
            <a:chExt cx="1437" cy="288"/>
          </a:xfrm>
        </p:grpSpPr>
        <p:sp>
          <p:nvSpPr>
            <p:cNvPr id="94213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424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608" name="Text Box 6"/>
            <p:cNvSpPr txBox="1">
              <a:spLocks noChangeArrowheads="1"/>
            </p:cNvSpPr>
            <p:nvPr/>
          </p:nvSpPr>
          <p:spPr bwMode="auto">
            <a:xfrm>
              <a:off x="382" y="954"/>
              <a:ext cx="142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bind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24584" name="Text Box 7"/>
          <p:cNvSpPr txBox="1">
            <a:spLocks noChangeArrowheads="1"/>
          </p:cNvSpPr>
          <p:nvPr/>
        </p:nvSpPr>
        <p:spPr bwMode="auto">
          <a:xfrm>
            <a:off x="504825" y="3125788"/>
            <a:ext cx="82454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int</a:t>
            </a:r>
            <a:r>
              <a:rPr kumimoji="1" lang="en-US" altLang="ja-JP" sz="2000">
                <a:latin typeface="Times New Roman" pitchFamily="18" charset="0"/>
              </a:rPr>
              <a:t> status = </a:t>
            </a:r>
            <a:r>
              <a:rPr kumimoji="1" lang="en-US" altLang="ja-JP" sz="2000" b="1" i="1">
                <a:latin typeface="Times New Roman" pitchFamily="18" charset="0"/>
              </a:rPr>
              <a:t>bind</a:t>
            </a:r>
            <a:r>
              <a:rPr kumimoji="1" lang="en-US" altLang="ja-JP" sz="2000">
                <a:latin typeface="Times New Roman" pitchFamily="18" charset="0"/>
              </a:rPr>
              <a:t> (socket_id, (</a:t>
            </a:r>
            <a:r>
              <a:rPr kumimoji="1" lang="en-US" altLang="ja-JP" sz="2000" b="1" i="1">
                <a:latin typeface="Times New Roman" pitchFamily="18" charset="0"/>
              </a:rPr>
              <a:t>struct</a:t>
            </a:r>
            <a:r>
              <a:rPr kumimoji="1" lang="en-US" altLang="ja-JP" sz="2000">
                <a:latin typeface="Times New Roman" pitchFamily="18" charset="0"/>
              </a:rPr>
              <a:t> sockaddr_in *) my_addr, </a:t>
            </a:r>
            <a:r>
              <a:rPr kumimoji="1" lang="en-US" altLang="ja-JP" sz="2000" b="1" i="1">
                <a:latin typeface="Times New Roman" pitchFamily="18" charset="0"/>
              </a:rPr>
              <a:t>sizeof</a:t>
            </a:r>
            <a:r>
              <a:rPr kumimoji="1" lang="en-US" altLang="ja-JP" sz="2000">
                <a:latin typeface="Times New Roman" pitchFamily="18" charset="0"/>
              </a:rPr>
              <a:t>(my_addr));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79425" y="3517900"/>
            <a:ext cx="6010275" cy="1311275"/>
            <a:chOff x="302" y="2216"/>
            <a:chExt cx="3786" cy="826"/>
          </a:xfrm>
        </p:grpSpPr>
        <p:sp>
          <p:nvSpPr>
            <p:cNvPr id="24602" name="Text Box 9"/>
            <p:cNvSpPr txBox="1">
              <a:spLocks noChangeArrowheads="1"/>
            </p:cNvSpPr>
            <p:nvPr/>
          </p:nvSpPr>
          <p:spPr bwMode="auto">
            <a:xfrm>
              <a:off x="302" y="2408"/>
              <a:ext cx="2217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The </a:t>
              </a:r>
              <a:r>
                <a:rPr kumimoji="1" lang="en-US" altLang="ja-JP" sz="2000" b="1" i="1">
                  <a:solidFill>
                    <a:schemeClr val="accent2"/>
                  </a:solidFill>
                  <a:latin typeface="Times New Roman" pitchFamily="18" charset="0"/>
                </a:rPr>
                <a:t>sockaddr_in</a:t>
              </a:r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 structure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to specify port # and IP address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of this machine (server machine)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2088" y="2216"/>
              <a:ext cx="2000" cy="344"/>
              <a:chOff x="2088" y="2216"/>
              <a:chExt cx="2000" cy="344"/>
            </a:xfrm>
          </p:grpSpPr>
          <p:sp>
            <p:nvSpPr>
              <p:cNvPr id="24604" name="Line 11"/>
              <p:cNvSpPr>
                <a:spLocks noChangeShapeType="1"/>
              </p:cNvSpPr>
              <p:nvPr/>
            </p:nvSpPr>
            <p:spPr bwMode="auto">
              <a:xfrm>
                <a:off x="2224" y="2216"/>
                <a:ext cx="186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5" name="Line 12"/>
              <p:cNvSpPr>
                <a:spLocks noChangeShapeType="1"/>
              </p:cNvSpPr>
              <p:nvPr/>
            </p:nvSpPr>
            <p:spPr bwMode="auto">
              <a:xfrm>
                <a:off x="2088" y="2560"/>
                <a:ext cx="104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Line 13"/>
              <p:cNvSpPr>
                <a:spLocks noChangeShapeType="1"/>
              </p:cNvSpPr>
              <p:nvPr/>
            </p:nvSpPr>
            <p:spPr bwMode="auto">
              <a:xfrm flipV="1">
                <a:off x="3128" y="2232"/>
                <a:ext cx="240" cy="3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257425" y="3517900"/>
            <a:ext cx="6238875" cy="2405063"/>
            <a:chOff x="1302" y="2216"/>
            <a:chExt cx="3930" cy="1515"/>
          </a:xfrm>
        </p:grpSpPr>
        <p:sp>
          <p:nvSpPr>
            <p:cNvPr id="24597" name="Text Box 15"/>
            <p:cNvSpPr txBox="1">
              <a:spLocks noChangeArrowheads="1"/>
            </p:cNvSpPr>
            <p:nvPr/>
          </p:nvSpPr>
          <p:spPr bwMode="auto">
            <a:xfrm>
              <a:off x="1302" y="3289"/>
              <a:ext cx="1549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CC0066"/>
                  </a:solidFill>
                  <a:latin typeface="Times New Roman" pitchFamily="18" charset="0"/>
                </a:rPr>
                <a:t>The byte size of the</a:t>
              </a:r>
            </a:p>
            <a:p>
              <a:r>
                <a:rPr kumimoji="1" lang="en-US" altLang="ja-JP" sz="2000" b="1" i="1">
                  <a:solidFill>
                    <a:srgbClr val="CC0066"/>
                  </a:solidFill>
                  <a:latin typeface="Times New Roman" pitchFamily="18" charset="0"/>
                </a:rPr>
                <a:t>Sockaddr_in</a:t>
              </a:r>
              <a:r>
                <a:rPr kumimoji="1" lang="en-US" altLang="ja-JP" sz="2000">
                  <a:solidFill>
                    <a:srgbClr val="CC0066"/>
                  </a:solidFill>
                  <a:latin typeface="Times New Roman" pitchFamily="18" charset="0"/>
                </a:rPr>
                <a:t> structure</a:t>
              </a:r>
            </a:p>
          </p:txBody>
        </p: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2672" y="2216"/>
              <a:ext cx="2560" cy="1208"/>
              <a:chOff x="2672" y="2216"/>
              <a:chExt cx="2560" cy="1208"/>
            </a:xfrm>
          </p:grpSpPr>
          <p:sp>
            <p:nvSpPr>
              <p:cNvPr id="24599" name="Line 17"/>
              <p:cNvSpPr>
                <a:spLocks noChangeShapeType="1"/>
              </p:cNvSpPr>
              <p:nvPr/>
            </p:nvSpPr>
            <p:spPr bwMode="auto">
              <a:xfrm>
                <a:off x="4160" y="2216"/>
                <a:ext cx="1072" cy="0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0" name="Line 18"/>
              <p:cNvSpPr>
                <a:spLocks noChangeShapeType="1"/>
              </p:cNvSpPr>
              <p:nvPr/>
            </p:nvSpPr>
            <p:spPr bwMode="auto">
              <a:xfrm>
                <a:off x="2672" y="3424"/>
                <a:ext cx="1408" cy="0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1" name="Line 19"/>
              <p:cNvSpPr>
                <a:spLocks noChangeShapeType="1"/>
              </p:cNvSpPr>
              <p:nvPr/>
            </p:nvSpPr>
            <p:spPr bwMode="auto">
              <a:xfrm flipV="1">
                <a:off x="4064" y="2224"/>
                <a:ext cx="712" cy="1200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08000" y="1754188"/>
            <a:ext cx="6029325" cy="1789112"/>
            <a:chOff x="320" y="1105"/>
            <a:chExt cx="3798" cy="1127"/>
          </a:xfrm>
        </p:grpSpPr>
        <p:sp>
          <p:nvSpPr>
            <p:cNvPr id="24593" name="AutoShape 21"/>
            <p:cNvSpPr>
              <a:spLocks noChangeArrowheads="1"/>
            </p:cNvSpPr>
            <p:nvPr/>
          </p:nvSpPr>
          <p:spPr bwMode="auto">
            <a:xfrm>
              <a:off x="320" y="1976"/>
              <a:ext cx="648" cy="25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4" name="Text Box 22"/>
            <p:cNvSpPr txBox="1">
              <a:spLocks noChangeArrowheads="1"/>
            </p:cNvSpPr>
            <p:nvPr/>
          </p:nvSpPr>
          <p:spPr bwMode="auto">
            <a:xfrm>
              <a:off x="2382" y="1105"/>
              <a:ext cx="1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 code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sp>
          <p:nvSpPr>
            <p:cNvPr id="24595" name="Line 23"/>
            <p:cNvSpPr>
              <a:spLocks noChangeShapeType="1"/>
            </p:cNvSpPr>
            <p:nvPr/>
          </p:nvSpPr>
          <p:spPr bwMode="auto">
            <a:xfrm flipH="1">
              <a:off x="2024" y="1240"/>
              <a:ext cx="376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6" name="Line 24"/>
            <p:cNvSpPr>
              <a:spLocks noChangeShapeType="1"/>
            </p:cNvSpPr>
            <p:nvPr/>
          </p:nvSpPr>
          <p:spPr bwMode="auto">
            <a:xfrm flipH="1">
              <a:off x="984" y="1232"/>
              <a:ext cx="1040" cy="72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2870200" y="2376488"/>
            <a:ext cx="5419725" cy="798512"/>
            <a:chOff x="1808" y="1497"/>
            <a:chExt cx="3414" cy="503"/>
          </a:xfrm>
        </p:grpSpPr>
        <p:sp>
          <p:nvSpPr>
            <p:cNvPr id="24589" name="Text Box 26"/>
            <p:cNvSpPr txBox="1">
              <a:spLocks noChangeArrowheads="1"/>
            </p:cNvSpPr>
            <p:nvPr/>
          </p:nvSpPr>
          <p:spPr bwMode="auto">
            <a:xfrm>
              <a:off x="2670" y="1497"/>
              <a:ext cx="255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Socket ID returned by </a:t>
              </a:r>
              <a:r>
                <a:rPr kumimoji="1" lang="en-US" altLang="ja-JP" sz="2000" b="1" i="1">
                  <a:solidFill>
                    <a:srgbClr val="FF0000"/>
                  </a:solidFill>
                  <a:latin typeface="Times New Roman" pitchFamily="18" charset="0"/>
                </a:rPr>
                <a:t>socket</a:t>
              </a:r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 function</a:t>
              </a:r>
            </a:p>
          </p:txBody>
        </p:sp>
        <p:grpSp>
          <p:nvGrpSpPr>
            <p:cNvPr id="9" name="Group 27"/>
            <p:cNvGrpSpPr>
              <a:grpSpLocks/>
            </p:cNvGrpSpPr>
            <p:nvPr/>
          </p:nvGrpSpPr>
          <p:grpSpPr bwMode="auto">
            <a:xfrm>
              <a:off x="1808" y="1616"/>
              <a:ext cx="880" cy="384"/>
              <a:chOff x="1808" y="1616"/>
              <a:chExt cx="880" cy="384"/>
            </a:xfrm>
          </p:grpSpPr>
          <p:sp>
            <p:nvSpPr>
              <p:cNvPr id="24591" name="Line 28"/>
              <p:cNvSpPr>
                <a:spLocks noChangeShapeType="1"/>
              </p:cNvSpPr>
              <p:nvPr/>
            </p:nvSpPr>
            <p:spPr bwMode="auto">
              <a:xfrm>
                <a:off x="2272" y="1624"/>
                <a:ext cx="41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2" name="Line 29"/>
              <p:cNvSpPr>
                <a:spLocks noChangeShapeType="1"/>
              </p:cNvSpPr>
              <p:nvPr/>
            </p:nvSpPr>
            <p:spPr bwMode="auto">
              <a:xfrm flipH="1">
                <a:off x="1808" y="1616"/>
                <a:ext cx="456" cy="3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5405F2DA-F227-4E20-86A2-D538A5611331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914BD8-85C5-4A45-BAB1-16F1872CA50E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5606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1025" y="1527175"/>
            <a:ext cx="3638550" cy="457200"/>
            <a:chOff x="366" y="962"/>
            <a:chExt cx="2292" cy="288"/>
          </a:xfrm>
        </p:grpSpPr>
        <p:sp>
          <p:nvSpPr>
            <p:cNvPr id="95237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2256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620" name="Text Box 6"/>
            <p:cNvSpPr txBox="1">
              <a:spLocks noChangeArrowheads="1"/>
            </p:cNvSpPr>
            <p:nvPr/>
          </p:nvSpPr>
          <p:spPr bwMode="auto">
            <a:xfrm>
              <a:off x="366" y="962"/>
              <a:ext cx="22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The “</a:t>
              </a:r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sock_addr”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structure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457200" y="2514600"/>
            <a:ext cx="7470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solidFill>
                  <a:schemeClr val="accent2"/>
                </a:solidFill>
                <a:latin typeface="Times New Roman" pitchFamily="18" charset="0"/>
              </a:rPr>
              <a:t>struct</a:t>
            </a:r>
            <a:r>
              <a:rPr kumimoji="1" lang="en-US" altLang="ja-JP" sz="2000">
                <a:solidFill>
                  <a:schemeClr val="accent2"/>
                </a:solidFill>
                <a:latin typeface="Times New Roman" pitchFamily="18" charset="0"/>
              </a:rPr>
              <a:t> sockaddr_in   my_addr;</a:t>
            </a:r>
            <a:r>
              <a:rPr kumimoji="1" lang="en-US" altLang="ja-JP" sz="2000">
                <a:latin typeface="Times New Roman" pitchFamily="18" charset="0"/>
              </a:rPr>
              <a:t>         /* My (client) Internet address      */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41325" y="3098800"/>
            <a:ext cx="8432800" cy="1947863"/>
            <a:chOff x="278" y="1952"/>
            <a:chExt cx="5312" cy="1227"/>
          </a:xfrm>
        </p:grpSpPr>
        <p:sp>
          <p:nvSpPr>
            <p:cNvPr id="25617" name="Text Box 9"/>
            <p:cNvSpPr txBox="1">
              <a:spLocks noChangeArrowheads="1"/>
            </p:cNvSpPr>
            <p:nvPr/>
          </p:nvSpPr>
          <p:spPr bwMode="auto">
            <a:xfrm>
              <a:off x="278" y="2353"/>
              <a:ext cx="5312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latin typeface="Times New Roman" pitchFamily="18" charset="0"/>
                </a:rPr>
                <a:t>/* Set My(client's) IP Address ---------------------------------------- */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my_addr.</a:t>
              </a:r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sin_family</a:t>
              </a:r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      </a:t>
              </a:r>
              <a:r>
                <a:rPr kumimoji="1" lang="en-US" altLang="ja-JP" sz="2000">
                  <a:latin typeface="Times New Roman" pitchFamily="18" charset="0"/>
                </a:rPr>
                <a:t>= AF_INET;         /* Address Family To Be Used */  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my_addr.</a:t>
              </a:r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sin_port</a:t>
              </a:r>
              <a:r>
                <a:rPr kumimoji="1" lang="en-US" altLang="ja-JP" sz="2000">
                  <a:latin typeface="Times New Roman" pitchFamily="18" charset="0"/>
                </a:rPr>
                <a:t>          = </a:t>
              </a:r>
              <a:r>
                <a:rPr kumimoji="1" lang="en-US" altLang="ja-JP" sz="2000" b="1" i="1">
                  <a:latin typeface="Times New Roman" pitchFamily="18" charset="0"/>
                </a:rPr>
                <a:t>htons </a:t>
              </a:r>
              <a:r>
                <a:rPr kumimoji="1" lang="en-US" altLang="ja-JP" sz="2000">
                  <a:latin typeface="Times New Roman" pitchFamily="18" charset="0"/>
                </a:rPr>
                <a:t>(MY_PORT_NUM);     /* Port number to use */ 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my_addr.</a:t>
              </a:r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sin_addr.s_addr</a:t>
              </a:r>
              <a:r>
                <a:rPr kumimoji="1" lang="en-US" altLang="ja-JP" sz="2000">
                  <a:latin typeface="Times New Roman" pitchFamily="18" charset="0"/>
                </a:rPr>
                <a:t> = </a:t>
              </a:r>
              <a:r>
                <a:rPr kumimoji="1" lang="en-US" altLang="ja-JP" sz="2000" b="1" i="1">
                  <a:latin typeface="Times New Roman" pitchFamily="18" charset="0"/>
                </a:rPr>
                <a:t>htonl</a:t>
              </a:r>
              <a:r>
                <a:rPr kumimoji="1" lang="en-US" altLang="ja-JP" sz="2000">
                  <a:latin typeface="Times New Roman" pitchFamily="18" charset="0"/>
                </a:rPr>
                <a:t> (INADDR_ANY);      /* My IP address */</a:t>
              </a:r>
            </a:p>
          </p:txBody>
        </p:sp>
        <p:sp>
          <p:nvSpPr>
            <p:cNvPr id="25618" name="Text Box 10"/>
            <p:cNvSpPr txBox="1">
              <a:spLocks noChangeArrowheads="1"/>
            </p:cNvSpPr>
            <p:nvPr/>
          </p:nvSpPr>
          <p:spPr bwMode="auto">
            <a:xfrm rot="-5400000">
              <a:off x="2406" y="2029"/>
              <a:ext cx="38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>
                  <a:latin typeface="Times New Roman" pitchFamily="18" charset="0"/>
                  <a:sym typeface="Symbol" pitchFamily="18" charset="2"/>
                </a:rPr>
                <a:t>  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3644900" y="1677988"/>
            <a:ext cx="4949825" cy="874712"/>
            <a:chOff x="2296" y="1057"/>
            <a:chExt cx="3118" cy="551"/>
          </a:xfrm>
        </p:grpSpPr>
        <p:sp>
          <p:nvSpPr>
            <p:cNvPr id="25615" name="Text Box 12"/>
            <p:cNvSpPr txBox="1">
              <a:spLocks noChangeArrowheads="1"/>
            </p:cNvSpPr>
            <p:nvPr/>
          </p:nvSpPr>
          <p:spPr bwMode="auto">
            <a:xfrm>
              <a:off x="3006" y="1057"/>
              <a:ext cx="24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Step 1: You instantiate the structure</a:t>
              </a:r>
            </a:p>
          </p:txBody>
        </p:sp>
        <p:sp>
          <p:nvSpPr>
            <p:cNvPr id="25616" name="Line 13"/>
            <p:cNvSpPr>
              <a:spLocks noChangeShapeType="1"/>
            </p:cNvSpPr>
            <p:nvPr/>
          </p:nvSpPr>
          <p:spPr bwMode="auto">
            <a:xfrm flipH="1">
              <a:off x="2296" y="1192"/>
              <a:ext cx="712" cy="4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419100" y="3708400"/>
            <a:ext cx="6791325" cy="2430463"/>
            <a:chOff x="264" y="2336"/>
            <a:chExt cx="4278" cy="1531"/>
          </a:xfrm>
        </p:grpSpPr>
        <p:sp>
          <p:nvSpPr>
            <p:cNvPr id="25612" name="AutoShape 15"/>
            <p:cNvSpPr>
              <a:spLocks noChangeArrowheads="1"/>
            </p:cNvSpPr>
            <p:nvPr/>
          </p:nvSpPr>
          <p:spPr bwMode="auto">
            <a:xfrm>
              <a:off x="264" y="2336"/>
              <a:ext cx="3200" cy="89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3" name="Text Box 16"/>
            <p:cNvSpPr txBox="1">
              <a:spLocks noChangeArrowheads="1"/>
            </p:cNvSpPr>
            <p:nvPr/>
          </p:nvSpPr>
          <p:spPr bwMode="auto">
            <a:xfrm>
              <a:off x="2470" y="3617"/>
              <a:ext cx="207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Step 2: Fill up the components</a:t>
              </a:r>
            </a:p>
          </p:txBody>
        </p:sp>
        <p:sp>
          <p:nvSpPr>
            <p:cNvPr id="25614" name="Line 17"/>
            <p:cNvSpPr>
              <a:spLocks noChangeShapeType="1"/>
            </p:cNvSpPr>
            <p:nvPr/>
          </p:nvSpPr>
          <p:spPr bwMode="auto">
            <a:xfrm flipH="1" flipV="1">
              <a:off x="2016" y="3296"/>
              <a:ext cx="424" cy="44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2B2B04A-1E54-4AAC-91B1-9EFA9BDE0517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73FFA85-041B-4B1D-93D4-2133F1516FA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326" name="Rectangle 6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6630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1574800" y="26336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3289300" y="3344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3289300" y="4868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3289300" y="4360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3289300" y="3852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3289300" y="2836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449263" y="1304925"/>
            <a:ext cx="2181225" cy="396875"/>
            <a:chOff x="283" y="822"/>
            <a:chExt cx="1374" cy="250"/>
          </a:xfrm>
        </p:grpSpPr>
        <p:sp>
          <p:nvSpPr>
            <p:cNvPr id="11318" name="AutoShape 54"/>
            <p:cNvSpPr>
              <a:spLocks noChangeArrowheads="1"/>
            </p:cNvSpPr>
            <p:nvPr/>
          </p:nvSpPr>
          <p:spPr bwMode="auto">
            <a:xfrm>
              <a:off x="296" y="840"/>
              <a:ext cx="1352" cy="21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72" name="Rectangle 13"/>
            <p:cNvSpPr>
              <a:spLocks noChangeArrowheads="1"/>
            </p:cNvSpPr>
            <p:nvPr/>
          </p:nvSpPr>
          <p:spPr bwMode="auto">
            <a:xfrm>
              <a:off x="283" y="822"/>
              <a:ext cx="13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Step 3</a:t>
              </a:r>
              <a:r>
                <a:rPr kumimoji="1" lang="en-US" altLang="ja-JP" sz="2000">
                  <a:latin typeface="Times New Roman" pitchFamily="18" charset="0"/>
                </a:rPr>
                <a:t>: </a:t>
              </a:r>
              <a:r>
                <a:rPr kumimoji="1" lang="en-US" altLang="ja-JP" sz="2000" b="1" i="1">
                  <a:latin typeface="Times New Roman" pitchFamily="18" charset="0"/>
                </a:rPr>
                <a:t>listen</a:t>
              </a:r>
              <a:r>
                <a:rPr kumimoji="1" lang="en-US" altLang="ja-JP" sz="2000">
                  <a:latin typeface="Times New Roman" pitchFamily="18" charset="0"/>
                </a:rPr>
                <a:t>( ) call</a:t>
              </a:r>
            </a:p>
          </p:txBody>
        </p:sp>
      </p:grpSp>
      <p:sp>
        <p:nvSpPr>
          <p:cNvPr id="26638" name="Text Box 15"/>
          <p:cNvSpPr txBox="1">
            <a:spLocks noChangeArrowheads="1"/>
          </p:cNvSpPr>
          <p:nvPr/>
        </p:nvSpPr>
        <p:spPr bwMode="auto">
          <a:xfrm>
            <a:off x="1431925" y="2109788"/>
            <a:ext cx="2124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>
                <a:latin typeface="Times New Roman" pitchFamily="18" charset="0"/>
              </a:rPr>
              <a:t>After </a:t>
            </a:r>
            <a:r>
              <a:rPr kumimoji="1" lang="en-US" altLang="ja-JP" sz="2000" i="1">
                <a:latin typeface="Times New Roman" pitchFamily="18" charset="0"/>
              </a:rPr>
              <a:t>listen(_)</a:t>
            </a:r>
            <a:r>
              <a:rPr kumimoji="1" lang="en-US" altLang="ja-JP" sz="2000">
                <a:latin typeface="Times New Roman" pitchFamily="18" charset="0"/>
              </a:rPr>
              <a:t> call:</a:t>
            </a:r>
          </a:p>
        </p:txBody>
      </p:sp>
      <p:sp>
        <p:nvSpPr>
          <p:cNvPr id="26639" name="Text Box 17"/>
          <p:cNvSpPr txBox="1">
            <a:spLocks noChangeArrowheads="1"/>
          </p:cNvSpPr>
          <p:nvPr/>
        </p:nvSpPr>
        <p:spPr bwMode="auto">
          <a:xfrm>
            <a:off x="3248025" y="33004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  <p:grpSp>
        <p:nvGrpSpPr>
          <p:cNvPr id="3" name="Group 58"/>
          <p:cNvGrpSpPr>
            <a:grpSpLocks/>
          </p:cNvGrpSpPr>
          <p:nvPr/>
        </p:nvGrpSpPr>
        <p:grpSpPr bwMode="auto">
          <a:xfrm>
            <a:off x="2006600" y="3371850"/>
            <a:ext cx="1279525" cy="552450"/>
            <a:chOff x="1264" y="2124"/>
            <a:chExt cx="806" cy="348"/>
          </a:xfrm>
        </p:grpSpPr>
        <p:grpSp>
          <p:nvGrpSpPr>
            <p:cNvPr id="4" name="Group 57"/>
            <p:cNvGrpSpPr>
              <a:grpSpLocks/>
            </p:cNvGrpSpPr>
            <p:nvPr/>
          </p:nvGrpSpPr>
          <p:grpSpPr bwMode="auto">
            <a:xfrm>
              <a:off x="1264" y="2124"/>
              <a:ext cx="604" cy="348"/>
              <a:chOff x="1264" y="2124"/>
              <a:chExt cx="604" cy="348"/>
            </a:xfrm>
          </p:grpSpPr>
          <p:sp>
            <p:nvSpPr>
              <p:cNvPr id="26664" name="Line 16"/>
              <p:cNvSpPr>
                <a:spLocks noChangeShapeType="1"/>
              </p:cNvSpPr>
              <p:nvPr/>
            </p:nvSpPr>
            <p:spPr bwMode="auto">
              <a:xfrm flipV="1">
                <a:off x="1264" y="2152"/>
                <a:ext cx="350" cy="32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" name="Group 25"/>
              <p:cNvGrpSpPr>
                <a:grpSpLocks/>
              </p:cNvGrpSpPr>
              <p:nvPr/>
            </p:nvGrpSpPr>
            <p:grpSpPr bwMode="auto">
              <a:xfrm>
                <a:off x="1612" y="2124"/>
                <a:ext cx="256" cy="144"/>
                <a:chOff x="3400" y="1608"/>
                <a:chExt cx="256" cy="144"/>
              </a:xfrm>
            </p:grpSpPr>
            <p:sp>
              <p:nvSpPr>
                <p:cNvPr id="26666" name="Line 20"/>
                <p:cNvSpPr>
                  <a:spLocks noChangeShapeType="1"/>
                </p:cNvSpPr>
                <p:nvPr/>
              </p:nvSpPr>
              <p:spPr bwMode="auto">
                <a:xfrm>
                  <a:off x="3400" y="1608"/>
                  <a:ext cx="2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7" name="Line 21"/>
                <p:cNvSpPr>
                  <a:spLocks noChangeShapeType="1"/>
                </p:cNvSpPr>
                <p:nvPr/>
              </p:nvSpPr>
              <p:spPr bwMode="auto">
                <a:xfrm>
                  <a:off x="3408" y="1752"/>
                  <a:ext cx="24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8" name="Line 22"/>
                <p:cNvSpPr>
                  <a:spLocks noChangeShapeType="1"/>
                </p:cNvSpPr>
                <p:nvPr/>
              </p:nvSpPr>
              <p:spPr bwMode="auto">
                <a:xfrm>
                  <a:off x="3552" y="160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69" name="Line 23"/>
                <p:cNvSpPr>
                  <a:spLocks noChangeShapeType="1"/>
                </p:cNvSpPr>
                <p:nvPr/>
              </p:nvSpPr>
              <p:spPr bwMode="auto">
                <a:xfrm>
                  <a:off x="3480" y="160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670" name="Line 24"/>
                <p:cNvSpPr>
                  <a:spLocks noChangeShapeType="1"/>
                </p:cNvSpPr>
                <p:nvPr/>
              </p:nvSpPr>
              <p:spPr bwMode="auto">
                <a:xfrm>
                  <a:off x="3400" y="160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6663" name="Line 26"/>
            <p:cNvSpPr>
              <a:spLocks noChangeShapeType="1"/>
            </p:cNvSpPr>
            <p:nvPr/>
          </p:nvSpPr>
          <p:spPr bwMode="auto">
            <a:xfrm>
              <a:off x="1884" y="2194"/>
              <a:ext cx="18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59"/>
          <p:cNvGrpSpPr>
            <a:grpSpLocks/>
          </p:cNvGrpSpPr>
          <p:nvPr/>
        </p:nvGrpSpPr>
        <p:grpSpPr bwMode="auto">
          <a:xfrm>
            <a:off x="488950" y="2852738"/>
            <a:ext cx="2070100" cy="504825"/>
            <a:chOff x="308" y="1797"/>
            <a:chExt cx="1304" cy="318"/>
          </a:xfrm>
        </p:grpSpPr>
        <p:sp>
          <p:nvSpPr>
            <p:cNvPr id="26660" name="Text Box 27"/>
            <p:cNvSpPr txBox="1">
              <a:spLocks noChangeArrowheads="1"/>
            </p:cNvSpPr>
            <p:nvPr/>
          </p:nvSpPr>
          <p:spPr bwMode="auto">
            <a:xfrm>
              <a:off x="308" y="1797"/>
              <a:ext cx="53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6600"/>
                  </a:solidFill>
                  <a:latin typeface="Times New Roman" pitchFamily="18" charset="0"/>
                </a:rPr>
                <a:t>Buffer</a:t>
              </a:r>
            </a:p>
          </p:txBody>
        </p:sp>
        <p:cxnSp>
          <p:nvCxnSpPr>
            <p:cNvPr id="26661" name="AutoShape 30"/>
            <p:cNvCxnSpPr>
              <a:cxnSpLocks noChangeShapeType="1"/>
              <a:stCxn id="26660" idx="3"/>
              <a:endCxn id="26666" idx="0"/>
            </p:cNvCxnSpPr>
            <p:nvPr/>
          </p:nvCxnSpPr>
          <p:spPr bwMode="auto">
            <a:xfrm>
              <a:off x="841" y="1922"/>
              <a:ext cx="771" cy="193"/>
            </a:xfrm>
            <a:prstGeom prst="curvedConnector2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med"/>
            </a:ln>
          </p:spPr>
        </p:cxnSp>
      </p:grpSp>
      <p:sp>
        <p:nvSpPr>
          <p:cNvPr id="26642" name="Rectangle 33"/>
          <p:cNvSpPr>
            <a:spLocks noChangeArrowheads="1"/>
          </p:cNvSpPr>
          <p:nvPr/>
        </p:nvSpPr>
        <p:spPr bwMode="auto">
          <a:xfrm>
            <a:off x="4360863" y="3476625"/>
            <a:ext cx="4064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i="1">
                <a:latin typeface="Times New Roman" pitchFamily="18" charset="0"/>
              </a:rPr>
              <a:t>listen</a:t>
            </a:r>
            <a:r>
              <a:rPr kumimoji="1" lang="en-US" altLang="ja-JP">
                <a:latin typeface="Times New Roman" pitchFamily="18" charset="0"/>
              </a:rPr>
              <a:t> (socket_id, number_of_connection);</a:t>
            </a:r>
            <a:endParaRPr kumimoji="1" lang="en-US">
              <a:latin typeface="Times New Roman" pitchFamily="18" charset="0"/>
            </a:endParaRPr>
          </a:p>
        </p:txBody>
      </p:sp>
      <p:grpSp>
        <p:nvGrpSpPr>
          <p:cNvPr id="7" name="Group 38"/>
          <p:cNvGrpSpPr>
            <a:grpSpLocks/>
          </p:cNvGrpSpPr>
          <p:nvPr/>
        </p:nvGrpSpPr>
        <p:grpSpPr bwMode="auto">
          <a:xfrm>
            <a:off x="5524500" y="3340100"/>
            <a:ext cx="2971800" cy="1435100"/>
            <a:chOff x="3488" y="1744"/>
            <a:chExt cx="1872" cy="904"/>
          </a:xfrm>
        </p:grpSpPr>
        <p:sp>
          <p:nvSpPr>
            <p:cNvPr id="26658" name="Oval 35"/>
            <p:cNvSpPr>
              <a:spLocks noChangeArrowheads="1"/>
            </p:cNvSpPr>
            <p:nvPr/>
          </p:nvSpPr>
          <p:spPr bwMode="auto">
            <a:xfrm>
              <a:off x="3704" y="1744"/>
              <a:ext cx="1656" cy="4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59" name="Line 37"/>
            <p:cNvSpPr>
              <a:spLocks noChangeShapeType="1"/>
            </p:cNvSpPr>
            <p:nvPr/>
          </p:nvSpPr>
          <p:spPr bwMode="auto">
            <a:xfrm flipV="1">
              <a:off x="3488" y="2120"/>
              <a:ext cx="536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42"/>
          <p:cNvGrpSpPr>
            <a:grpSpLocks/>
          </p:cNvGrpSpPr>
          <p:nvPr/>
        </p:nvGrpSpPr>
        <p:grpSpPr bwMode="auto">
          <a:xfrm>
            <a:off x="4279900" y="1549400"/>
            <a:ext cx="4165600" cy="812800"/>
            <a:chOff x="2696" y="976"/>
            <a:chExt cx="2624" cy="512"/>
          </a:xfrm>
        </p:grpSpPr>
        <p:sp>
          <p:nvSpPr>
            <p:cNvPr id="11305" name="AutoShape 41"/>
            <p:cNvSpPr>
              <a:spLocks noChangeArrowheads="1"/>
            </p:cNvSpPr>
            <p:nvPr/>
          </p:nvSpPr>
          <p:spPr bwMode="auto">
            <a:xfrm>
              <a:off x="2696" y="976"/>
              <a:ext cx="2624" cy="512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57" name="Text Box 40"/>
            <p:cNvSpPr txBox="1">
              <a:spLocks noChangeArrowheads="1"/>
            </p:cNvSpPr>
            <p:nvPr/>
          </p:nvSpPr>
          <p:spPr bwMode="auto">
            <a:xfrm>
              <a:off x="2742" y="1018"/>
              <a:ext cx="2495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 i="1">
                  <a:solidFill>
                    <a:schemeClr val="accent2"/>
                  </a:solidFill>
                  <a:latin typeface="Times New Roman" pitchFamily="18" charset="0"/>
                </a:rPr>
                <a:t>listen( )</a:t>
              </a:r>
              <a:r>
                <a:rPr kumimoji="1" lang="en-US" sz="2000">
                  <a:solidFill>
                    <a:schemeClr val="accent2"/>
                  </a:solidFill>
                  <a:latin typeface="Times New Roman" pitchFamily="18" charset="0"/>
                </a:rPr>
                <a:t> system call: prepare memory</a:t>
              </a:r>
            </a:p>
            <a:p>
              <a:r>
                <a:rPr kumimoji="1" lang="en-US" sz="2000">
                  <a:solidFill>
                    <a:schemeClr val="accent2"/>
                  </a:solidFill>
                  <a:latin typeface="Times New Roman" pitchFamily="18" charset="0"/>
                </a:rPr>
                <a:t>buffer for incoming connections</a:t>
              </a:r>
            </a:p>
          </p:txBody>
        </p:sp>
      </p:grp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1746250" y="3751263"/>
            <a:ext cx="977900" cy="800100"/>
            <a:chOff x="1100" y="2363"/>
            <a:chExt cx="616" cy="504"/>
          </a:xfrm>
        </p:grpSpPr>
        <p:sp>
          <p:nvSpPr>
            <p:cNvPr id="11282" name="Oval 18"/>
            <p:cNvSpPr>
              <a:spLocks noChangeArrowheads="1"/>
            </p:cNvSpPr>
            <p:nvPr/>
          </p:nvSpPr>
          <p:spPr bwMode="auto">
            <a:xfrm>
              <a:off x="1100" y="2363"/>
              <a:ext cx="616" cy="50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55" name="Rectangle 19"/>
            <p:cNvSpPr>
              <a:spLocks noChangeArrowheads="1"/>
            </p:cNvSpPr>
            <p:nvPr/>
          </p:nvSpPr>
          <p:spPr bwMode="auto">
            <a:xfrm>
              <a:off x="1164" y="2491"/>
              <a:ext cx="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Server</a:t>
              </a:r>
            </a:p>
          </p:txBody>
        </p:sp>
      </p:grpSp>
      <p:sp>
        <p:nvSpPr>
          <p:cNvPr id="11311" name="Line 47"/>
          <p:cNvSpPr>
            <a:spLocks noChangeShapeType="1"/>
          </p:cNvSpPr>
          <p:nvPr/>
        </p:nvSpPr>
        <p:spPr bwMode="auto">
          <a:xfrm flipV="1">
            <a:off x="2540000" y="3568700"/>
            <a:ext cx="749300" cy="292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3797300" y="3097213"/>
            <a:ext cx="1560513" cy="382587"/>
            <a:chOff x="2392" y="1951"/>
            <a:chExt cx="983" cy="241"/>
          </a:xfrm>
        </p:grpSpPr>
        <p:sp>
          <p:nvSpPr>
            <p:cNvPr id="26652" name="Line 48"/>
            <p:cNvSpPr>
              <a:spLocks noChangeShapeType="1"/>
            </p:cNvSpPr>
            <p:nvPr/>
          </p:nvSpPr>
          <p:spPr bwMode="auto">
            <a:xfrm flipH="1">
              <a:off x="2392" y="2192"/>
              <a:ext cx="28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Text Box 49"/>
            <p:cNvSpPr txBox="1">
              <a:spLocks noChangeArrowheads="1"/>
            </p:cNvSpPr>
            <p:nvPr/>
          </p:nvSpPr>
          <p:spPr bwMode="auto">
            <a:xfrm>
              <a:off x="2486" y="1951"/>
              <a:ext cx="889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1600" b="1">
                  <a:latin typeface="Times New Roman" pitchFamily="18" charset="0"/>
                </a:rPr>
                <a:t>Client request</a:t>
              </a:r>
            </a:p>
          </p:txBody>
        </p:sp>
      </p:grpSp>
      <p:sp>
        <p:nvSpPr>
          <p:cNvPr id="11316" name="Line 52"/>
          <p:cNvSpPr>
            <a:spLocks noChangeShapeType="1"/>
          </p:cNvSpPr>
          <p:nvPr/>
        </p:nvSpPr>
        <p:spPr bwMode="auto">
          <a:xfrm flipH="1">
            <a:off x="3797300" y="3619500"/>
            <a:ext cx="444500" cy="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61"/>
          <p:cNvGrpSpPr>
            <a:grpSpLocks/>
          </p:cNvGrpSpPr>
          <p:nvPr/>
        </p:nvGrpSpPr>
        <p:grpSpPr bwMode="auto">
          <a:xfrm>
            <a:off x="4787900" y="4673600"/>
            <a:ext cx="3429000" cy="1308100"/>
            <a:chOff x="3016" y="2944"/>
            <a:chExt cx="2160" cy="824"/>
          </a:xfrm>
        </p:grpSpPr>
        <p:sp>
          <p:nvSpPr>
            <p:cNvPr id="11324" name="AutoShape 60"/>
            <p:cNvSpPr>
              <a:spLocks noChangeArrowheads="1"/>
            </p:cNvSpPr>
            <p:nvPr/>
          </p:nvSpPr>
          <p:spPr bwMode="auto">
            <a:xfrm>
              <a:off x="3016" y="2944"/>
              <a:ext cx="2160" cy="824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51" name="Text Box 32"/>
            <p:cNvSpPr txBox="1">
              <a:spLocks noChangeArrowheads="1"/>
            </p:cNvSpPr>
            <p:nvPr/>
          </p:nvSpPr>
          <p:spPr bwMode="auto">
            <a:xfrm>
              <a:off x="3078" y="2968"/>
              <a:ext cx="2084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>
                  <a:solidFill>
                    <a:srgbClr val="006600"/>
                  </a:solidFill>
                  <a:latin typeface="Times New Roman" pitchFamily="18" charset="0"/>
                </a:rPr>
                <a:t>We need to specify how many</a:t>
              </a:r>
            </a:p>
            <a:p>
              <a:r>
                <a:rPr kumimoji="1" lang="en-US">
                  <a:solidFill>
                    <a:srgbClr val="006600"/>
                  </a:solidFill>
                  <a:latin typeface="Times New Roman" pitchFamily="18" charset="0"/>
                </a:rPr>
                <a:t> connection requests should be </a:t>
              </a:r>
            </a:p>
            <a:p>
              <a:r>
                <a:rPr kumimoji="1" lang="en-US">
                  <a:solidFill>
                    <a:srgbClr val="006600"/>
                  </a:solidFill>
                  <a:latin typeface="Times New Roman" pitchFamily="18" charset="0"/>
                </a:rPr>
                <a:t> held in the buffer when SERVER</a:t>
              </a:r>
            </a:p>
            <a:p>
              <a:r>
                <a:rPr kumimoji="1" lang="en-US">
                  <a:solidFill>
                    <a:srgbClr val="006600"/>
                  </a:solidFill>
                  <a:latin typeface="Times New Roman" pitchFamily="18" charset="0"/>
                </a:rPr>
                <a:t> is busy (can’t accept a request).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1" grpId="0" animBg="1"/>
      <p:bldP spid="113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4098944-DF98-4C70-A972-14103704D912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765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C2046D3-ECF7-4DE9-8BDA-4F5ECB3E4697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27654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27175"/>
            <a:ext cx="2386013" cy="457200"/>
            <a:chOff x="368" y="962"/>
            <a:chExt cx="1503" cy="288"/>
          </a:xfrm>
        </p:grpSpPr>
        <p:sp>
          <p:nvSpPr>
            <p:cNvPr id="96261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480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672" name="Text Box 6"/>
            <p:cNvSpPr txBox="1">
              <a:spLocks noChangeArrowheads="1"/>
            </p:cNvSpPr>
            <p:nvPr/>
          </p:nvSpPr>
          <p:spPr bwMode="auto">
            <a:xfrm>
              <a:off x="374" y="962"/>
              <a:ext cx="149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listen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27656" name="Text Box 7"/>
          <p:cNvSpPr txBox="1">
            <a:spLocks noChangeArrowheads="1"/>
          </p:cNvSpPr>
          <p:nvPr/>
        </p:nvSpPr>
        <p:spPr bwMode="auto">
          <a:xfrm>
            <a:off x="1647825" y="3494088"/>
            <a:ext cx="34639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int</a:t>
            </a:r>
            <a:r>
              <a:rPr kumimoji="1" lang="en-US" altLang="ja-JP" sz="2000">
                <a:latin typeface="Times New Roman" pitchFamily="18" charset="0"/>
              </a:rPr>
              <a:t> status = </a:t>
            </a:r>
            <a:r>
              <a:rPr kumimoji="1" lang="en-US" altLang="ja-JP" sz="2000" b="1" i="1">
                <a:latin typeface="Times New Roman" pitchFamily="18" charset="0"/>
              </a:rPr>
              <a:t>listen</a:t>
            </a:r>
            <a:r>
              <a:rPr kumimoji="1" lang="en-US" altLang="ja-JP" sz="2000">
                <a:latin typeface="Times New Roman" pitchFamily="18" charset="0"/>
              </a:rPr>
              <a:t> (socket_id, 3);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647825" y="3848100"/>
            <a:ext cx="4338638" cy="1489075"/>
            <a:chOff x="1038" y="2424"/>
            <a:chExt cx="2733" cy="938"/>
          </a:xfrm>
        </p:grpSpPr>
        <p:sp>
          <p:nvSpPr>
            <p:cNvPr id="27668" name="Text Box 9"/>
            <p:cNvSpPr txBox="1">
              <a:spLocks noChangeArrowheads="1"/>
            </p:cNvSpPr>
            <p:nvPr/>
          </p:nvSpPr>
          <p:spPr bwMode="auto">
            <a:xfrm>
              <a:off x="1038" y="3112"/>
              <a:ext cx="273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The size of the connection request buffer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sp>
          <p:nvSpPr>
            <p:cNvPr id="27669" name="Line 10"/>
            <p:cNvSpPr>
              <a:spLocks noChangeShapeType="1"/>
            </p:cNvSpPr>
            <p:nvPr/>
          </p:nvSpPr>
          <p:spPr bwMode="auto">
            <a:xfrm>
              <a:off x="2920" y="2424"/>
              <a:ext cx="17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0" name="Line 11"/>
            <p:cNvSpPr>
              <a:spLocks noChangeShapeType="1"/>
            </p:cNvSpPr>
            <p:nvPr/>
          </p:nvSpPr>
          <p:spPr bwMode="auto">
            <a:xfrm flipV="1">
              <a:off x="2504" y="2440"/>
              <a:ext cx="520" cy="72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651000" y="2097088"/>
            <a:ext cx="5292725" cy="1814512"/>
            <a:chOff x="1040" y="1321"/>
            <a:chExt cx="3334" cy="1143"/>
          </a:xfrm>
        </p:grpSpPr>
        <p:sp>
          <p:nvSpPr>
            <p:cNvPr id="27663" name="Text Box 13"/>
            <p:cNvSpPr txBox="1">
              <a:spLocks noChangeArrowheads="1"/>
            </p:cNvSpPr>
            <p:nvPr/>
          </p:nvSpPr>
          <p:spPr bwMode="auto">
            <a:xfrm>
              <a:off x="2638" y="1321"/>
              <a:ext cx="1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 code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040" y="1440"/>
              <a:ext cx="1624" cy="1024"/>
              <a:chOff x="1040" y="1440"/>
              <a:chExt cx="1624" cy="1024"/>
            </a:xfrm>
          </p:grpSpPr>
          <p:sp>
            <p:nvSpPr>
              <p:cNvPr id="27665" name="AutoShape 15"/>
              <p:cNvSpPr>
                <a:spLocks noChangeArrowheads="1"/>
              </p:cNvSpPr>
              <p:nvPr/>
            </p:nvSpPr>
            <p:spPr bwMode="auto">
              <a:xfrm>
                <a:off x="1040" y="2208"/>
                <a:ext cx="648" cy="256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chemeClr val="accent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6" name="Line 16"/>
              <p:cNvSpPr>
                <a:spLocks noChangeShapeType="1"/>
              </p:cNvSpPr>
              <p:nvPr/>
            </p:nvSpPr>
            <p:spPr bwMode="auto">
              <a:xfrm flipH="1">
                <a:off x="2288" y="1440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67" name="Line 17"/>
              <p:cNvSpPr>
                <a:spLocks noChangeShapeType="1"/>
              </p:cNvSpPr>
              <p:nvPr/>
            </p:nvSpPr>
            <p:spPr bwMode="auto">
              <a:xfrm flipH="1">
                <a:off x="1704" y="1448"/>
                <a:ext cx="592" cy="7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4013200" y="2681288"/>
            <a:ext cx="3181350" cy="862012"/>
            <a:chOff x="2528" y="1689"/>
            <a:chExt cx="2004" cy="543"/>
          </a:xfrm>
        </p:grpSpPr>
        <p:sp>
          <p:nvSpPr>
            <p:cNvPr id="27660" name="Text Box 19"/>
            <p:cNvSpPr txBox="1">
              <a:spLocks noChangeArrowheads="1"/>
            </p:cNvSpPr>
            <p:nvPr/>
          </p:nvSpPr>
          <p:spPr bwMode="auto">
            <a:xfrm>
              <a:off x="3200" y="1689"/>
              <a:ext cx="13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Socket ID returned</a:t>
              </a:r>
            </a:p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by socket function</a:t>
              </a:r>
            </a:p>
          </p:txBody>
        </p:sp>
        <p:sp>
          <p:nvSpPr>
            <p:cNvPr id="27661" name="Line 20"/>
            <p:cNvSpPr>
              <a:spLocks noChangeShapeType="1"/>
            </p:cNvSpPr>
            <p:nvPr/>
          </p:nvSpPr>
          <p:spPr bwMode="auto">
            <a:xfrm>
              <a:off x="2808" y="1824"/>
              <a:ext cx="41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21"/>
            <p:cNvSpPr>
              <a:spLocks noChangeShapeType="1"/>
            </p:cNvSpPr>
            <p:nvPr/>
          </p:nvSpPr>
          <p:spPr bwMode="auto">
            <a:xfrm flipH="1">
              <a:off x="2528" y="1824"/>
              <a:ext cx="280" cy="4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0650D409-03E1-4E09-8D6B-BD911E814B2F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867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36F87F-F02F-4005-80F1-6BF854457DB0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2345" name="Rectangle 57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2335" name="AutoShape 47"/>
          <p:cNvSpPr>
            <a:spLocks noChangeArrowheads="1"/>
          </p:cNvSpPr>
          <p:nvPr/>
        </p:nvSpPr>
        <p:spPr bwMode="auto">
          <a:xfrm>
            <a:off x="469900" y="1320800"/>
            <a:ext cx="3060700" cy="3683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79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1574800" y="26336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81" name="Rectangle 9"/>
          <p:cNvSpPr>
            <a:spLocks noChangeArrowheads="1"/>
          </p:cNvSpPr>
          <p:nvPr/>
        </p:nvSpPr>
        <p:spPr bwMode="auto">
          <a:xfrm>
            <a:off x="3289300" y="4868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2" name="Rectangle 10"/>
          <p:cNvSpPr>
            <a:spLocks noChangeArrowheads="1"/>
          </p:cNvSpPr>
          <p:nvPr/>
        </p:nvSpPr>
        <p:spPr bwMode="auto">
          <a:xfrm>
            <a:off x="3289300" y="4360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Rectangle 11"/>
          <p:cNvSpPr>
            <a:spLocks noChangeArrowheads="1"/>
          </p:cNvSpPr>
          <p:nvPr/>
        </p:nvSpPr>
        <p:spPr bwMode="auto">
          <a:xfrm>
            <a:off x="3289300" y="3852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Rectangle 12"/>
          <p:cNvSpPr>
            <a:spLocks noChangeArrowheads="1"/>
          </p:cNvSpPr>
          <p:nvPr/>
        </p:nvSpPr>
        <p:spPr bwMode="auto">
          <a:xfrm>
            <a:off x="3289300" y="2836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Rectangle 13"/>
          <p:cNvSpPr>
            <a:spLocks noChangeArrowheads="1"/>
          </p:cNvSpPr>
          <p:nvPr/>
        </p:nvSpPr>
        <p:spPr bwMode="auto">
          <a:xfrm>
            <a:off x="449263" y="1304925"/>
            <a:ext cx="30908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Step 4 - Part 1</a:t>
            </a:r>
            <a:r>
              <a:rPr kumimoji="1" lang="en-US" altLang="ja-JP" sz="2000">
                <a:latin typeface="Times New Roman" pitchFamily="18" charset="0"/>
              </a:rPr>
              <a:t>: </a:t>
            </a:r>
            <a:r>
              <a:rPr kumimoji="1" lang="en-US" altLang="ja-JP" sz="2000" b="1" i="1">
                <a:latin typeface="Times New Roman" pitchFamily="18" charset="0"/>
              </a:rPr>
              <a:t>accept</a:t>
            </a:r>
            <a:r>
              <a:rPr kumimoji="1" lang="en-US" altLang="ja-JP" sz="2000">
                <a:latin typeface="Times New Roman" pitchFamily="18" charset="0"/>
              </a:rPr>
              <a:t>( ) call</a:t>
            </a:r>
          </a:p>
        </p:txBody>
      </p:sp>
      <p:sp>
        <p:nvSpPr>
          <p:cNvPr id="28686" name="Text Box 15"/>
          <p:cNvSpPr txBox="1">
            <a:spLocks noChangeArrowheads="1"/>
          </p:cNvSpPr>
          <p:nvPr/>
        </p:nvSpPr>
        <p:spPr bwMode="auto">
          <a:xfrm>
            <a:off x="1647825" y="1957388"/>
            <a:ext cx="22383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>
                <a:latin typeface="Times New Roman" pitchFamily="18" charset="0"/>
              </a:rPr>
              <a:t>After </a:t>
            </a:r>
            <a:r>
              <a:rPr kumimoji="1" lang="en-US" altLang="ja-JP" sz="2000" i="1">
                <a:latin typeface="Times New Roman" pitchFamily="18" charset="0"/>
              </a:rPr>
              <a:t>accept(_)</a:t>
            </a:r>
            <a:r>
              <a:rPr kumimoji="1" lang="en-US" altLang="ja-JP" sz="2000">
                <a:latin typeface="Times New Roman" pitchFamily="18" charset="0"/>
              </a:rPr>
              <a:t> call:</a:t>
            </a:r>
          </a:p>
        </p:txBody>
      </p:sp>
      <p:sp>
        <p:nvSpPr>
          <p:cNvPr id="28687" name="Line 16"/>
          <p:cNvSpPr>
            <a:spLocks noChangeShapeType="1"/>
          </p:cNvSpPr>
          <p:nvPr/>
        </p:nvSpPr>
        <p:spPr bwMode="auto">
          <a:xfrm flipV="1">
            <a:off x="2006600" y="3479800"/>
            <a:ext cx="1317625" cy="444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1746250" y="3751263"/>
            <a:ext cx="977900" cy="800100"/>
            <a:chOff x="1100" y="2363"/>
            <a:chExt cx="616" cy="504"/>
          </a:xfrm>
        </p:grpSpPr>
        <p:sp>
          <p:nvSpPr>
            <p:cNvPr id="12306" name="Oval 18"/>
            <p:cNvSpPr>
              <a:spLocks noChangeArrowheads="1"/>
            </p:cNvSpPr>
            <p:nvPr/>
          </p:nvSpPr>
          <p:spPr bwMode="auto">
            <a:xfrm>
              <a:off x="1100" y="2363"/>
              <a:ext cx="616" cy="50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709" name="Rectangle 19"/>
            <p:cNvSpPr>
              <a:spLocks noChangeArrowheads="1"/>
            </p:cNvSpPr>
            <p:nvPr/>
          </p:nvSpPr>
          <p:spPr bwMode="auto">
            <a:xfrm>
              <a:off x="1164" y="2499"/>
              <a:ext cx="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Server</a:t>
              </a:r>
            </a:p>
          </p:txBody>
        </p:sp>
      </p:grpSp>
      <p:sp>
        <p:nvSpPr>
          <p:cNvPr id="12322" name="Line 34"/>
          <p:cNvSpPr>
            <a:spLocks noChangeShapeType="1"/>
          </p:cNvSpPr>
          <p:nvPr/>
        </p:nvSpPr>
        <p:spPr bwMode="auto">
          <a:xfrm flipV="1">
            <a:off x="3822700" y="3263900"/>
            <a:ext cx="1536700" cy="20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319" name="Rectangle 31"/>
          <p:cNvSpPr>
            <a:spLocks noChangeArrowheads="1"/>
          </p:cNvSpPr>
          <p:nvPr/>
        </p:nvSpPr>
        <p:spPr bwMode="auto">
          <a:xfrm>
            <a:off x="5575300" y="2667000"/>
            <a:ext cx="1866900" cy="195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91" name="Rectangle 8"/>
          <p:cNvSpPr>
            <a:spLocks noChangeArrowheads="1"/>
          </p:cNvSpPr>
          <p:nvPr/>
        </p:nvSpPr>
        <p:spPr bwMode="auto">
          <a:xfrm>
            <a:off x="3289300" y="3344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Text Box 17"/>
          <p:cNvSpPr txBox="1">
            <a:spLocks noChangeArrowheads="1"/>
          </p:cNvSpPr>
          <p:nvPr/>
        </p:nvSpPr>
        <p:spPr bwMode="auto">
          <a:xfrm>
            <a:off x="3197225" y="33385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  <p:grpSp>
        <p:nvGrpSpPr>
          <p:cNvPr id="3" name="Group 43"/>
          <p:cNvGrpSpPr>
            <a:grpSpLocks/>
          </p:cNvGrpSpPr>
          <p:nvPr/>
        </p:nvGrpSpPr>
        <p:grpSpPr bwMode="auto">
          <a:xfrm>
            <a:off x="4953000" y="1473200"/>
            <a:ext cx="2463800" cy="787400"/>
            <a:chOff x="3120" y="928"/>
            <a:chExt cx="1552" cy="496"/>
          </a:xfrm>
        </p:grpSpPr>
        <p:sp>
          <p:nvSpPr>
            <p:cNvPr id="12329" name="AutoShape 41"/>
            <p:cNvSpPr>
              <a:spLocks noChangeArrowheads="1"/>
            </p:cNvSpPr>
            <p:nvPr/>
          </p:nvSpPr>
          <p:spPr bwMode="auto">
            <a:xfrm>
              <a:off x="3120" y="928"/>
              <a:ext cx="1552" cy="49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707" name="Text Box 40"/>
            <p:cNvSpPr txBox="1">
              <a:spLocks noChangeArrowheads="1"/>
            </p:cNvSpPr>
            <p:nvPr/>
          </p:nvSpPr>
          <p:spPr bwMode="auto">
            <a:xfrm>
              <a:off x="3206" y="954"/>
              <a:ext cx="1437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 i="1">
                  <a:solidFill>
                    <a:schemeClr val="accent2"/>
                  </a:solidFill>
                  <a:latin typeface="Times New Roman" pitchFamily="18" charset="0"/>
                </a:rPr>
                <a:t>accept ( )</a:t>
              </a:r>
              <a:r>
                <a:rPr kumimoji="1" lang="en-US" sz="2000">
                  <a:solidFill>
                    <a:schemeClr val="accent2"/>
                  </a:solidFill>
                  <a:latin typeface="Times New Roman" pitchFamily="18" charset="0"/>
                </a:rPr>
                <a:t> function is</a:t>
              </a:r>
            </a:p>
            <a:p>
              <a:r>
                <a:rPr kumimoji="1" lang="en-US" sz="2000">
                  <a:solidFill>
                    <a:schemeClr val="accent2"/>
                  </a:solidFill>
                  <a:latin typeface="Times New Roman" pitchFamily="18" charset="0"/>
                </a:rPr>
                <a:t>a </a:t>
              </a:r>
              <a:r>
                <a:rPr kumimoji="1" lang="en-US" sz="2000">
                  <a:solidFill>
                    <a:srgbClr val="FF0000"/>
                  </a:solidFill>
                  <a:latin typeface="Times New Roman" pitchFamily="18" charset="0"/>
                </a:rPr>
                <a:t>blocking</a:t>
              </a:r>
              <a:r>
                <a:rPr kumimoji="1" lang="en-US" sz="2000">
                  <a:solidFill>
                    <a:schemeClr val="accent2"/>
                  </a:solidFill>
                  <a:latin typeface="Times New Roman" pitchFamily="18" charset="0"/>
                </a:rPr>
                <a:t> function</a:t>
              </a:r>
            </a:p>
          </p:txBody>
        </p:sp>
      </p:grpSp>
      <p:grpSp>
        <p:nvGrpSpPr>
          <p:cNvPr id="4" name="Group 56"/>
          <p:cNvGrpSpPr>
            <a:grpSpLocks/>
          </p:cNvGrpSpPr>
          <p:nvPr/>
        </p:nvGrpSpPr>
        <p:grpSpPr bwMode="auto">
          <a:xfrm>
            <a:off x="1876425" y="3632200"/>
            <a:ext cx="5224463" cy="2506663"/>
            <a:chOff x="1182" y="2288"/>
            <a:chExt cx="3291" cy="1579"/>
          </a:xfrm>
        </p:grpSpPr>
        <p:grpSp>
          <p:nvGrpSpPr>
            <p:cNvPr id="5" name="Group 54"/>
            <p:cNvGrpSpPr>
              <a:grpSpLocks/>
            </p:cNvGrpSpPr>
            <p:nvPr/>
          </p:nvGrpSpPr>
          <p:grpSpPr bwMode="auto">
            <a:xfrm>
              <a:off x="1182" y="3617"/>
              <a:ext cx="3291" cy="250"/>
              <a:chOff x="1182" y="3617"/>
              <a:chExt cx="3291" cy="250"/>
            </a:xfrm>
          </p:grpSpPr>
          <p:sp>
            <p:nvSpPr>
              <p:cNvPr id="12341" name="AutoShape 53"/>
              <p:cNvSpPr>
                <a:spLocks noChangeArrowheads="1"/>
              </p:cNvSpPr>
              <p:nvPr/>
            </p:nvSpPr>
            <p:spPr bwMode="auto">
              <a:xfrm>
                <a:off x="1208" y="3640"/>
                <a:ext cx="3248" cy="224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28705" name="Text Box 52"/>
              <p:cNvSpPr txBox="1">
                <a:spLocks noChangeArrowheads="1"/>
              </p:cNvSpPr>
              <p:nvPr/>
            </p:nvSpPr>
            <p:spPr bwMode="auto">
              <a:xfrm>
                <a:off x="1182" y="3617"/>
                <a:ext cx="329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altLang="ja-JP" sz="2000">
                    <a:solidFill>
                      <a:srgbClr val="006600"/>
                    </a:solidFill>
                    <a:latin typeface="Times New Roman" pitchFamily="18" charset="0"/>
                  </a:rPr>
                  <a:t>The server process accepts a request from a client</a:t>
                </a:r>
                <a:endParaRPr kumimoji="1" lang="en-US" sz="2000">
                  <a:solidFill>
                    <a:srgbClr val="0066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28703" name="Line 55"/>
            <p:cNvSpPr>
              <a:spLocks noChangeShapeType="1"/>
            </p:cNvSpPr>
            <p:nvPr/>
          </p:nvSpPr>
          <p:spPr bwMode="auto">
            <a:xfrm flipH="1" flipV="1">
              <a:off x="2312" y="2288"/>
              <a:ext cx="592" cy="134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695" name="Line 35"/>
          <p:cNvSpPr>
            <a:spLocks noChangeShapeType="1"/>
          </p:cNvSpPr>
          <p:nvPr/>
        </p:nvSpPr>
        <p:spPr bwMode="auto">
          <a:xfrm>
            <a:off x="5778500" y="3251200"/>
            <a:ext cx="546100" cy="165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50"/>
          <p:cNvGrpSpPr>
            <a:grpSpLocks/>
          </p:cNvGrpSpPr>
          <p:nvPr/>
        </p:nvGrpSpPr>
        <p:grpSpPr bwMode="auto">
          <a:xfrm>
            <a:off x="6102350" y="3154363"/>
            <a:ext cx="977900" cy="800100"/>
            <a:chOff x="3844" y="1995"/>
            <a:chExt cx="616" cy="504"/>
          </a:xfrm>
        </p:grpSpPr>
        <p:sp>
          <p:nvSpPr>
            <p:cNvPr id="12320" name="Oval 32"/>
            <p:cNvSpPr>
              <a:spLocks noChangeArrowheads="1"/>
            </p:cNvSpPr>
            <p:nvPr/>
          </p:nvSpPr>
          <p:spPr bwMode="auto">
            <a:xfrm>
              <a:off x="3844" y="1995"/>
              <a:ext cx="616" cy="504"/>
            </a:xfrm>
            <a:prstGeom prst="ellipse">
              <a:avLst/>
            </a:prstGeom>
            <a:solidFill>
              <a:srgbClr val="99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701" name="Rectangle 33"/>
            <p:cNvSpPr>
              <a:spLocks noChangeArrowheads="1"/>
            </p:cNvSpPr>
            <p:nvPr/>
          </p:nvSpPr>
          <p:spPr bwMode="auto">
            <a:xfrm>
              <a:off x="3916" y="2144"/>
              <a:ext cx="46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Client</a:t>
              </a:r>
            </a:p>
          </p:txBody>
        </p:sp>
      </p:grp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5321300" y="3111500"/>
            <a:ext cx="501650" cy="1071563"/>
            <a:chOff x="3352" y="1968"/>
            <a:chExt cx="316" cy="675"/>
          </a:xfrm>
        </p:grpSpPr>
        <p:sp>
          <p:nvSpPr>
            <p:cNvPr id="28698" name="Rectangle 30"/>
            <p:cNvSpPr>
              <a:spLocks noChangeArrowheads="1"/>
            </p:cNvSpPr>
            <p:nvPr/>
          </p:nvSpPr>
          <p:spPr bwMode="auto">
            <a:xfrm>
              <a:off x="3352" y="2459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99" name="Rectangle 29"/>
            <p:cNvSpPr>
              <a:spLocks noChangeArrowheads="1"/>
            </p:cNvSpPr>
            <p:nvPr/>
          </p:nvSpPr>
          <p:spPr bwMode="auto">
            <a:xfrm>
              <a:off x="3352" y="1968"/>
              <a:ext cx="316" cy="184"/>
            </a:xfrm>
            <a:prstGeom prst="rect">
              <a:avLst/>
            </a:prstGeom>
            <a:solidFill>
              <a:srgbClr val="99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2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F4F0738A-EBA5-4D4E-A2CC-267FB0D310C1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2969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573910E-568A-495F-BBDF-5DC33DBB849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3363" name="Rectangle 51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3333" name="Line 21"/>
          <p:cNvSpPr>
            <a:spLocks noChangeShapeType="1"/>
          </p:cNvSpPr>
          <p:nvPr/>
        </p:nvSpPr>
        <p:spPr bwMode="auto">
          <a:xfrm flipV="1">
            <a:off x="3810000" y="3263900"/>
            <a:ext cx="1549400" cy="203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1574800" y="26336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3289300" y="4868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6" name="Rectangle 10"/>
          <p:cNvSpPr>
            <a:spLocks noChangeArrowheads="1"/>
          </p:cNvSpPr>
          <p:nvPr/>
        </p:nvSpPr>
        <p:spPr bwMode="auto">
          <a:xfrm>
            <a:off x="3289300" y="4360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3289300" y="2836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449263" y="1304925"/>
            <a:ext cx="3106737" cy="396875"/>
            <a:chOff x="283" y="822"/>
            <a:chExt cx="1957" cy="250"/>
          </a:xfrm>
        </p:grpSpPr>
        <p:sp>
          <p:nvSpPr>
            <p:cNvPr id="13359" name="AutoShape 47"/>
            <p:cNvSpPr>
              <a:spLocks noChangeArrowheads="1"/>
            </p:cNvSpPr>
            <p:nvPr/>
          </p:nvSpPr>
          <p:spPr bwMode="auto">
            <a:xfrm>
              <a:off x="288" y="840"/>
              <a:ext cx="1952" cy="21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740" name="Rectangle 13"/>
            <p:cNvSpPr>
              <a:spLocks noChangeArrowheads="1"/>
            </p:cNvSpPr>
            <p:nvPr/>
          </p:nvSpPr>
          <p:spPr bwMode="auto">
            <a:xfrm>
              <a:off x="283" y="822"/>
              <a:ext cx="194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Step 4 - Part 2</a:t>
              </a:r>
              <a:r>
                <a:rPr kumimoji="1" lang="en-US" altLang="ja-JP" sz="2000">
                  <a:latin typeface="Times New Roman" pitchFamily="18" charset="0"/>
                </a:rPr>
                <a:t>: </a:t>
              </a:r>
              <a:r>
                <a:rPr kumimoji="1" lang="en-US" altLang="ja-JP" sz="2000" b="1" i="1">
                  <a:latin typeface="Times New Roman" pitchFamily="18" charset="0"/>
                </a:rPr>
                <a:t>accept</a:t>
              </a:r>
              <a:r>
                <a:rPr kumimoji="1" lang="en-US" altLang="ja-JP" sz="2000">
                  <a:latin typeface="Times New Roman" pitchFamily="18" charset="0"/>
                </a:rPr>
                <a:t>( ) call</a:t>
              </a:r>
            </a:p>
          </p:txBody>
        </p:sp>
      </p:grpSp>
      <p:sp>
        <p:nvSpPr>
          <p:cNvPr id="29709" name="Text Box 15"/>
          <p:cNvSpPr txBox="1">
            <a:spLocks noChangeArrowheads="1"/>
          </p:cNvSpPr>
          <p:nvPr/>
        </p:nvSpPr>
        <p:spPr bwMode="auto">
          <a:xfrm>
            <a:off x="454025" y="1919288"/>
            <a:ext cx="83089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>
                <a:latin typeface="Times New Roman" pitchFamily="18" charset="0"/>
              </a:rPr>
              <a:t>The </a:t>
            </a:r>
            <a:r>
              <a:rPr kumimoji="1" lang="en-US" altLang="ja-JP" sz="2000" i="1">
                <a:latin typeface="Times New Roman" pitchFamily="18" charset="0"/>
              </a:rPr>
              <a:t>accept(_)</a:t>
            </a:r>
            <a:r>
              <a:rPr kumimoji="1" lang="en-US" altLang="ja-JP" sz="2000">
                <a:latin typeface="Times New Roman" pitchFamily="18" charset="0"/>
              </a:rPr>
              <a:t> call returns another port number and</a:t>
            </a:r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 establish another connection</a:t>
            </a:r>
          </a:p>
        </p:txBody>
      </p:sp>
      <p:sp>
        <p:nvSpPr>
          <p:cNvPr id="29710" name="Line 16"/>
          <p:cNvSpPr>
            <a:spLocks noChangeShapeType="1"/>
          </p:cNvSpPr>
          <p:nvPr/>
        </p:nvSpPr>
        <p:spPr bwMode="auto">
          <a:xfrm flipV="1">
            <a:off x="2006600" y="3479800"/>
            <a:ext cx="1368425" cy="444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5575300" y="2679700"/>
            <a:ext cx="1866900" cy="195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712" name="Rectangle 20"/>
          <p:cNvSpPr>
            <a:spLocks noChangeArrowheads="1"/>
          </p:cNvSpPr>
          <p:nvPr/>
        </p:nvSpPr>
        <p:spPr bwMode="auto">
          <a:xfrm>
            <a:off x="5321300" y="39036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23"/>
          <p:cNvSpPr>
            <a:spLocks noChangeShapeType="1"/>
          </p:cNvSpPr>
          <p:nvPr/>
        </p:nvSpPr>
        <p:spPr bwMode="auto">
          <a:xfrm>
            <a:off x="5778500" y="3251200"/>
            <a:ext cx="546100" cy="1651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37" name="Oval 25"/>
          <p:cNvSpPr>
            <a:spLocks noChangeArrowheads="1"/>
          </p:cNvSpPr>
          <p:nvPr/>
        </p:nvSpPr>
        <p:spPr bwMode="auto">
          <a:xfrm>
            <a:off x="6102350" y="3167063"/>
            <a:ext cx="977900" cy="800100"/>
          </a:xfrm>
          <a:prstGeom prst="ellipse">
            <a:avLst/>
          </a:prstGeom>
          <a:solidFill>
            <a:srgbClr val="99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9715" name="Rectangle 26"/>
          <p:cNvSpPr>
            <a:spLocks noChangeArrowheads="1"/>
          </p:cNvSpPr>
          <p:nvPr/>
        </p:nvSpPr>
        <p:spPr bwMode="auto">
          <a:xfrm>
            <a:off x="6229350" y="3416300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Client</a:t>
            </a: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2628900" y="3251200"/>
            <a:ext cx="2717800" cy="749300"/>
            <a:chOff x="1656" y="2048"/>
            <a:chExt cx="1712" cy="472"/>
          </a:xfrm>
        </p:grpSpPr>
        <p:sp>
          <p:nvSpPr>
            <p:cNvPr id="29737" name="Line 27"/>
            <p:cNvSpPr>
              <a:spLocks noChangeShapeType="1"/>
            </p:cNvSpPr>
            <p:nvPr/>
          </p:nvSpPr>
          <p:spPr bwMode="auto">
            <a:xfrm flipV="1">
              <a:off x="1656" y="2512"/>
              <a:ext cx="472" cy="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8" name="Line 29"/>
            <p:cNvSpPr>
              <a:spLocks noChangeShapeType="1"/>
            </p:cNvSpPr>
            <p:nvPr/>
          </p:nvSpPr>
          <p:spPr bwMode="auto">
            <a:xfrm flipV="1">
              <a:off x="2344" y="2048"/>
              <a:ext cx="1024" cy="4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717" name="Rectangle 11"/>
          <p:cNvSpPr>
            <a:spLocks noChangeArrowheads="1"/>
          </p:cNvSpPr>
          <p:nvPr/>
        </p:nvSpPr>
        <p:spPr bwMode="auto">
          <a:xfrm>
            <a:off x="3289300" y="3852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3235325" y="38338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chemeClr val="accent2"/>
                </a:solidFill>
                <a:latin typeface="Times New Roman" pitchFamily="18" charset="0"/>
              </a:rPr>
              <a:t>7100</a:t>
            </a:r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4267200" y="3200400"/>
            <a:ext cx="317500" cy="355600"/>
            <a:chOff x="2864" y="3512"/>
            <a:chExt cx="200" cy="224"/>
          </a:xfrm>
        </p:grpSpPr>
        <p:sp>
          <p:nvSpPr>
            <p:cNvPr id="29735" name="Line 32"/>
            <p:cNvSpPr>
              <a:spLocks noChangeShapeType="1"/>
            </p:cNvSpPr>
            <p:nvPr/>
          </p:nvSpPr>
          <p:spPr bwMode="auto">
            <a:xfrm>
              <a:off x="2880" y="3512"/>
              <a:ext cx="184" cy="216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6" name="Line 33"/>
            <p:cNvSpPr>
              <a:spLocks noChangeShapeType="1"/>
            </p:cNvSpPr>
            <p:nvPr/>
          </p:nvSpPr>
          <p:spPr bwMode="auto">
            <a:xfrm flipH="1">
              <a:off x="2864" y="3512"/>
              <a:ext cx="200" cy="22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720" name="Rectangle 24"/>
          <p:cNvSpPr>
            <a:spLocks noChangeArrowheads="1"/>
          </p:cNvSpPr>
          <p:nvPr/>
        </p:nvSpPr>
        <p:spPr bwMode="auto">
          <a:xfrm>
            <a:off x="5321300" y="3124200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Rectangle 8"/>
          <p:cNvSpPr>
            <a:spLocks noChangeArrowheads="1"/>
          </p:cNvSpPr>
          <p:nvPr/>
        </p:nvSpPr>
        <p:spPr bwMode="auto">
          <a:xfrm>
            <a:off x="3289300" y="3344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Text Box 22"/>
          <p:cNvSpPr txBox="1">
            <a:spLocks noChangeArrowheads="1"/>
          </p:cNvSpPr>
          <p:nvPr/>
        </p:nvSpPr>
        <p:spPr bwMode="auto">
          <a:xfrm>
            <a:off x="3248025" y="33258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797300" y="4203700"/>
            <a:ext cx="3971925" cy="1528763"/>
            <a:chOff x="2392" y="2648"/>
            <a:chExt cx="2502" cy="963"/>
          </a:xfrm>
        </p:grpSpPr>
        <p:sp>
          <p:nvSpPr>
            <p:cNvPr id="29733" name="Text Box 39"/>
            <p:cNvSpPr txBox="1">
              <a:spLocks noChangeArrowheads="1"/>
            </p:cNvSpPr>
            <p:nvPr/>
          </p:nvSpPr>
          <p:spPr bwMode="auto">
            <a:xfrm>
              <a:off x="2694" y="3361"/>
              <a:ext cx="220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latin typeface="Times New Roman" pitchFamily="18" charset="0"/>
                  <a:sym typeface="Wingdings" pitchFamily="2" charset="2"/>
                </a:rPr>
                <a:t> </a:t>
              </a:r>
              <a:r>
                <a:rPr kumimoji="1" lang="en-US" sz="2000">
                  <a:latin typeface="Times New Roman" pitchFamily="18" charset="0"/>
                </a:rPr>
                <a:t>A new port is assigned by OS</a:t>
              </a:r>
            </a:p>
          </p:txBody>
        </p:sp>
        <p:sp>
          <p:nvSpPr>
            <p:cNvPr id="29734" name="Line 40"/>
            <p:cNvSpPr>
              <a:spLocks noChangeShapeType="1"/>
            </p:cNvSpPr>
            <p:nvPr/>
          </p:nvSpPr>
          <p:spPr bwMode="auto">
            <a:xfrm flipH="1" flipV="1">
              <a:off x="2392" y="2648"/>
              <a:ext cx="344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4264025" y="3810000"/>
            <a:ext cx="4151313" cy="1439863"/>
            <a:chOff x="2686" y="2400"/>
            <a:chExt cx="2615" cy="907"/>
          </a:xfrm>
        </p:grpSpPr>
        <p:sp>
          <p:nvSpPr>
            <p:cNvPr id="29731" name="Text Box 38"/>
            <p:cNvSpPr txBox="1">
              <a:spLocks noChangeArrowheads="1"/>
            </p:cNvSpPr>
            <p:nvPr/>
          </p:nvSpPr>
          <p:spPr bwMode="auto">
            <a:xfrm>
              <a:off x="2686" y="3057"/>
              <a:ext cx="261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latin typeface="Times New Roman" pitchFamily="18" charset="0"/>
                  <a:sym typeface="Wingdings" pitchFamily="2" charset="2"/>
                </a:rPr>
                <a:t> </a:t>
              </a:r>
              <a:r>
                <a:rPr kumimoji="1" lang="en-US" sz="2000">
                  <a:latin typeface="Times New Roman" pitchFamily="18" charset="0"/>
                </a:rPr>
                <a:t>OS duplicates the socket connection</a:t>
              </a:r>
            </a:p>
          </p:txBody>
        </p:sp>
        <p:sp>
          <p:nvSpPr>
            <p:cNvPr id="29732" name="Line 42"/>
            <p:cNvSpPr>
              <a:spLocks noChangeShapeType="1"/>
            </p:cNvSpPr>
            <p:nvPr/>
          </p:nvSpPr>
          <p:spPr bwMode="auto">
            <a:xfrm flipH="1" flipV="1">
              <a:off x="2696" y="2400"/>
              <a:ext cx="120" cy="6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4340225" y="2262188"/>
            <a:ext cx="3465513" cy="1001712"/>
            <a:chOff x="2734" y="1425"/>
            <a:chExt cx="2183" cy="631"/>
          </a:xfrm>
        </p:grpSpPr>
        <p:sp>
          <p:nvSpPr>
            <p:cNvPr id="29729" name="Text Box 44"/>
            <p:cNvSpPr txBox="1">
              <a:spLocks noChangeArrowheads="1"/>
            </p:cNvSpPr>
            <p:nvPr/>
          </p:nvSpPr>
          <p:spPr bwMode="auto">
            <a:xfrm>
              <a:off x="2734" y="1425"/>
              <a:ext cx="218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latin typeface="Times New Roman" pitchFamily="18" charset="0"/>
                  <a:sym typeface="Wingdings" pitchFamily="2" charset="2"/>
                </a:rPr>
                <a:t> Server needs to close the first</a:t>
              </a:r>
            </a:p>
          </p:txBody>
        </p:sp>
        <p:sp>
          <p:nvSpPr>
            <p:cNvPr id="29730" name="Line 45"/>
            <p:cNvSpPr>
              <a:spLocks noChangeShapeType="1"/>
            </p:cNvSpPr>
            <p:nvPr/>
          </p:nvSpPr>
          <p:spPr bwMode="auto">
            <a:xfrm flipH="1">
              <a:off x="2800" y="1656"/>
              <a:ext cx="64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1733550" y="3675063"/>
            <a:ext cx="977900" cy="800100"/>
            <a:chOff x="1092" y="2315"/>
            <a:chExt cx="616" cy="504"/>
          </a:xfrm>
        </p:grpSpPr>
        <p:sp>
          <p:nvSpPr>
            <p:cNvPr id="13329" name="Oval 17"/>
            <p:cNvSpPr>
              <a:spLocks noChangeArrowheads="1"/>
            </p:cNvSpPr>
            <p:nvPr/>
          </p:nvSpPr>
          <p:spPr bwMode="auto">
            <a:xfrm>
              <a:off x="1092" y="2315"/>
              <a:ext cx="616" cy="50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728" name="Rectangle 18"/>
            <p:cNvSpPr>
              <a:spLocks noChangeArrowheads="1"/>
            </p:cNvSpPr>
            <p:nvPr/>
          </p:nvSpPr>
          <p:spPr bwMode="auto">
            <a:xfrm>
              <a:off x="1156" y="2451"/>
              <a:ext cx="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Server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3" grpId="0" animBg="1"/>
      <p:bldP spid="133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9183B1EF-A54E-4835-BF36-4C768D4D5211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072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279E24-1268-4D0B-8EB2-3B4D75E22B8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0726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27175"/>
            <a:ext cx="2503488" cy="457200"/>
            <a:chOff x="368" y="962"/>
            <a:chExt cx="1577" cy="288"/>
          </a:xfrm>
        </p:grpSpPr>
        <p:sp>
          <p:nvSpPr>
            <p:cNvPr id="98309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560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752" name="Text Box 6"/>
            <p:cNvSpPr txBox="1">
              <a:spLocks noChangeArrowheads="1"/>
            </p:cNvSpPr>
            <p:nvPr/>
          </p:nvSpPr>
          <p:spPr bwMode="auto">
            <a:xfrm>
              <a:off x="374" y="962"/>
              <a:ext cx="15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accept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30728" name="Text Box 7"/>
          <p:cNvSpPr txBox="1">
            <a:spLocks noChangeArrowheads="1"/>
          </p:cNvSpPr>
          <p:nvPr/>
        </p:nvSpPr>
        <p:spPr bwMode="auto">
          <a:xfrm>
            <a:off x="390525" y="3481388"/>
            <a:ext cx="8502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unsingned int</a:t>
            </a:r>
            <a:r>
              <a:rPr kumimoji="1" lang="en-US" altLang="ja-JP" sz="2000">
                <a:latin typeface="Times New Roman" pitchFamily="18" charset="0"/>
              </a:rPr>
              <a:t> child_sock = </a:t>
            </a:r>
            <a:r>
              <a:rPr kumimoji="1" lang="en-US" altLang="ja-JP" sz="2000" b="1" i="1">
                <a:latin typeface="Times New Roman" pitchFamily="18" charset="0"/>
              </a:rPr>
              <a:t>accept</a:t>
            </a:r>
            <a:r>
              <a:rPr kumimoji="1" lang="en-US" altLang="ja-JP" sz="2000">
                <a:latin typeface="Times New Roman" pitchFamily="18" charset="0"/>
              </a:rPr>
              <a:t> (socket_id, (struct </a:t>
            </a:r>
            <a:r>
              <a:rPr kumimoji="1" lang="en-US" altLang="ja-JP" sz="2000" b="1" i="1">
                <a:latin typeface="Times New Roman" pitchFamily="18" charset="0"/>
              </a:rPr>
              <a:t>sockaddr_in</a:t>
            </a:r>
            <a:r>
              <a:rPr kumimoji="1" lang="en-US" altLang="ja-JP" sz="2000">
                <a:latin typeface="Times New Roman" pitchFamily="18" charset="0"/>
              </a:rPr>
              <a:t> *) client_addr,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93725" y="4432300"/>
            <a:ext cx="7927975" cy="1425575"/>
            <a:chOff x="374" y="2792"/>
            <a:chExt cx="4994" cy="898"/>
          </a:xfrm>
        </p:grpSpPr>
        <p:sp>
          <p:nvSpPr>
            <p:cNvPr id="30747" name="Text Box 9"/>
            <p:cNvSpPr txBox="1">
              <a:spLocks noChangeArrowheads="1"/>
            </p:cNvSpPr>
            <p:nvPr/>
          </p:nvSpPr>
          <p:spPr bwMode="auto">
            <a:xfrm>
              <a:off x="374" y="3440"/>
              <a:ext cx="386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The size of the </a:t>
              </a:r>
              <a:r>
                <a:rPr kumimoji="1" lang="en-US" altLang="ja-JP" sz="2000" b="1" i="1">
                  <a:solidFill>
                    <a:schemeClr val="accent2"/>
                  </a:solidFill>
                  <a:latin typeface="Times New Roman" pitchFamily="18" charset="0"/>
                </a:rPr>
                <a:t>sockaddr_in</a:t>
              </a:r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 structure for connecting client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grpSp>
          <p:nvGrpSpPr>
            <p:cNvPr id="4" name="Group 10"/>
            <p:cNvGrpSpPr>
              <a:grpSpLocks/>
            </p:cNvGrpSpPr>
            <p:nvPr/>
          </p:nvGrpSpPr>
          <p:grpSpPr bwMode="auto">
            <a:xfrm>
              <a:off x="4184" y="2792"/>
              <a:ext cx="1184" cy="744"/>
              <a:chOff x="4184" y="2792"/>
              <a:chExt cx="1184" cy="744"/>
            </a:xfrm>
          </p:grpSpPr>
          <p:sp>
            <p:nvSpPr>
              <p:cNvPr id="30749" name="Line 11"/>
              <p:cNvSpPr>
                <a:spLocks noChangeShapeType="1"/>
              </p:cNvSpPr>
              <p:nvPr/>
            </p:nvSpPr>
            <p:spPr bwMode="auto">
              <a:xfrm flipV="1">
                <a:off x="4184" y="2792"/>
                <a:ext cx="1184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0" name="Line 12"/>
              <p:cNvSpPr>
                <a:spLocks noChangeShapeType="1"/>
              </p:cNvSpPr>
              <p:nvPr/>
            </p:nvSpPr>
            <p:spPr bwMode="auto">
              <a:xfrm flipV="1">
                <a:off x="4280" y="2808"/>
                <a:ext cx="520" cy="7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419100" y="2084388"/>
            <a:ext cx="7897813" cy="1827212"/>
            <a:chOff x="416" y="1313"/>
            <a:chExt cx="4975" cy="1151"/>
          </a:xfrm>
        </p:grpSpPr>
        <p:sp>
          <p:nvSpPr>
            <p:cNvPr id="30742" name="Text Box 14"/>
            <p:cNvSpPr txBox="1">
              <a:spLocks noChangeArrowheads="1"/>
            </p:cNvSpPr>
            <p:nvPr/>
          </p:nvSpPr>
          <p:spPr bwMode="auto">
            <a:xfrm>
              <a:off x="3070" y="1313"/>
              <a:ext cx="23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duplicated socket ID 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6" name="Group 15"/>
            <p:cNvGrpSpPr>
              <a:grpSpLocks/>
            </p:cNvGrpSpPr>
            <p:nvPr/>
          </p:nvGrpSpPr>
          <p:grpSpPr bwMode="auto">
            <a:xfrm>
              <a:off x="416" y="1448"/>
              <a:ext cx="2680" cy="1016"/>
              <a:chOff x="416" y="1448"/>
              <a:chExt cx="2680" cy="1016"/>
            </a:xfrm>
          </p:grpSpPr>
          <p:sp>
            <p:nvSpPr>
              <p:cNvPr id="30744" name="AutoShape 16"/>
              <p:cNvSpPr>
                <a:spLocks noChangeArrowheads="1"/>
              </p:cNvSpPr>
              <p:nvPr/>
            </p:nvSpPr>
            <p:spPr bwMode="auto">
              <a:xfrm>
                <a:off x="416" y="2208"/>
                <a:ext cx="1704" cy="256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chemeClr val="accent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5" name="Line 17"/>
              <p:cNvSpPr>
                <a:spLocks noChangeShapeType="1"/>
              </p:cNvSpPr>
              <p:nvPr/>
            </p:nvSpPr>
            <p:spPr bwMode="auto">
              <a:xfrm flipH="1">
                <a:off x="2720" y="1448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6" name="Line 18"/>
              <p:cNvSpPr>
                <a:spLocks noChangeShapeType="1"/>
              </p:cNvSpPr>
              <p:nvPr/>
            </p:nvSpPr>
            <p:spPr bwMode="auto">
              <a:xfrm flipH="1">
                <a:off x="2136" y="1448"/>
                <a:ext cx="592" cy="7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4622800" y="2706688"/>
            <a:ext cx="3181350" cy="849312"/>
            <a:chOff x="3120" y="1705"/>
            <a:chExt cx="2004" cy="535"/>
          </a:xfrm>
        </p:grpSpPr>
        <p:sp>
          <p:nvSpPr>
            <p:cNvPr id="30738" name="Text Box 20"/>
            <p:cNvSpPr txBox="1">
              <a:spLocks noChangeArrowheads="1"/>
            </p:cNvSpPr>
            <p:nvPr/>
          </p:nvSpPr>
          <p:spPr bwMode="auto">
            <a:xfrm>
              <a:off x="3792" y="1705"/>
              <a:ext cx="13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Socket ID returned</a:t>
              </a:r>
            </a:p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by socket function</a:t>
              </a:r>
            </a:p>
          </p:txBody>
        </p: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3120" y="1832"/>
              <a:ext cx="696" cy="408"/>
              <a:chOff x="3120" y="1832"/>
              <a:chExt cx="696" cy="408"/>
            </a:xfrm>
          </p:grpSpPr>
          <p:sp>
            <p:nvSpPr>
              <p:cNvPr id="30740" name="Line 22"/>
              <p:cNvSpPr>
                <a:spLocks noChangeShapeType="1"/>
              </p:cNvSpPr>
              <p:nvPr/>
            </p:nvSpPr>
            <p:spPr bwMode="auto">
              <a:xfrm>
                <a:off x="3400" y="1832"/>
                <a:ext cx="41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41" name="Line 23"/>
              <p:cNvSpPr>
                <a:spLocks noChangeShapeType="1"/>
              </p:cNvSpPr>
              <p:nvPr/>
            </p:nvSpPr>
            <p:spPr bwMode="auto">
              <a:xfrm flipH="1">
                <a:off x="3120" y="1832"/>
                <a:ext cx="280" cy="40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0732" name="Text Box 24"/>
          <p:cNvSpPr txBox="1">
            <a:spLocks noChangeArrowheads="1"/>
          </p:cNvSpPr>
          <p:nvPr/>
        </p:nvSpPr>
        <p:spPr bwMode="auto">
          <a:xfrm>
            <a:off x="6562725" y="4040188"/>
            <a:ext cx="2216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 b="1" i="1">
                <a:latin typeface="Times New Roman" pitchFamily="18" charset="0"/>
              </a:rPr>
              <a:t>sizeof </a:t>
            </a:r>
            <a:r>
              <a:rPr kumimoji="1" lang="en-US" sz="2000">
                <a:latin typeface="Times New Roman" pitchFamily="18" charset="0"/>
              </a:rPr>
              <a:t>(client_addr);</a:t>
            </a:r>
          </a:p>
        </p:txBody>
      </p: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339725" y="3860800"/>
            <a:ext cx="8181975" cy="1312863"/>
            <a:chOff x="214" y="2432"/>
            <a:chExt cx="5154" cy="827"/>
          </a:xfrm>
        </p:grpSpPr>
        <p:grpSp>
          <p:nvGrpSpPr>
            <p:cNvPr id="10" name="Group 26"/>
            <p:cNvGrpSpPr>
              <a:grpSpLocks/>
            </p:cNvGrpSpPr>
            <p:nvPr/>
          </p:nvGrpSpPr>
          <p:grpSpPr bwMode="auto">
            <a:xfrm>
              <a:off x="3424" y="2432"/>
              <a:ext cx="1944" cy="696"/>
              <a:chOff x="3520" y="2432"/>
              <a:chExt cx="1944" cy="696"/>
            </a:xfrm>
          </p:grpSpPr>
          <p:sp>
            <p:nvSpPr>
              <p:cNvPr id="30736" name="Line 27"/>
              <p:cNvSpPr>
                <a:spLocks noChangeShapeType="1"/>
              </p:cNvSpPr>
              <p:nvPr/>
            </p:nvSpPr>
            <p:spPr bwMode="auto">
              <a:xfrm>
                <a:off x="3520" y="2432"/>
                <a:ext cx="1944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7" name="Line 28"/>
              <p:cNvSpPr>
                <a:spLocks noChangeShapeType="1"/>
              </p:cNvSpPr>
              <p:nvPr/>
            </p:nvSpPr>
            <p:spPr bwMode="auto">
              <a:xfrm flipV="1">
                <a:off x="3624" y="2448"/>
                <a:ext cx="496" cy="68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735" name="Text Box 29"/>
            <p:cNvSpPr txBox="1">
              <a:spLocks noChangeArrowheads="1"/>
            </p:cNvSpPr>
            <p:nvPr/>
          </p:nvSpPr>
          <p:spPr bwMode="auto">
            <a:xfrm>
              <a:off x="214" y="3009"/>
              <a:ext cx="328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sz="2000">
                  <a:solidFill>
                    <a:srgbClr val="FF6600"/>
                  </a:solidFill>
                  <a:latin typeface="Times New Roman" pitchFamily="18" charset="0"/>
                </a:rPr>
                <a:t>The </a:t>
              </a:r>
              <a:r>
                <a:rPr kumimoji="1" lang="en-US" sz="2000" b="1" i="1">
                  <a:solidFill>
                    <a:srgbClr val="FF6600"/>
                  </a:solidFill>
                  <a:latin typeface="Times New Roman" pitchFamily="18" charset="0"/>
                </a:rPr>
                <a:t>sockaddr_in</a:t>
              </a:r>
              <a:r>
                <a:rPr kumimoji="1" lang="en-US" sz="2000">
                  <a:solidFill>
                    <a:srgbClr val="FF6600"/>
                  </a:solidFill>
                  <a:latin typeface="Times New Roman" pitchFamily="18" charset="0"/>
                </a:rPr>
                <a:t> structure for a connecting client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FBE6EF7E-133B-4B83-898B-BD17966702B0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174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ACD2462-7BF8-4F5E-B25E-AF0DBA2E7C07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4396" name="Rectangle 60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1750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auto">
          <a:xfrm>
            <a:off x="1574800" y="23796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752" name="Rectangle 9"/>
          <p:cNvSpPr>
            <a:spLocks noChangeArrowheads="1"/>
          </p:cNvSpPr>
          <p:nvPr/>
        </p:nvSpPr>
        <p:spPr bwMode="auto">
          <a:xfrm>
            <a:off x="3289300" y="4614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3" name="Rectangle 10"/>
          <p:cNvSpPr>
            <a:spLocks noChangeArrowheads="1"/>
          </p:cNvSpPr>
          <p:nvPr/>
        </p:nvSpPr>
        <p:spPr bwMode="auto">
          <a:xfrm>
            <a:off x="3289300" y="4106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4" name="Rectangle 11"/>
          <p:cNvSpPr>
            <a:spLocks noChangeArrowheads="1"/>
          </p:cNvSpPr>
          <p:nvPr/>
        </p:nvSpPr>
        <p:spPr bwMode="auto">
          <a:xfrm>
            <a:off x="3289300" y="2582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5" name="Rectangle 12"/>
          <p:cNvSpPr>
            <a:spLocks noChangeArrowheads="1"/>
          </p:cNvSpPr>
          <p:nvPr/>
        </p:nvSpPr>
        <p:spPr bwMode="auto">
          <a:xfrm>
            <a:off x="449263" y="1304925"/>
            <a:ext cx="3330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latin typeface="Times New Roman" pitchFamily="18" charset="0"/>
              </a:rPr>
              <a:t>Step 5: </a:t>
            </a:r>
            <a:r>
              <a:rPr kumimoji="1" lang="en-US" altLang="ja-JP" sz="2000" b="1" i="1">
                <a:latin typeface="Times New Roman" pitchFamily="18" charset="0"/>
              </a:rPr>
              <a:t>read</a:t>
            </a:r>
            <a:r>
              <a:rPr kumimoji="1" lang="en-US" altLang="ja-JP" sz="2000">
                <a:latin typeface="Times New Roman" pitchFamily="18" charset="0"/>
              </a:rPr>
              <a:t>( ) and </a:t>
            </a:r>
            <a:r>
              <a:rPr kumimoji="1" lang="en-US" altLang="ja-JP" sz="2000" b="1" i="1">
                <a:latin typeface="Times New Roman" pitchFamily="18" charset="0"/>
              </a:rPr>
              <a:t>write</a:t>
            </a:r>
            <a:r>
              <a:rPr kumimoji="1" lang="en-US" altLang="ja-JP" sz="2000">
                <a:latin typeface="Times New Roman" pitchFamily="18" charset="0"/>
              </a:rPr>
              <a:t>( ) call</a:t>
            </a:r>
          </a:p>
        </p:txBody>
      </p:sp>
      <p:sp>
        <p:nvSpPr>
          <p:cNvPr id="31756" name="Line 14"/>
          <p:cNvSpPr>
            <a:spLocks noChangeShapeType="1"/>
          </p:cNvSpPr>
          <p:nvPr/>
        </p:nvSpPr>
        <p:spPr bwMode="auto">
          <a:xfrm flipV="1">
            <a:off x="2006600" y="3225800"/>
            <a:ext cx="1393825" cy="4445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1" name="Rectangle 15"/>
          <p:cNvSpPr>
            <a:spLocks noChangeArrowheads="1"/>
          </p:cNvSpPr>
          <p:nvPr/>
        </p:nvSpPr>
        <p:spPr bwMode="auto">
          <a:xfrm>
            <a:off x="5575300" y="2425700"/>
            <a:ext cx="1866900" cy="195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758" name="Rectangle 16"/>
          <p:cNvSpPr>
            <a:spLocks noChangeArrowheads="1"/>
          </p:cNvSpPr>
          <p:nvPr/>
        </p:nvSpPr>
        <p:spPr bwMode="auto">
          <a:xfrm>
            <a:off x="5321300" y="36496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9"/>
          <p:cNvSpPr>
            <a:spLocks noChangeShapeType="1"/>
          </p:cNvSpPr>
          <p:nvPr/>
        </p:nvSpPr>
        <p:spPr bwMode="auto">
          <a:xfrm>
            <a:off x="5778500" y="2997200"/>
            <a:ext cx="546100" cy="165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357" name="Oval 21"/>
          <p:cNvSpPr>
            <a:spLocks noChangeArrowheads="1"/>
          </p:cNvSpPr>
          <p:nvPr/>
        </p:nvSpPr>
        <p:spPr bwMode="auto">
          <a:xfrm>
            <a:off x="6102350" y="2913063"/>
            <a:ext cx="977900" cy="800100"/>
          </a:xfrm>
          <a:prstGeom prst="ellipse">
            <a:avLst/>
          </a:prstGeom>
          <a:solidFill>
            <a:srgbClr val="99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1761" name="Rectangle 22"/>
          <p:cNvSpPr>
            <a:spLocks noChangeArrowheads="1"/>
          </p:cNvSpPr>
          <p:nvPr/>
        </p:nvSpPr>
        <p:spPr bwMode="auto">
          <a:xfrm>
            <a:off x="6229350" y="3162300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Client</a:t>
            </a:r>
          </a:p>
        </p:txBody>
      </p:sp>
      <p:sp>
        <p:nvSpPr>
          <p:cNvPr id="31762" name="Line 23"/>
          <p:cNvSpPr>
            <a:spLocks noChangeShapeType="1"/>
          </p:cNvSpPr>
          <p:nvPr/>
        </p:nvSpPr>
        <p:spPr bwMode="auto">
          <a:xfrm flipV="1">
            <a:off x="2628900" y="3733800"/>
            <a:ext cx="749300" cy="12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1733550" y="3421063"/>
            <a:ext cx="977900" cy="800100"/>
            <a:chOff x="1092" y="2155"/>
            <a:chExt cx="616" cy="504"/>
          </a:xfrm>
        </p:grpSpPr>
        <p:sp>
          <p:nvSpPr>
            <p:cNvPr id="14361" name="Oval 25"/>
            <p:cNvSpPr>
              <a:spLocks noChangeArrowheads="1"/>
            </p:cNvSpPr>
            <p:nvPr/>
          </p:nvSpPr>
          <p:spPr bwMode="auto">
            <a:xfrm>
              <a:off x="1092" y="2155"/>
              <a:ext cx="616" cy="50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792" name="Rectangle 26"/>
            <p:cNvSpPr>
              <a:spLocks noChangeArrowheads="1"/>
            </p:cNvSpPr>
            <p:nvPr/>
          </p:nvSpPr>
          <p:spPr bwMode="auto">
            <a:xfrm>
              <a:off x="1156" y="2291"/>
              <a:ext cx="49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defTabSz="762000"/>
              <a:r>
                <a:rPr kumimoji="1" lang="en-US" altLang="ja-JP">
                  <a:latin typeface="Times New Roman" pitchFamily="18" charset="0"/>
                </a:rPr>
                <a:t>Server</a:t>
              </a:r>
            </a:p>
          </p:txBody>
        </p:sp>
      </p:grpSp>
      <p:sp>
        <p:nvSpPr>
          <p:cNvPr id="31764" name="Line 27"/>
          <p:cNvSpPr>
            <a:spLocks noChangeShapeType="1"/>
          </p:cNvSpPr>
          <p:nvPr/>
        </p:nvSpPr>
        <p:spPr bwMode="auto">
          <a:xfrm flipV="1">
            <a:off x="3721100" y="2997200"/>
            <a:ext cx="1625600" cy="73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Rectangle 28"/>
          <p:cNvSpPr>
            <a:spLocks noChangeArrowheads="1"/>
          </p:cNvSpPr>
          <p:nvPr/>
        </p:nvSpPr>
        <p:spPr bwMode="auto">
          <a:xfrm>
            <a:off x="3289300" y="3598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6" name="Text Box 29"/>
          <p:cNvSpPr txBox="1">
            <a:spLocks noChangeArrowheads="1"/>
          </p:cNvSpPr>
          <p:nvPr/>
        </p:nvSpPr>
        <p:spPr bwMode="auto">
          <a:xfrm>
            <a:off x="3197225" y="35925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chemeClr val="accent2"/>
                </a:solidFill>
                <a:latin typeface="Times New Roman" pitchFamily="18" charset="0"/>
              </a:rPr>
              <a:t>7100</a:t>
            </a:r>
          </a:p>
        </p:txBody>
      </p:sp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1631950" y="5489575"/>
            <a:ext cx="6378575" cy="396875"/>
            <a:chOff x="1028" y="3458"/>
            <a:chExt cx="4018" cy="250"/>
          </a:xfrm>
        </p:grpSpPr>
        <p:sp>
          <p:nvSpPr>
            <p:cNvPr id="14394" name="AutoShape 58"/>
            <p:cNvSpPr>
              <a:spLocks noChangeArrowheads="1"/>
            </p:cNvSpPr>
            <p:nvPr/>
          </p:nvSpPr>
          <p:spPr bwMode="auto">
            <a:xfrm>
              <a:off x="1032" y="3464"/>
              <a:ext cx="3912" cy="240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790" name="Rectangle 30"/>
            <p:cNvSpPr>
              <a:spLocks noChangeArrowheads="1"/>
            </p:cNvSpPr>
            <p:nvPr/>
          </p:nvSpPr>
          <p:spPr bwMode="auto">
            <a:xfrm>
              <a:off x="1028" y="3458"/>
              <a:ext cx="40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006600"/>
                  </a:solidFill>
                  <a:latin typeface="Times New Roman" pitchFamily="18" charset="0"/>
                </a:rPr>
                <a:t>The server and client communicate using the second socket</a:t>
              </a:r>
            </a:p>
          </p:txBody>
        </p:sp>
      </p:grpSp>
      <p:sp>
        <p:nvSpPr>
          <p:cNvPr id="31768" name="Rectangle 20"/>
          <p:cNvSpPr>
            <a:spLocks noChangeArrowheads="1"/>
          </p:cNvSpPr>
          <p:nvPr/>
        </p:nvSpPr>
        <p:spPr bwMode="auto">
          <a:xfrm>
            <a:off x="5321300" y="2870200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69" name="Rectangle 8"/>
          <p:cNvSpPr>
            <a:spLocks noChangeArrowheads="1"/>
          </p:cNvSpPr>
          <p:nvPr/>
        </p:nvSpPr>
        <p:spPr bwMode="auto">
          <a:xfrm>
            <a:off x="3289300" y="30908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Text Box 18"/>
          <p:cNvSpPr txBox="1">
            <a:spLocks noChangeArrowheads="1"/>
          </p:cNvSpPr>
          <p:nvPr/>
        </p:nvSpPr>
        <p:spPr bwMode="auto">
          <a:xfrm>
            <a:off x="3197225" y="30845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  <p:grpSp>
        <p:nvGrpSpPr>
          <p:cNvPr id="4" name="Group 46"/>
          <p:cNvGrpSpPr>
            <a:grpSpLocks/>
          </p:cNvGrpSpPr>
          <p:nvPr/>
        </p:nvGrpSpPr>
        <p:grpSpPr bwMode="auto">
          <a:xfrm>
            <a:off x="2476500" y="3060700"/>
            <a:ext cx="3797300" cy="1243013"/>
            <a:chOff x="1560" y="1928"/>
            <a:chExt cx="2392" cy="783"/>
          </a:xfrm>
        </p:grpSpPr>
        <p:grpSp>
          <p:nvGrpSpPr>
            <p:cNvPr id="5" name="Group 45"/>
            <p:cNvGrpSpPr>
              <a:grpSpLocks/>
            </p:cNvGrpSpPr>
            <p:nvPr/>
          </p:nvGrpSpPr>
          <p:grpSpPr bwMode="auto">
            <a:xfrm>
              <a:off x="1560" y="1928"/>
              <a:ext cx="2392" cy="576"/>
              <a:chOff x="1560" y="1928"/>
              <a:chExt cx="2392" cy="576"/>
            </a:xfrm>
          </p:grpSpPr>
          <p:sp>
            <p:nvSpPr>
              <p:cNvPr id="31786" name="Line 35"/>
              <p:cNvSpPr>
                <a:spLocks noChangeShapeType="1"/>
              </p:cNvSpPr>
              <p:nvPr/>
            </p:nvSpPr>
            <p:spPr bwMode="auto">
              <a:xfrm flipH="1" flipV="1">
                <a:off x="3512" y="1928"/>
                <a:ext cx="440" cy="128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7" name="Line 36"/>
              <p:cNvSpPr>
                <a:spLocks noChangeShapeType="1"/>
              </p:cNvSpPr>
              <p:nvPr/>
            </p:nvSpPr>
            <p:spPr bwMode="auto">
              <a:xfrm flipH="1">
                <a:off x="2280" y="1928"/>
                <a:ext cx="1232" cy="576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88" name="Line 37"/>
              <p:cNvSpPr>
                <a:spLocks noChangeShapeType="1"/>
              </p:cNvSpPr>
              <p:nvPr/>
            </p:nvSpPr>
            <p:spPr bwMode="auto">
              <a:xfrm flipH="1" flipV="1">
                <a:off x="1560" y="2496"/>
                <a:ext cx="728" cy="8"/>
              </a:xfrm>
              <a:prstGeom prst="line">
                <a:avLst/>
              </a:prstGeom>
              <a:noFill/>
              <a:ln w="28575">
                <a:solidFill>
                  <a:srgbClr val="CC00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43"/>
            <p:cNvGrpSpPr>
              <a:grpSpLocks/>
            </p:cNvGrpSpPr>
            <p:nvPr/>
          </p:nvGrpSpPr>
          <p:grpSpPr bwMode="auto">
            <a:xfrm>
              <a:off x="2390" y="2480"/>
              <a:ext cx="1232" cy="231"/>
              <a:chOff x="2390" y="2480"/>
              <a:chExt cx="1232" cy="231"/>
            </a:xfrm>
          </p:grpSpPr>
          <p:sp>
            <p:nvSpPr>
              <p:cNvPr id="14378" name="AutoShape 42"/>
              <p:cNvSpPr>
                <a:spLocks noChangeArrowheads="1"/>
              </p:cNvSpPr>
              <p:nvPr/>
            </p:nvSpPr>
            <p:spPr bwMode="auto">
              <a:xfrm>
                <a:off x="2424" y="2512"/>
                <a:ext cx="1168" cy="184"/>
              </a:xfrm>
              <a:prstGeom prst="roundRect">
                <a:avLst>
                  <a:gd name="adj" fmla="val 16667"/>
                </a:avLst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85" name="Text Box 39"/>
              <p:cNvSpPr txBox="1">
                <a:spLocks noChangeArrowheads="1"/>
              </p:cNvSpPr>
              <p:nvPr/>
            </p:nvSpPr>
            <p:spPr bwMode="auto">
              <a:xfrm>
                <a:off x="2390" y="2480"/>
                <a:ext cx="123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b="1">
                    <a:solidFill>
                      <a:srgbClr val="CC0066"/>
                    </a:solidFill>
                    <a:latin typeface="Times New Roman" pitchFamily="18" charset="0"/>
                  </a:rPr>
                  <a:t>Data transmission</a:t>
                </a:r>
              </a:p>
            </p:txBody>
          </p:sp>
        </p:grpSp>
      </p:grpSp>
      <p:grpSp>
        <p:nvGrpSpPr>
          <p:cNvPr id="7" name="Group 54"/>
          <p:cNvGrpSpPr>
            <a:grpSpLocks/>
          </p:cNvGrpSpPr>
          <p:nvPr/>
        </p:nvGrpSpPr>
        <p:grpSpPr bwMode="auto">
          <a:xfrm>
            <a:off x="5546725" y="1538288"/>
            <a:ext cx="1676400" cy="1497012"/>
            <a:chOff x="3494" y="969"/>
            <a:chExt cx="1056" cy="943"/>
          </a:xfrm>
        </p:grpSpPr>
        <p:grpSp>
          <p:nvGrpSpPr>
            <p:cNvPr id="8" name="Group 49"/>
            <p:cNvGrpSpPr>
              <a:grpSpLocks/>
            </p:cNvGrpSpPr>
            <p:nvPr/>
          </p:nvGrpSpPr>
          <p:grpSpPr bwMode="auto">
            <a:xfrm>
              <a:off x="3494" y="969"/>
              <a:ext cx="1056" cy="250"/>
              <a:chOff x="3494" y="969"/>
              <a:chExt cx="1056" cy="250"/>
            </a:xfrm>
          </p:grpSpPr>
          <p:sp>
            <p:nvSpPr>
              <p:cNvPr id="14384" name="AutoShape 48"/>
              <p:cNvSpPr>
                <a:spLocks noChangeArrowheads="1"/>
              </p:cNvSpPr>
              <p:nvPr/>
            </p:nvSpPr>
            <p:spPr bwMode="auto">
              <a:xfrm>
                <a:off x="3504" y="1008"/>
                <a:ext cx="1032" cy="19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81" name="Text Box 47"/>
              <p:cNvSpPr txBox="1">
                <a:spLocks noChangeArrowheads="1"/>
              </p:cNvSpPr>
              <p:nvPr/>
            </p:nvSpPr>
            <p:spPr bwMode="auto">
              <a:xfrm>
                <a:off x="3494" y="969"/>
                <a:ext cx="105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006600"/>
                    </a:solidFill>
                    <a:latin typeface="Times New Roman" pitchFamily="18" charset="0"/>
                  </a:rPr>
                  <a:t>write (or send)</a:t>
                </a:r>
              </a:p>
            </p:txBody>
          </p:sp>
        </p:grpSp>
        <p:sp>
          <p:nvSpPr>
            <p:cNvPr id="31779" name="Line 50"/>
            <p:cNvSpPr>
              <a:spLocks noChangeShapeType="1"/>
            </p:cNvSpPr>
            <p:nvPr/>
          </p:nvSpPr>
          <p:spPr bwMode="auto">
            <a:xfrm flipH="1">
              <a:off x="3808" y="1192"/>
              <a:ext cx="368" cy="72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57"/>
          <p:cNvGrpSpPr>
            <a:grpSpLocks/>
          </p:cNvGrpSpPr>
          <p:nvPr/>
        </p:nvGrpSpPr>
        <p:grpSpPr bwMode="auto">
          <a:xfrm>
            <a:off x="974725" y="1804988"/>
            <a:ext cx="2047875" cy="2055812"/>
            <a:chOff x="614" y="1137"/>
            <a:chExt cx="1290" cy="1295"/>
          </a:xfrm>
        </p:grpSpPr>
        <p:grpSp>
          <p:nvGrpSpPr>
            <p:cNvPr id="10" name="Group 55"/>
            <p:cNvGrpSpPr>
              <a:grpSpLocks/>
            </p:cNvGrpSpPr>
            <p:nvPr/>
          </p:nvGrpSpPr>
          <p:grpSpPr bwMode="auto">
            <a:xfrm>
              <a:off x="614" y="1137"/>
              <a:ext cx="986" cy="250"/>
              <a:chOff x="614" y="1137"/>
              <a:chExt cx="986" cy="250"/>
            </a:xfrm>
          </p:grpSpPr>
          <p:sp>
            <p:nvSpPr>
              <p:cNvPr id="14388" name="AutoShape 52"/>
              <p:cNvSpPr>
                <a:spLocks noChangeArrowheads="1"/>
              </p:cNvSpPr>
              <p:nvPr/>
            </p:nvSpPr>
            <p:spPr bwMode="auto">
              <a:xfrm>
                <a:off x="624" y="1176"/>
                <a:ext cx="976" cy="192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31777" name="Text Box 53"/>
              <p:cNvSpPr txBox="1">
                <a:spLocks noChangeArrowheads="1"/>
              </p:cNvSpPr>
              <p:nvPr/>
            </p:nvSpPr>
            <p:spPr bwMode="auto">
              <a:xfrm>
                <a:off x="614" y="1137"/>
                <a:ext cx="985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kumimoji="1" lang="en-US" sz="2000">
                    <a:solidFill>
                      <a:srgbClr val="006600"/>
                    </a:solidFill>
                    <a:latin typeface="Times New Roman" pitchFamily="18" charset="0"/>
                  </a:rPr>
                  <a:t>read (or recv)</a:t>
                </a:r>
              </a:p>
            </p:txBody>
          </p:sp>
        </p:grpSp>
        <p:sp>
          <p:nvSpPr>
            <p:cNvPr id="31775" name="Line 56"/>
            <p:cNvSpPr>
              <a:spLocks noChangeShapeType="1"/>
            </p:cNvSpPr>
            <p:nvPr/>
          </p:nvSpPr>
          <p:spPr bwMode="auto">
            <a:xfrm>
              <a:off x="1560" y="1368"/>
              <a:ext cx="344" cy="106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11A4F65C-1523-406C-BA9E-F19D147224EE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2771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4DA223-899E-44BE-8459-0E6A0DD4EC2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2774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27175"/>
            <a:ext cx="2233613" cy="457200"/>
            <a:chOff x="368" y="962"/>
            <a:chExt cx="1407" cy="288"/>
          </a:xfrm>
        </p:grpSpPr>
        <p:sp>
          <p:nvSpPr>
            <p:cNvPr id="99333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368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811" name="Text Box 6"/>
            <p:cNvSpPr txBox="1">
              <a:spLocks noChangeArrowheads="1"/>
            </p:cNvSpPr>
            <p:nvPr/>
          </p:nvSpPr>
          <p:spPr bwMode="auto">
            <a:xfrm>
              <a:off x="374" y="962"/>
              <a:ext cx="140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recv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32776" name="Text Box 7"/>
          <p:cNvSpPr txBox="1">
            <a:spLocks noChangeArrowheads="1"/>
          </p:cNvSpPr>
          <p:nvPr/>
        </p:nvSpPr>
        <p:spPr bwMode="auto">
          <a:xfrm>
            <a:off x="1114425" y="3494088"/>
            <a:ext cx="6881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int</a:t>
            </a:r>
            <a:r>
              <a:rPr kumimoji="1" lang="en-US" altLang="ja-JP" sz="2000">
                <a:latin typeface="Times New Roman" pitchFamily="18" charset="0"/>
              </a:rPr>
              <a:t> status = </a:t>
            </a:r>
            <a:r>
              <a:rPr kumimoji="1" lang="en-US" altLang="ja-JP" sz="2000" b="1" i="1">
                <a:latin typeface="Times New Roman" pitchFamily="18" charset="0"/>
              </a:rPr>
              <a:t>recv</a:t>
            </a:r>
            <a:r>
              <a:rPr kumimoji="1" lang="en-US" altLang="ja-JP" sz="2000">
                <a:latin typeface="Times New Roman" pitchFamily="18" charset="0"/>
              </a:rPr>
              <a:t> (socket_id, in_buffer, MAX_BUFFER_SIZE, 0);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117600" y="2084388"/>
            <a:ext cx="5292725" cy="1814512"/>
            <a:chOff x="1040" y="1321"/>
            <a:chExt cx="3334" cy="1143"/>
          </a:xfrm>
        </p:grpSpPr>
        <p:sp>
          <p:nvSpPr>
            <p:cNvPr id="32805" name="AutoShape 9"/>
            <p:cNvSpPr>
              <a:spLocks noChangeArrowheads="1"/>
            </p:cNvSpPr>
            <p:nvPr/>
          </p:nvSpPr>
          <p:spPr bwMode="auto">
            <a:xfrm>
              <a:off x="1040" y="2208"/>
              <a:ext cx="648" cy="25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06" name="Text Box 10"/>
            <p:cNvSpPr txBox="1">
              <a:spLocks noChangeArrowheads="1"/>
            </p:cNvSpPr>
            <p:nvPr/>
          </p:nvSpPr>
          <p:spPr bwMode="auto">
            <a:xfrm>
              <a:off x="2638" y="1321"/>
              <a:ext cx="1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 code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704" y="1448"/>
              <a:ext cx="960" cy="744"/>
              <a:chOff x="1704" y="1448"/>
              <a:chExt cx="960" cy="744"/>
            </a:xfrm>
          </p:grpSpPr>
          <p:sp>
            <p:nvSpPr>
              <p:cNvPr id="32808" name="Line 12"/>
              <p:cNvSpPr>
                <a:spLocks noChangeShapeType="1"/>
              </p:cNvSpPr>
              <p:nvPr/>
            </p:nvSpPr>
            <p:spPr bwMode="auto">
              <a:xfrm flipH="1">
                <a:off x="2288" y="1456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9" name="Line 13"/>
              <p:cNvSpPr>
                <a:spLocks noChangeShapeType="1"/>
              </p:cNvSpPr>
              <p:nvPr/>
            </p:nvSpPr>
            <p:spPr bwMode="auto">
              <a:xfrm flipH="1">
                <a:off x="1704" y="1448"/>
                <a:ext cx="592" cy="7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968625" y="3886200"/>
            <a:ext cx="4816475" cy="2506663"/>
            <a:chOff x="1870" y="2448"/>
            <a:chExt cx="3034" cy="1579"/>
          </a:xfrm>
        </p:grpSpPr>
        <p:sp>
          <p:nvSpPr>
            <p:cNvPr id="32800" name="Text Box 15"/>
            <p:cNvSpPr txBox="1">
              <a:spLocks noChangeArrowheads="1"/>
            </p:cNvSpPr>
            <p:nvPr/>
          </p:nvSpPr>
          <p:spPr bwMode="auto">
            <a:xfrm>
              <a:off x="1870" y="3777"/>
              <a:ext cx="72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latin typeface="Times New Roman" pitchFamily="18" charset="0"/>
                </a:rPr>
                <a:t>Always 0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2584" y="2448"/>
              <a:ext cx="2320" cy="1456"/>
              <a:chOff x="2584" y="2448"/>
              <a:chExt cx="2320" cy="1456"/>
            </a:xfrm>
          </p:grpSpPr>
          <p:sp>
            <p:nvSpPr>
              <p:cNvPr id="32802" name="Line 17"/>
              <p:cNvSpPr>
                <a:spLocks noChangeShapeType="1"/>
              </p:cNvSpPr>
              <p:nvPr/>
            </p:nvSpPr>
            <p:spPr bwMode="auto">
              <a:xfrm flipV="1">
                <a:off x="4768" y="2448"/>
                <a:ext cx="1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3" name="Line 18"/>
              <p:cNvSpPr>
                <a:spLocks noChangeShapeType="1"/>
              </p:cNvSpPr>
              <p:nvPr/>
            </p:nvSpPr>
            <p:spPr bwMode="auto">
              <a:xfrm>
                <a:off x="2584" y="3904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804" name="Line 19"/>
              <p:cNvSpPr>
                <a:spLocks noChangeShapeType="1"/>
              </p:cNvSpPr>
              <p:nvPr/>
            </p:nvSpPr>
            <p:spPr bwMode="auto">
              <a:xfrm flipV="1">
                <a:off x="4016" y="2456"/>
                <a:ext cx="816" cy="14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" name="Group 20"/>
          <p:cNvGrpSpPr>
            <a:grpSpLocks/>
          </p:cNvGrpSpPr>
          <p:nvPr/>
        </p:nvGrpSpPr>
        <p:grpSpPr bwMode="auto">
          <a:xfrm>
            <a:off x="555625" y="3873500"/>
            <a:ext cx="6873875" cy="1998663"/>
            <a:chOff x="350" y="2440"/>
            <a:chExt cx="4330" cy="1259"/>
          </a:xfrm>
        </p:grpSpPr>
        <p:sp>
          <p:nvSpPr>
            <p:cNvPr id="32795" name="Text Box 21"/>
            <p:cNvSpPr txBox="1">
              <a:spLocks noChangeArrowheads="1"/>
            </p:cNvSpPr>
            <p:nvPr/>
          </p:nvSpPr>
          <p:spPr bwMode="auto">
            <a:xfrm>
              <a:off x="350" y="3449"/>
              <a:ext cx="177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The maximum buffer size</a:t>
              </a:r>
            </a:p>
          </p:txBody>
        </p:sp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2112" y="2440"/>
              <a:ext cx="2568" cy="1152"/>
              <a:chOff x="2112" y="2440"/>
              <a:chExt cx="2568" cy="1152"/>
            </a:xfrm>
          </p:grpSpPr>
          <p:sp>
            <p:nvSpPr>
              <p:cNvPr id="32797" name="Line 23"/>
              <p:cNvSpPr>
                <a:spLocks noChangeShapeType="1"/>
              </p:cNvSpPr>
              <p:nvPr/>
            </p:nvSpPr>
            <p:spPr bwMode="auto">
              <a:xfrm>
                <a:off x="3320" y="2440"/>
                <a:ext cx="1360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8" name="Line 24"/>
              <p:cNvSpPr>
                <a:spLocks noChangeShapeType="1"/>
              </p:cNvSpPr>
              <p:nvPr/>
            </p:nvSpPr>
            <p:spPr bwMode="auto">
              <a:xfrm>
                <a:off x="2112" y="3584"/>
                <a:ext cx="101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9" name="Line 25"/>
              <p:cNvSpPr>
                <a:spLocks noChangeShapeType="1"/>
              </p:cNvSpPr>
              <p:nvPr/>
            </p:nvSpPr>
            <p:spPr bwMode="auto">
              <a:xfrm flipV="1">
                <a:off x="3112" y="2464"/>
                <a:ext cx="768" cy="11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530225" y="3873500"/>
            <a:ext cx="4486275" cy="1133475"/>
            <a:chOff x="334" y="2440"/>
            <a:chExt cx="2826" cy="714"/>
          </a:xfrm>
        </p:grpSpPr>
        <p:sp>
          <p:nvSpPr>
            <p:cNvPr id="32790" name="Text Box 27"/>
            <p:cNvSpPr txBox="1">
              <a:spLocks noChangeArrowheads="1"/>
            </p:cNvSpPr>
            <p:nvPr/>
          </p:nvSpPr>
          <p:spPr bwMode="auto">
            <a:xfrm>
              <a:off x="334" y="2712"/>
              <a:ext cx="1770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The input (receive) buffer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as a character string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2096" y="2440"/>
              <a:ext cx="1064" cy="488"/>
              <a:chOff x="2096" y="2440"/>
              <a:chExt cx="1064" cy="488"/>
            </a:xfrm>
          </p:grpSpPr>
          <p:sp>
            <p:nvSpPr>
              <p:cNvPr id="32792" name="Line 29"/>
              <p:cNvSpPr>
                <a:spLocks noChangeShapeType="1"/>
              </p:cNvSpPr>
              <p:nvPr/>
            </p:nvSpPr>
            <p:spPr bwMode="auto">
              <a:xfrm>
                <a:off x="2584" y="2440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3" name="Line 30"/>
              <p:cNvSpPr>
                <a:spLocks noChangeShapeType="1"/>
              </p:cNvSpPr>
              <p:nvPr/>
            </p:nvSpPr>
            <p:spPr bwMode="auto">
              <a:xfrm flipV="1">
                <a:off x="2464" y="2456"/>
                <a:ext cx="296" cy="46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794" name="Line 31"/>
              <p:cNvSpPr>
                <a:spLocks noChangeShapeType="1"/>
              </p:cNvSpPr>
              <p:nvPr/>
            </p:nvSpPr>
            <p:spPr bwMode="auto">
              <a:xfrm>
                <a:off x="2096" y="2928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9360" name="Text Box 32"/>
          <p:cNvSpPr txBox="1">
            <a:spLocks noChangeArrowheads="1"/>
          </p:cNvSpPr>
          <p:nvPr/>
        </p:nvSpPr>
        <p:spPr bwMode="auto">
          <a:xfrm>
            <a:off x="377825" y="5005388"/>
            <a:ext cx="4619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chemeClr val="accent2"/>
                </a:solidFill>
                <a:latin typeface="Times New Roman" pitchFamily="18" charset="0"/>
              </a:rPr>
              <a:t>Example: </a:t>
            </a:r>
            <a:r>
              <a:rPr kumimoji="1" lang="en-US" sz="2000" b="1" i="1">
                <a:solidFill>
                  <a:schemeClr val="accent2"/>
                </a:solidFill>
                <a:latin typeface="Times New Roman" pitchFamily="18" charset="0"/>
              </a:rPr>
              <a:t>char</a:t>
            </a:r>
            <a:r>
              <a:rPr kumimoji="1" lang="en-US" sz="2000">
                <a:solidFill>
                  <a:schemeClr val="accent2"/>
                </a:solidFill>
                <a:latin typeface="Times New Roman" pitchFamily="18" charset="0"/>
              </a:rPr>
              <a:t> in_buffer [MAX_BUFFER]</a:t>
            </a:r>
          </a:p>
        </p:txBody>
      </p: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2984500" y="2681288"/>
            <a:ext cx="3676650" cy="1179512"/>
            <a:chOff x="1880" y="1689"/>
            <a:chExt cx="2316" cy="743"/>
          </a:xfrm>
        </p:grpSpPr>
        <p:sp>
          <p:nvSpPr>
            <p:cNvPr id="32784" name="Text Box 34"/>
            <p:cNvSpPr txBox="1">
              <a:spLocks noChangeArrowheads="1"/>
            </p:cNvSpPr>
            <p:nvPr/>
          </p:nvSpPr>
          <p:spPr bwMode="auto">
            <a:xfrm>
              <a:off x="2864" y="1689"/>
              <a:ext cx="13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6600"/>
                  </a:solidFill>
                  <a:latin typeface="Times New Roman" pitchFamily="18" charset="0"/>
                </a:rPr>
                <a:t>Socket ID returned</a:t>
              </a:r>
            </a:p>
            <a:p>
              <a:r>
                <a:rPr kumimoji="1" lang="en-US" altLang="ja-JP" sz="2000">
                  <a:solidFill>
                    <a:srgbClr val="FF6600"/>
                  </a:solidFill>
                  <a:latin typeface="Times New Roman" pitchFamily="18" charset="0"/>
                </a:rPr>
                <a:t>by socket function</a:t>
              </a:r>
            </a:p>
          </p:txBody>
        </p:sp>
        <p:grpSp>
          <p:nvGrpSpPr>
            <p:cNvPr id="12" name="Group 35"/>
            <p:cNvGrpSpPr>
              <a:grpSpLocks/>
            </p:cNvGrpSpPr>
            <p:nvPr/>
          </p:nvGrpSpPr>
          <p:grpSpPr bwMode="auto">
            <a:xfrm>
              <a:off x="1880" y="1816"/>
              <a:ext cx="1008" cy="616"/>
              <a:chOff x="1880" y="1816"/>
              <a:chExt cx="1008" cy="616"/>
            </a:xfrm>
          </p:grpSpPr>
          <p:grpSp>
            <p:nvGrpSpPr>
              <p:cNvPr id="13" name="Group 36"/>
              <p:cNvGrpSpPr>
                <a:grpSpLocks/>
              </p:cNvGrpSpPr>
              <p:nvPr/>
            </p:nvGrpSpPr>
            <p:grpSpPr bwMode="auto">
              <a:xfrm>
                <a:off x="2192" y="1816"/>
                <a:ext cx="696" cy="408"/>
                <a:chOff x="2192" y="1816"/>
                <a:chExt cx="696" cy="408"/>
              </a:xfrm>
            </p:grpSpPr>
            <p:sp>
              <p:nvSpPr>
                <p:cNvPr id="32788" name="Line 37"/>
                <p:cNvSpPr>
                  <a:spLocks noChangeShapeType="1"/>
                </p:cNvSpPr>
                <p:nvPr/>
              </p:nvSpPr>
              <p:spPr bwMode="auto">
                <a:xfrm>
                  <a:off x="2472" y="1816"/>
                  <a:ext cx="416" cy="0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789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2192" y="1816"/>
                  <a:ext cx="280" cy="408"/>
                </a:xfrm>
                <a:prstGeom prst="line">
                  <a:avLst/>
                </a:prstGeom>
                <a:noFill/>
                <a:ln w="28575">
                  <a:solidFill>
                    <a:srgbClr val="FF6600"/>
                  </a:solidFill>
                  <a:round/>
                  <a:headEnd/>
                  <a:tailEnd type="arrow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2787" name="Line 39"/>
              <p:cNvSpPr>
                <a:spLocks noChangeShapeType="1"/>
              </p:cNvSpPr>
              <p:nvPr/>
            </p:nvSpPr>
            <p:spPr bwMode="auto">
              <a:xfrm flipV="1">
                <a:off x="1880" y="2432"/>
                <a:ext cx="584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9368" name="Text Box 40"/>
          <p:cNvSpPr txBox="1">
            <a:spLocks noChangeArrowheads="1"/>
          </p:cNvSpPr>
          <p:nvPr/>
        </p:nvSpPr>
        <p:spPr bwMode="auto">
          <a:xfrm>
            <a:off x="3641725" y="1766888"/>
            <a:ext cx="43894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008000"/>
                </a:solidFill>
                <a:latin typeface="Times New Roman" pitchFamily="18" charset="0"/>
              </a:rPr>
              <a:t>On success, the number of bytes received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60" grpId="0"/>
      <p:bldP spid="9936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A4DEC070-AC59-42F9-B5A0-F4EB026A4A16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3795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41D1AF-D41F-4FC9-B0ED-A5543D3295D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3798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84200" y="1527175"/>
            <a:ext cx="2286000" cy="457200"/>
            <a:chOff x="368" y="962"/>
            <a:chExt cx="1440" cy="288"/>
          </a:xfrm>
        </p:grpSpPr>
        <p:sp>
          <p:nvSpPr>
            <p:cNvPr id="100357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368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829" name="Text Box 6"/>
            <p:cNvSpPr txBox="1">
              <a:spLocks noChangeArrowheads="1"/>
            </p:cNvSpPr>
            <p:nvPr/>
          </p:nvSpPr>
          <p:spPr bwMode="auto">
            <a:xfrm>
              <a:off x="374" y="962"/>
              <a:ext cx="143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send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33800" name="Text Box 7"/>
          <p:cNvSpPr txBox="1">
            <a:spLocks noChangeArrowheads="1"/>
          </p:cNvSpPr>
          <p:nvPr/>
        </p:nvSpPr>
        <p:spPr bwMode="auto">
          <a:xfrm>
            <a:off x="1114425" y="3494088"/>
            <a:ext cx="70516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int</a:t>
            </a:r>
            <a:r>
              <a:rPr kumimoji="1" lang="en-US" altLang="ja-JP" sz="2000">
                <a:latin typeface="Times New Roman" pitchFamily="18" charset="0"/>
              </a:rPr>
              <a:t> status = </a:t>
            </a:r>
            <a:r>
              <a:rPr kumimoji="1" lang="en-US" altLang="ja-JP" sz="2000" b="1" i="1">
                <a:latin typeface="Times New Roman" pitchFamily="18" charset="0"/>
              </a:rPr>
              <a:t>send</a:t>
            </a:r>
            <a:r>
              <a:rPr kumimoji="1" lang="en-US" altLang="ja-JP" sz="2000">
                <a:latin typeface="Times New Roman" pitchFamily="18" charset="0"/>
              </a:rPr>
              <a:t> (socket_id, out_buffer, MAX_BUFFER_SIZE, 0);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117600" y="2084388"/>
            <a:ext cx="5292725" cy="1814512"/>
            <a:chOff x="1040" y="1321"/>
            <a:chExt cx="3334" cy="1143"/>
          </a:xfrm>
        </p:grpSpPr>
        <p:sp>
          <p:nvSpPr>
            <p:cNvPr id="33823" name="AutoShape 9"/>
            <p:cNvSpPr>
              <a:spLocks noChangeArrowheads="1"/>
            </p:cNvSpPr>
            <p:nvPr/>
          </p:nvSpPr>
          <p:spPr bwMode="auto">
            <a:xfrm>
              <a:off x="1040" y="2208"/>
              <a:ext cx="648" cy="25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4" name="Text Box 10"/>
            <p:cNvSpPr txBox="1">
              <a:spLocks noChangeArrowheads="1"/>
            </p:cNvSpPr>
            <p:nvPr/>
          </p:nvSpPr>
          <p:spPr bwMode="auto">
            <a:xfrm>
              <a:off x="2638" y="1321"/>
              <a:ext cx="1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 code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704" y="1448"/>
              <a:ext cx="960" cy="744"/>
              <a:chOff x="1704" y="1448"/>
              <a:chExt cx="960" cy="744"/>
            </a:xfrm>
          </p:grpSpPr>
          <p:sp>
            <p:nvSpPr>
              <p:cNvPr id="33826" name="Line 12"/>
              <p:cNvSpPr>
                <a:spLocks noChangeShapeType="1"/>
              </p:cNvSpPr>
              <p:nvPr/>
            </p:nvSpPr>
            <p:spPr bwMode="auto">
              <a:xfrm flipH="1">
                <a:off x="2288" y="1456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27" name="Line 13"/>
              <p:cNvSpPr>
                <a:spLocks noChangeShapeType="1"/>
              </p:cNvSpPr>
              <p:nvPr/>
            </p:nvSpPr>
            <p:spPr bwMode="auto">
              <a:xfrm flipH="1">
                <a:off x="1704" y="1448"/>
                <a:ext cx="592" cy="7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3479800" y="2681288"/>
            <a:ext cx="3181350" cy="849312"/>
            <a:chOff x="2192" y="1689"/>
            <a:chExt cx="2004" cy="535"/>
          </a:xfrm>
        </p:grpSpPr>
        <p:sp>
          <p:nvSpPr>
            <p:cNvPr id="33820" name="Text Box 15"/>
            <p:cNvSpPr txBox="1">
              <a:spLocks noChangeArrowheads="1"/>
            </p:cNvSpPr>
            <p:nvPr/>
          </p:nvSpPr>
          <p:spPr bwMode="auto">
            <a:xfrm>
              <a:off x="2864" y="1689"/>
              <a:ext cx="13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Socket ID returned</a:t>
              </a:r>
            </a:p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by socket function</a:t>
              </a:r>
            </a:p>
          </p:txBody>
        </p:sp>
        <p:sp>
          <p:nvSpPr>
            <p:cNvPr id="33821" name="Line 16"/>
            <p:cNvSpPr>
              <a:spLocks noChangeShapeType="1"/>
            </p:cNvSpPr>
            <p:nvPr/>
          </p:nvSpPr>
          <p:spPr bwMode="auto">
            <a:xfrm>
              <a:off x="2472" y="1816"/>
              <a:ext cx="41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22" name="Line 17"/>
            <p:cNvSpPr>
              <a:spLocks noChangeShapeType="1"/>
            </p:cNvSpPr>
            <p:nvPr/>
          </p:nvSpPr>
          <p:spPr bwMode="auto">
            <a:xfrm flipH="1">
              <a:off x="2192" y="1816"/>
              <a:ext cx="280" cy="40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3425825" y="3873500"/>
            <a:ext cx="4524375" cy="2252663"/>
            <a:chOff x="2526" y="2232"/>
            <a:chExt cx="2850" cy="1419"/>
          </a:xfrm>
        </p:grpSpPr>
        <p:sp>
          <p:nvSpPr>
            <p:cNvPr id="33816" name="Text Box 19"/>
            <p:cNvSpPr txBox="1">
              <a:spLocks noChangeArrowheads="1"/>
            </p:cNvSpPr>
            <p:nvPr/>
          </p:nvSpPr>
          <p:spPr bwMode="auto">
            <a:xfrm>
              <a:off x="2526" y="3401"/>
              <a:ext cx="72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latin typeface="Times New Roman" pitchFamily="18" charset="0"/>
                </a:rPr>
                <a:t>Always 0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  <p:sp>
          <p:nvSpPr>
            <p:cNvPr id="33817" name="Line 20"/>
            <p:cNvSpPr>
              <a:spLocks noChangeShapeType="1"/>
            </p:cNvSpPr>
            <p:nvPr/>
          </p:nvSpPr>
          <p:spPr bwMode="auto">
            <a:xfrm flipV="1">
              <a:off x="5240" y="2232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Line 21"/>
            <p:cNvSpPr>
              <a:spLocks noChangeShapeType="1"/>
            </p:cNvSpPr>
            <p:nvPr/>
          </p:nvSpPr>
          <p:spPr bwMode="auto">
            <a:xfrm>
              <a:off x="3224" y="3536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9" name="Line 22"/>
            <p:cNvSpPr>
              <a:spLocks noChangeShapeType="1"/>
            </p:cNvSpPr>
            <p:nvPr/>
          </p:nvSpPr>
          <p:spPr bwMode="auto">
            <a:xfrm flipV="1">
              <a:off x="4648" y="2240"/>
              <a:ext cx="656" cy="1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1393825" y="3873500"/>
            <a:ext cx="6035675" cy="1643063"/>
            <a:chOff x="878" y="2440"/>
            <a:chExt cx="3802" cy="1035"/>
          </a:xfrm>
        </p:grpSpPr>
        <p:sp>
          <p:nvSpPr>
            <p:cNvPr id="33812" name="Text Box 24"/>
            <p:cNvSpPr txBox="1">
              <a:spLocks noChangeArrowheads="1"/>
            </p:cNvSpPr>
            <p:nvPr/>
          </p:nvSpPr>
          <p:spPr bwMode="auto">
            <a:xfrm>
              <a:off x="878" y="3225"/>
              <a:ext cx="177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The maximum buffer size</a:t>
              </a:r>
            </a:p>
          </p:txBody>
        </p:sp>
        <p:sp>
          <p:nvSpPr>
            <p:cNvPr id="33813" name="Line 25"/>
            <p:cNvSpPr>
              <a:spLocks noChangeShapeType="1"/>
            </p:cNvSpPr>
            <p:nvPr/>
          </p:nvSpPr>
          <p:spPr bwMode="auto">
            <a:xfrm>
              <a:off x="3320" y="2440"/>
              <a:ext cx="136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4" name="Line 26"/>
            <p:cNvSpPr>
              <a:spLocks noChangeShapeType="1"/>
            </p:cNvSpPr>
            <p:nvPr/>
          </p:nvSpPr>
          <p:spPr bwMode="auto">
            <a:xfrm>
              <a:off x="2656" y="3352"/>
              <a:ext cx="6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Line 27"/>
            <p:cNvSpPr>
              <a:spLocks noChangeShapeType="1"/>
            </p:cNvSpPr>
            <p:nvPr/>
          </p:nvSpPr>
          <p:spPr bwMode="auto">
            <a:xfrm flipV="1">
              <a:off x="3288" y="2464"/>
              <a:ext cx="592" cy="8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898525" y="3860800"/>
            <a:ext cx="4105275" cy="1120775"/>
            <a:chOff x="566" y="2432"/>
            <a:chExt cx="2586" cy="706"/>
          </a:xfrm>
        </p:grpSpPr>
        <p:sp>
          <p:nvSpPr>
            <p:cNvPr id="33807" name="Text Box 29"/>
            <p:cNvSpPr txBox="1">
              <a:spLocks noChangeArrowheads="1"/>
            </p:cNvSpPr>
            <p:nvPr/>
          </p:nvSpPr>
          <p:spPr bwMode="auto">
            <a:xfrm>
              <a:off x="566" y="2696"/>
              <a:ext cx="168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The output (send) buffer</a:t>
              </a:r>
            </a:p>
            <a:p>
              <a:r>
                <a:rPr kumimoji="1" lang="en-US" altLang="ja-JP" sz="2000">
                  <a:solidFill>
                    <a:schemeClr val="accent2"/>
                  </a:solidFill>
                  <a:latin typeface="Times New Roman" pitchFamily="18" charset="0"/>
                </a:rPr>
                <a:t>as a character string</a:t>
              </a:r>
              <a:endParaRPr kumimoji="1" lang="en-US" altLang="ja-JP" sz="2000">
                <a:latin typeface="Times New Roman" pitchFamily="18" charset="0"/>
              </a:endParaRPr>
            </a:p>
          </p:txBody>
        </p:sp>
        <p:grpSp>
          <p:nvGrpSpPr>
            <p:cNvPr id="9" name="Group 30"/>
            <p:cNvGrpSpPr>
              <a:grpSpLocks/>
            </p:cNvGrpSpPr>
            <p:nvPr/>
          </p:nvGrpSpPr>
          <p:grpSpPr bwMode="auto">
            <a:xfrm>
              <a:off x="2096" y="2432"/>
              <a:ext cx="1056" cy="496"/>
              <a:chOff x="2096" y="2432"/>
              <a:chExt cx="1056" cy="496"/>
            </a:xfrm>
          </p:grpSpPr>
          <p:sp>
            <p:nvSpPr>
              <p:cNvPr id="33809" name="Line 31"/>
              <p:cNvSpPr>
                <a:spLocks noChangeShapeType="1"/>
              </p:cNvSpPr>
              <p:nvPr/>
            </p:nvSpPr>
            <p:spPr bwMode="auto">
              <a:xfrm flipV="1">
                <a:off x="2584" y="2432"/>
                <a:ext cx="568" cy="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0" name="Line 32"/>
              <p:cNvSpPr>
                <a:spLocks noChangeShapeType="1"/>
              </p:cNvSpPr>
              <p:nvPr/>
            </p:nvSpPr>
            <p:spPr bwMode="auto">
              <a:xfrm flipV="1">
                <a:off x="2464" y="2456"/>
                <a:ext cx="296" cy="46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811" name="Line 33"/>
              <p:cNvSpPr>
                <a:spLocks noChangeShapeType="1"/>
              </p:cNvSpPr>
              <p:nvPr/>
            </p:nvSpPr>
            <p:spPr bwMode="auto">
              <a:xfrm>
                <a:off x="2096" y="2928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0386" name="Text Box 34"/>
          <p:cNvSpPr txBox="1">
            <a:spLocks noChangeArrowheads="1"/>
          </p:cNvSpPr>
          <p:nvPr/>
        </p:nvSpPr>
        <p:spPr bwMode="auto">
          <a:xfrm>
            <a:off x="3641725" y="1766888"/>
            <a:ext cx="480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000">
                <a:solidFill>
                  <a:srgbClr val="008000"/>
                </a:solidFill>
                <a:latin typeface="Times New Roman" pitchFamily="18" charset="0"/>
              </a:rPr>
              <a:t>On success, the number of bytes actually sent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8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5D6B6392-B613-4412-BFA0-36DA88280534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4819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ADC459-0E18-4ABD-80FE-5772E6551A2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5403" name="Rectangle 43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5400" name="AutoShape 40"/>
          <p:cNvSpPr>
            <a:spLocks noChangeArrowheads="1"/>
          </p:cNvSpPr>
          <p:nvPr/>
        </p:nvSpPr>
        <p:spPr bwMode="auto">
          <a:xfrm>
            <a:off x="482600" y="1320800"/>
            <a:ext cx="2146300" cy="3429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23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574800" y="24050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3289300" y="4640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Rectangle 10"/>
          <p:cNvSpPr>
            <a:spLocks noChangeArrowheads="1"/>
          </p:cNvSpPr>
          <p:nvPr/>
        </p:nvSpPr>
        <p:spPr bwMode="auto">
          <a:xfrm>
            <a:off x="3289300" y="4132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3289300" y="2608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8" name="Rectangle 12"/>
          <p:cNvSpPr>
            <a:spLocks noChangeArrowheads="1"/>
          </p:cNvSpPr>
          <p:nvPr/>
        </p:nvSpPr>
        <p:spPr bwMode="auto">
          <a:xfrm>
            <a:off x="449263" y="1292225"/>
            <a:ext cx="2203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Step 6</a:t>
            </a:r>
            <a:r>
              <a:rPr kumimoji="1" lang="en-US" altLang="ja-JP" sz="2000">
                <a:latin typeface="Times New Roman" pitchFamily="18" charset="0"/>
              </a:rPr>
              <a:t>: </a:t>
            </a:r>
            <a:r>
              <a:rPr kumimoji="1" lang="en-US" altLang="ja-JP" sz="2000" b="1" i="1">
                <a:latin typeface="Times New Roman" pitchFamily="18" charset="0"/>
              </a:rPr>
              <a:t>close</a:t>
            </a:r>
            <a:r>
              <a:rPr kumimoji="1" lang="en-US" altLang="ja-JP" sz="2000" i="1">
                <a:latin typeface="Times New Roman" pitchFamily="18" charset="0"/>
              </a:rPr>
              <a:t> </a:t>
            </a:r>
            <a:r>
              <a:rPr kumimoji="1" lang="en-US" altLang="ja-JP" sz="2000">
                <a:latin typeface="Times New Roman" pitchFamily="18" charset="0"/>
              </a:rPr>
              <a:t>( ) call</a:t>
            </a:r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 flipV="1">
            <a:off x="2006600" y="3263900"/>
            <a:ext cx="1431925" cy="431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5575300" y="2451100"/>
            <a:ext cx="1866900" cy="195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31" name="Rectangle 15"/>
          <p:cNvSpPr>
            <a:spLocks noChangeArrowheads="1"/>
          </p:cNvSpPr>
          <p:nvPr/>
        </p:nvSpPr>
        <p:spPr bwMode="auto">
          <a:xfrm>
            <a:off x="5321300" y="36750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2" name="Line 17"/>
          <p:cNvSpPr>
            <a:spLocks noChangeShapeType="1"/>
          </p:cNvSpPr>
          <p:nvPr/>
        </p:nvSpPr>
        <p:spPr bwMode="auto">
          <a:xfrm>
            <a:off x="5778500" y="3022600"/>
            <a:ext cx="546100" cy="1651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9" name="Oval 19"/>
          <p:cNvSpPr>
            <a:spLocks noChangeArrowheads="1"/>
          </p:cNvSpPr>
          <p:nvPr/>
        </p:nvSpPr>
        <p:spPr bwMode="auto">
          <a:xfrm>
            <a:off x="6102350" y="2938463"/>
            <a:ext cx="977900" cy="800100"/>
          </a:xfrm>
          <a:prstGeom prst="ellipse">
            <a:avLst/>
          </a:prstGeom>
          <a:solidFill>
            <a:srgbClr val="99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34" name="Rectangle 20"/>
          <p:cNvSpPr>
            <a:spLocks noChangeArrowheads="1"/>
          </p:cNvSpPr>
          <p:nvPr/>
        </p:nvSpPr>
        <p:spPr bwMode="auto">
          <a:xfrm>
            <a:off x="6229350" y="3187700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Client</a:t>
            </a:r>
          </a:p>
        </p:txBody>
      </p:sp>
      <p:sp>
        <p:nvSpPr>
          <p:cNvPr id="34835" name="Line 21"/>
          <p:cNvSpPr>
            <a:spLocks noChangeShapeType="1"/>
          </p:cNvSpPr>
          <p:nvPr/>
        </p:nvSpPr>
        <p:spPr bwMode="auto">
          <a:xfrm flipV="1">
            <a:off x="2628900" y="3759200"/>
            <a:ext cx="749300" cy="12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1733550" y="3446463"/>
            <a:ext cx="977900" cy="800100"/>
          </a:xfrm>
          <a:prstGeom prst="ellipse">
            <a:avLst/>
          </a:prstGeom>
          <a:solidFill>
            <a:srgbClr val="FF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4837" name="Rectangle 24"/>
          <p:cNvSpPr>
            <a:spLocks noChangeArrowheads="1"/>
          </p:cNvSpPr>
          <p:nvPr/>
        </p:nvSpPr>
        <p:spPr bwMode="auto">
          <a:xfrm>
            <a:off x="1835150" y="3662363"/>
            <a:ext cx="78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Server</a:t>
            </a:r>
          </a:p>
        </p:txBody>
      </p:sp>
      <p:sp>
        <p:nvSpPr>
          <p:cNvPr id="34838" name="Line 25"/>
          <p:cNvSpPr>
            <a:spLocks noChangeShapeType="1"/>
          </p:cNvSpPr>
          <p:nvPr/>
        </p:nvSpPr>
        <p:spPr bwMode="auto">
          <a:xfrm flipV="1">
            <a:off x="3721100" y="3022600"/>
            <a:ext cx="1625600" cy="7366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39" name="Rectangle 26"/>
          <p:cNvSpPr>
            <a:spLocks noChangeArrowheads="1"/>
          </p:cNvSpPr>
          <p:nvPr/>
        </p:nvSpPr>
        <p:spPr bwMode="auto">
          <a:xfrm>
            <a:off x="3289300" y="3624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0" name="Text Box 27"/>
          <p:cNvSpPr txBox="1">
            <a:spLocks noChangeArrowheads="1"/>
          </p:cNvSpPr>
          <p:nvPr/>
        </p:nvSpPr>
        <p:spPr bwMode="auto">
          <a:xfrm>
            <a:off x="3197225" y="36179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chemeClr val="accent2"/>
                </a:solidFill>
                <a:latin typeface="Times New Roman" pitchFamily="18" charset="0"/>
              </a:rPr>
              <a:t>7100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1333500" y="5540375"/>
            <a:ext cx="6880225" cy="396875"/>
            <a:chOff x="840" y="3490"/>
            <a:chExt cx="4334" cy="250"/>
          </a:xfrm>
        </p:grpSpPr>
        <p:sp>
          <p:nvSpPr>
            <p:cNvPr id="15401" name="AutoShape 41"/>
            <p:cNvSpPr>
              <a:spLocks noChangeArrowheads="1"/>
            </p:cNvSpPr>
            <p:nvPr/>
          </p:nvSpPr>
          <p:spPr bwMode="auto">
            <a:xfrm>
              <a:off x="840" y="3504"/>
              <a:ext cx="4200" cy="216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853" name="Rectangle 28"/>
            <p:cNvSpPr>
              <a:spLocks noChangeArrowheads="1"/>
            </p:cNvSpPr>
            <p:nvPr/>
          </p:nvSpPr>
          <p:spPr bwMode="auto">
            <a:xfrm>
              <a:off x="844" y="3490"/>
              <a:ext cx="433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defTabSz="762000"/>
              <a:r>
                <a:rPr kumimoji="1" lang="en-US" altLang="ja-JP" sz="2000">
                  <a:solidFill>
                    <a:srgbClr val="006600"/>
                  </a:solidFill>
                  <a:latin typeface="Times New Roman" pitchFamily="18" charset="0"/>
                </a:rPr>
                <a:t>Close the second socket and leave the first socket for next client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2857500" y="2908300"/>
            <a:ext cx="3302000" cy="1003300"/>
            <a:chOff x="1800" y="1976"/>
            <a:chExt cx="2080" cy="632"/>
          </a:xfrm>
        </p:grpSpPr>
        <p:grpSp>
          <p:nvGrpSpPr>
            <p:cNvPr id="4" name="Group 31"/>
            <p:cNvGrpSpPr>
              <a:grpSpLocks/>
            </p:cNvGrpSpPr>
            <p:nvPr/>
          </p:nvGrpSpPr>
          <p:grpSpPr bwMode="auto">
            <a:xfrm>
              <a:off x="1800" y="2424"/>
              <a:ext cx="160" cy="184"/>
              <a:chOff x="4400" y="992"/>
              <a:chExt cx="160" cy="184"/>
            </a:xfrm>
          </p:grpSpPr>
          <p:sp>
            <p:nvSpPr>
              <p:cNvPr id="34850" name="Line 29"/>
              <p:cNvSpPr>
                <a:spLocks noChangeShapeType="1"/>
              </p:cNvSpPr>
              <p:nvPr/>
            </p:nvSpPr>
            <p:spPr bwMode="auto">
              <a:xfrm>
                <a:off x="4416" y="1008"/>
                <a:ext cx="128" cy="1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51" name="Line 30"/>
              <p:cNvSpPr>
                <a:spLocks noChangeShapeType="1"/>
              </p:cNvSpPr>
              <p:nvPr/>
            </p:nvSpPr>
            <p:spPr bwMode="auto">
              <a:xfrm flipH="1">
                <a:off x="4400" y="992"/>
                <a:ext cx="160" cy="1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" name="Group 32"/>
            <p:cNvGrpSpPr>
              <a:grpSpLocks/>
            </p:cNvGrpSpPr>
            <p:nvPr/>
          </p:nvGrpSpPr>
          <p:grpSpPr bwMode="auto">
            <a:xfrm>
              <a:off x="3720" y="1976"/>
              <a:ext cx="160" cy="184"/>
              <a:chOff x="4400" y="992"/>
              <a:chExt cx="160" cy="184"/>
            </a:xfrm>
          </p:grpSpPr>
          <p:sp>
            <p:nvSpPr>
              <p:cNvPr id="34848" name="Line 33"/>
              <p:cNvSpPr>
                <a:spLocks noChangeShapeType="1"/>
              </p:cNvSpPr>
              <p:nvPr/>
            </p:nvSpPr>
            <p:spPr bwMode="auto">
              <a:xfrm>
                <a:off x="4416" y="1008"/>
                <a:ext cx="128" cy="1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849" name="Line 34"/>
              <p:cNvSpPr>
                <a:spLocks noChangeShapeType="1"/>
              </p:cNvSpPr>
              <p:nvPr/>
            </p:nvSpPr>
            <p:spPr bwMode="auto">
              <a:xfrm flipH="1">
                <a:off x="4400" y="992"/>
                <a:ext cx="160" cy="1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4843" name="Rectangle 18"/>
          <p:cNvSpPr>
            <a:spLocks noChangeArrowheads="1"/>
          </p:cNvSpPr>
          <p:nvPr/>
        </p:nvSpPr>
        <p:spPr bwMode="auto">
          <a:xfrm>
            <a:off x="5321300" y="2895600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4" name="Rectangle 8"/>
          <p:cNvSpPr>
            <a:spLocks noChangeArrowheads="1"/>
          </p:cNvSpPr>
          <p:nvPr/>
        </p:nvSpPr>
        <p:spPr bwMode="auto">
          <a:xfrm>
            <a:off x="3289300" y="3116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45" name="Text Box 16"/>
          <p:cNvSpPr txBox="1">
            <a:spLocks noChangeArrowheads="1"/>
          </p:cNvSpPr>
          <p:nvPr/>
        </p:nvSpPr>
        <p:spPr bwMode="auto">
          <a:xfrm>
            <a:off x="3197225" y="31099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49ED60B-E725-481B-A12C-59DD0E62997A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5843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7DB09D-E7DA-4810-AF08-816029844E71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35846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68325" y="1514475"/>
            <a:ext cx="3089275" cy="457200"/>
            <a:chOff x="358" y="954"/>
            <a:chExt cx="1946" cy="288"/>
          </a:xfrm>
        </p:grpSpPr>
        <p:sp>
          <p:nvSpPr>
            <p:cNvPr id="101381" name="AutoShape 5"/>
            <p:cNvSpPr>
              <a:spLocks noChangeArrowheads="1"/>
            </p:cNvSpPr>
            <p:nvPr/>
          </p:nvSpPr>
          <p:spPr bwMode="auto">
            <a:xfrm>
              <a:off x="368" y="984"/>
              <a:ext cx="1936" cy="256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862" name="Text Box 6"/>
            <p:cNvSpPr txBox="1">
              <a:spLocks noChangeArrowheads="1"/>
            </p:cNvSpPr>
            <p:nvPr/>
          </p:nvSpPr>
          <p:spPr bwMode="auto">
            <a:xfrm>
              <a:off x="358" y="954"/>
              <a:ext cx="146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400" b="1" i="1">
                  <a:solidFill>
                    <a:schemeClr val="accent2"/>
                  </a:solidFill>
                  <a:latin typeface="Times New Roman" pitchFamily="18" charset="0"/>
                </a:rPr>
                <a:t>close</a:t>
              </a:r>
              <a:r>
                <a:rPr kumimoji="1" lang="en-US" altLang="ja-JP" sz="2400" b="1">
                  <a:solidFill>
                    <a:schemeClr val="accent2"/>
                  </a:solidFill>
                  <a:latin typeface="Times New Roman" pitchFamily="18" charset="0"/>
                </a:rPr>
                <a:t> ( ) function</a:t>
              </a:r>
              <a:endParaRPr kumimoji="1" lang="en-US" altLang="ja-JP" sz="2400">
                <a:latin typeface="Times New Roman" pitchFamily="18" charset="0"/>
              </a:endParaRPr>
            </a:p>
          </p:txBody>
        </p:sp>
      </p:grpSp>
      <p:sp>
        <p:nvSpPr>
          <p:cNvPr id="35848" name="Text Box 7"/>
          <p:cNvSpPr txBox="1">
            <a:spLocks noChangeArrowheads="1"/>
          </p:cNvSpPr>
          <p:nvPr/>
        </p:nvSpPr>
        <p:spPr bwMode="auto">
          <a:xfrm>
            <a:off x="2143125" y="3646488"/>
            <a:ext cx="3168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2000" b="1" i="1">
                <a:latin typeface="Times New Roman" pitchFamily="18" charset="0"/>
              </a:rPr>
              <a:t>int</a:t>
            </a:r>
            <a:r>
              <a:rPr kumimoji="1" lang="en-US" altLang="ja-JP" sz="2000">
                <a:latin typeface="Times New Roman" pitchFamily="18" charset="0"/>
              </a:rPr>
              <a:t> status = </a:t>
            </a:r>
            <a:r>
              <a:rPr kumimoji="1" lang="en-US" altLang="ja-JP" sz="2000" b="1" i="1">
                <a:latin typeface="Times New Roman" pitchFamily="18" charset="0"/>
              </a:rPr>
              <a:t>close</a:t>
            </a:r>
            <a:r>
              <a:rPr kumimoji="1" lang="en-US" altLang="ja-JP" sz="2000">
                <a:latin typeface="Times New Roman" pitchFamily="18" charset="0"/>
              </a:rPr>
              <a:t> (socket_id);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146300" y="2236788"/>
            <a:ext cx="5292725" cy="1814512"/>
            <a:chOff x="1040" y="1321"/>
            <a:chExt cx="3334" cy="1143"/>
          </a:xfrm>
        </p:grpSpPr>
        <p:sp>
          <p:nvSpPr>
            <p:cNvPr id="35856" name="AutoShape 9"/>
            <p:cNvSpPr>
              <a:spLocks noChangeArrowheads="1"/>
            </p:cNvSpPr>
            <p:nvPr/>
          </p:nvSpPr>
          <p:spPr bwMode="auto">
            <a:xfrm>
              <a:off x="1040" y="2208"/>
              <a:ext cx="648" cy="25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7" name="Text Box 10"/>
            <p:cNvSpPr txBox="1">
              <a:spLocks noChangeArrowheads="1"/>
            </p:cNvSpPr>
            <p:nvPr/>
          </p:nvSpPr>
          <p:spPr bwMode="auto">
            <a:xfrm>
              <a:off x="2638" y="1321"/>
              <a:ext cx="173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8000"/>
                  </a:solidFill>
                  <a:latin typeface="Times New Roman" pitchFamily="18" charset="0"/>
                </a:rPr>
                <a:t>Return code (&lt; 0 if error)</a:t>
              </a:r>
              <a:endParaRPr kumimoji="1" lang="en-US" altLang="ja-JP" sz="2400">
                <a:solidFill>
                  <a:srgbClr val="008000"/>
                </a:solidFill>
                <a:latin typeface="Times New Roman" pitchFamily="18" charset="0"/>
              </a:endParaRPr>
            </a:p>
          </p:txBody>
        </p: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704" y="1448"/>
              <a:ext cx="960" cy="744"/>
              <a:chOff x="1704" y="1448"/>
              <a:chExt cx="960" cy="744"/>
            </a:xfrm>
          </p:grpSpPr>
          <p:sp>
            <p:nvSpPr>
              <p:cNvPr id="35859" name="Line 12"/>
              <p:cNvSpPr>
                <a:spLocks noChangeShapeType="1"/>
              </p:cNvSpPr>
              <p:nvPr/>
            </p:nvSpPr>
            <p:spPr bwMode="auto">
              <a:xfrm flipH="1">
                <a:off x="2288" y="1456"/>
                <a:ext cx="376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60" name="Line 13"/>
              <p:cNvSpPr>
                <a:spLocks noChangeShapeType="1"/>
              </p:cNvSpPr>
              <p:nvPr/>
            </p:nvSpPr>
            <p:spPr bwMode="auto">
              <a:xfrm flipH="1">
                <a:off x="1704" y="1448"/>
                <a:ext cx="592" cy="7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arrow" w="med" len="med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346200" y="4038600"/>
            <a:ext cx="3733800" cy="1376363"/>
            <a:chOff x="1264" y="2536"/>
            <a:chExt cx="2352" cy="867"/>
          </a:xfrm>
        </p:grpSpPr>
        <p:sp>
          <p:nvSpPr>
            <p:cNvPr id="35851" name="Text Box 15"/>
            <p:cNvSpPr txBox="1">
              <a:spLocks noChangeArrowheads="1"/>
            </p:cNvSpPr>
            <p:nvPr/>
          </p:nvSpPr>
          <p:spPr bwMode="auto">
            <a:xfrm>
              <a:off x="1264" y="2961"/>
              <a:ext cx="133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Socket ID returned</a:t>
              </a:r>
            </a:p>
            <a:p>
              <a:r>
                <a:rPr kumimoji="1" lang="en-US" altLang="ja-JP" sz="2000">
                  <a:solidFill>
                    <a:srgbClr val="FF0000"/>
                  </a:solidFill>
                  <a:latin typeface="Times New Roman" pitchFamily="18" charset="0"/>
                </a:rPr>
                <a:t>by socket function</a:t>
              </a:r>
            </a:p>
          </p:txBody>
        </p:sp>
        <p:grpSp>
          <p:nvGrpSpPr>
            <p:cNvPr id="6" name="Group 16"/>
            <p:cNvGrpSpPr>
              <a:grpSpLocks/>
            </p:cNvGrpSpPr>
            <p:nvPr/>
          </p:nvGrpSpPr>
          <p:grpSpPr bwMode="auto">
            <a:xfrm>
              <a:off x="2624" y="2560"/>
              <a:ext cx="768" cy="528"/>
              <a:chOff x="2600" y="2608"/>
              <a:chExt cx="768" cy="528"/>
            </a:xfrm>
          </p:grpSpPr>
          <p:sp>
            <p:nvSpPr>
              <p:cNvPr id="35854" name="Line 17"/>
              <p:cNvSpPr>
                <a:spLocks noChangeShapeType="1"/>
              </p:cNvSpPr>
              <p:nvPr/>
            </p:nvSpPr>
            <p:spPr bwMode="auto">
              <a:xfrm>
                <a:off x="2600" y="3136"/>
                <a:ext cx="416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55" name="Line 18"/>
              <p:cNvSpPr>
                <a:spLocks noChangeShapeType="1"/>
              </p:cNvSpPr>
              <p:nvPr/>
            </p:nvSpPr>
            <p:spPr bwMode="auto">
              <a:xfrm flipH="1">
                <a:off x="3016" y="2608"/>
                <a:ext cx="352" cy="5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arrow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53" name="Line 19"/>
            <p:cNvSpPr>
              <a:spLocks noChangeShapeType="1"/>
            </p:cNvSpPr>
            <p:nvPr/>
          </p:nvSpPr>
          <p:spPr bwMode="auto">
            <a:xfrm>
              <a:off x="3008" y="2536"/>
              <a:ext cx="60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fld id="{871A3930-549D-4849-A46E-C2A678954F22}" type="datetime1">
              <a:rPr lang="ja-JP" altLang="en-US" smtClean="0"/>
              <a:pPr/>
              <a:t>2023/9/23</a:t>
            </a:fld>
            <a:endParaRPr lang="en-US"/>
          </a:p>
        </p:txBody>
      </p:sp>
      <p:sp>
        <p:nvSpPr>
          <p:cNvPr id="36867" name="Footer Placeholder 2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Vasantha                    IT1351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9AEC0A0-F549-4594-BBCD-0EA1A05DD193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6429" name="Rectangle 45"/>
          <p:cNvSpPr>
            <a:spLocks noChangeArrowheads="1"/>
          </p:cNvSpPr>
          <p:nvPr/>
        </p:nvSpPr>
        <p:spPr bwMode="auto">
          <a:xfrm>
            <a:off x="2413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imes New Roman" pitchFamily="18" charset="0"/>
            </a:endParaRPr>
          </a:p>
        </p:txBody>
      </p:sp>
      <p:sp>
        <p:nvSpPr>
          <p:cNvPr id="16425" name="AutoShape 41"/>
          <p:cNvSpPr>
            <a:spLocks noChangeArrowheads="1"/>
          </p:cNvSpPr>
          <p:nvPr/>
        </p:nvSpPr>
        <p:spPr bwMode="auto">
          <a:xfrm>
            <a:off x="482600" y="1346200"/>
            <a:ext cx="3441700" cy="3175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871" name="Line 3"/>
          <p:cNvSpPr>
            <a:spLocks noChangeShapeType="1"/>
          </p:cNvSpPr>
          <p:nvPr/>
        </p:nvSpPr>
        <p:spPr bwMode="auto">
          <a:xfrm>
            <a:off x="228600" y="1066800"/>
            <a:ext cx="868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1574800" y="2405063"/>
            <a:ext cx="1930400" cy="27305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873" name="Rectangle 9"/>
          <p:cNvSpPr>
            <a:spLocks noChangeArrowheads="1"/>
          </p:cNvSpPr>
          <p:nvPr/>
        </p:nvSpPr>
        <p:spPr bwMode="auto">
          <a:xfrm>
            <a:off x="3289300" y="4640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4" name="Rectangle 10"/>
          <p:cNvSpPr>
            <a:spLocks noChangeArrowheads="1"/>
          </p:cNvSpPr>
          <p:nvPr/>
        </p:nvSpPr>
        <p:spPr bwMode="auto">
          <a:xfrm>
            <a:off x="3289300" y="4132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3289300" y="2608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449263" y="1304925"/>
            <a:ext cx="345916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 sz="2000">
                <a:solidFill>
                  <a:srgbClr val="FF0000"/>
                </a:solidFill>
                <a:latin typeface="Times New Roman" pitchFamily="18" charset="0"/>
              </a:rPr>
              <a:t>Step 7</a:t>
            </a:r>
            <a:r>
              <a:rPr kumimoji="1" lang="en-US" altLang="ja-JP" sz="2000">
                <a:latin typeface="Times New Roman" pitchFamily="18" charset="0"/>
              </a:rPr>
              <a:t>: Go back to </a:t>
            </a:r>
            <a:r>
              <a:rPr kumimoji="1" lang="en-US" altLang="ja-JP" sz="2000" b="1" i="1">
                <a:latin typeface="Times New Roman" pitchFamily="18" charset="0"/>
              </a:rPr>
              <a:t>accept</a:t>
            </a:r>
            <a:r>
              <a:rPr kumimoji="1" lang="en-US" altLang="ja-JP" sz="2000">
                <a:latin typeface="Times New Roman" pitchFamily="18" charset="0"/>
              </a:rPr>
              <a:t>( ) call</a:t>
            </a: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 flipV="1">
            <a:off x="2006600" y="3225800"/>
            <a:ext cx="1330325" cy="4699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5575300" y="2451100"/>
            <a:ext cx="1866900" cy="1955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879" name="Rectangle 15"/>
          <p:cNvSpPr>
            <a:spLocks noChangeArrowheads="1"/>
          </p:cNvSpPr>
          <p:nvPr/>
        </p:nvSpPr>
        <p:spPr bwMode="auto">
          <a:xfrm>
            <a:off x="5321300" y="36750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0" name="Rectangle 18"/>
          <p:cNvSpPr>
            <a:spLocks noChangeArrowheads="1"/>
          </p:cNvSpPr>
          <p:nvPr/>
        </p:nvSpPr>
        <p:spPr bwMode="auto">
          <a:xfrm>
            <a:off x="5321300" y="2895600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3" name="Oval 19"/>
          <p:cNvSpPr>
            <a:spLocks noChangeArrowheads="1"/>
          </p:cNvSpPr>
          <p:nvPr/>
        </p:nvSpPr>
        <p:spPr bwMode="auto">
          <a:xfrm>
            <a:off x="6102350" y="2938463"/>
            <a:ext cx="977900" cy="800100"/>
          </a:xfrm>
          <a:prstGeom prst="ellipse">
            <a:avLst/>
          </a:prstGeom>
          <a:solidFill>
            <a:srgbClr val="99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882" name="Rectangle 20"/>
          <p:cNvSpPr>
            <a:spLocks noChangeArrowheads="1"/>
          </p:cNvSpPr>
          <p:nvPr/>
        </p:nvSpPr>
        <p:spPr bwMode="auto">
          <a:xfrm>
            <a:off x="6229350" y="3187700"/>
            <a:ext cx="742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Client</a:t>
            </a:r>
          </a:p>
        </p:txBody>
      </p:sp>
      <p:sp>
        <p:nvSpPr>
          <p:cNvPr id="16407" name="Oval 23"/>
          <p:cNvSpPr>
            <a:spLocks noChangeArrowheads="1"/>
          </p:cNvSpPr>
          <p:nvPr/>
        </p:nvSpPr>
        <p:spPr bwMode="auto">
          <a:xfrm>
            <a:off x="1733550" y="3446463"/>
            <a:ext cx="977900" cy="800100"/>
          </a:xfrm>
          <a:prstGeom prst="ellipse">
            <a:avLst/>
          </a:prstGeom>
          <a:solidFill>
            <a:srgbClr val="FFFF66"/>
          </a:solidFill>
          <a:ln w="2857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6884" name="Rectangle 24"/>
          <p:cNvSpPr>
            <a:spLocks noChangeArrowheads="1"/>
          </p:cNvSpPr>
          <p:nvPr/>
        </p:nvSpPr>
        <p:spPr bwMode="auto">
          <a:xfrm>
            <a:off x="1835150" y="3662363"/>
            <a:ext cx="781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defTabSz="762000"/>
            <a:r>
              <a:rPr kumimoji="1" lang="en-US" altLang="ja-JP">
                <a:latin typeface="Times New Roman" pitchFamily="18" charset="0"/>
              </a:rPr>
              <a:t>Server</a:t>
            </a:r>
          </a:p>
        </p:txBody>
      </p:sp>
      <p:sp>
        <p:nvSpPr>
          <p:cNvPr id="36885" name="Rectangle 26"/>
          <p:cNvSpPr>
            <a:spLocks noChangeArrowheads="1"/>
          </p:cNvSpPr>
          <p:nvPr/>
        </p:nvSpPr>
        <p:spPr bwMode="auto">
          <a:xfrm>
            <a:off x="3289300" y="3624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6" name="Rectangle 8"/>
          <p:cNvSpPr>
            <a:spLocks noChangeArrowheads="1"/>
          </p:cNvSpPr>
          <p:nvPr/>
        </p:nvSpPr>
        <p:spPr bwMode="auto">
          <a:xfrm>
            <a:off x="3289300" y="3116263"/>
            <a:ext cx="501650" cy="292100"/>
          </a:xfrm>
          <a:prstGeom prst="rect">
            <a:avLst/>
          </a:prstGeom>
          <a:solidFill>
            <a:srgbClr val="99CC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87" name="Text Box 16"/>
          <p:cNvSpPr txBox="1">
            <a:spLocks noChangeArrowheads="1"/>
          </p:cNvSpPr>
          <p:nvPr/>
        </p:nvSpPr>
        <p:spPr bwMode="auto">
          <a:xfrm>
            <a:off x="3197225" y="3109913"/>
            <a:ext cx="590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altLang="ja-JP" sz="1600" b="1">
                <a:solidFill>
                  <a:srgbClr val="FF0000"/>
                </a:solidFill>
                <a:latin typeface="Times New Roman" pitchFamily="18" charset="0"/>
              </a:rPr>
              <a:t>6500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219325" y="5526088"/>
            <a:ext cx="4930775" cy="396875"/>
            <a:chOff x="1398" y="3481"/>
            <a:chExt cx="3106" cy="250"/>
          </a:xfrm>
        </p:grpSpPr>
        <p:sp>
          <p:nvSpPr>
            <p:cNvPr id="16427" name="AutoShape 43"/>
            <p:cNvSpPr>
              <a:spLocks noChangeArrowheads="1"/>
            </p:cNvSpPr>
            <p:nvPr/>
          </p:nvSpPr>
          <p:spPr bwMode="auto">
            <a:xfrm>
              <a:off x="1408" y="3504"/>
              <a:ext cx="3064" cy="208"/>
            </a:xfrm>
            <a:prstGeom prst="roundRect">
              <a:avLst>
                <a:gd name="adj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890" name="Text Box 42"/>
            <p:cNvSpPr txBox="1">
              <a:spLocks noChangeArrowheads="1"/>
            </p:cNvSpPr>
            <p:nvPr/>
          </p:nvSpPr>
          <p:spPr bwMode="auto">
            <a:xfrm>
              <a:off x="1398" y="3481"/>
              <a:ext cx="310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ja-JP" sz="2000">
                  <a:solidFill>
                    <a:srgbClr val="006600"/>
                  </a:solidFill>
                  <a:latin typeface="Times New Roman" pitchFamily="18" charset="0"/>
                </a:rPr>
                <a:t>The server process goes back to the accept call</a:t>
              </a:r>
              <a:endParaRPr kumimoji="1" lang="en-US" sz="2000">
                <a:solidFill>
                  <a:srgbClr val="006600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1999</Words>
  <Application>Microsoft Office PowerPoint</Application>
  <PresentationFormat>On-screen Show (4:3)</PresentationFormat>
  <Paragraphs>404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Times New Roman</vt:lpstr>
      <vt:lpstr>Office Theme</vt:lpstr>
      <vt:lpstr>Network Programming Concepts</vt:lpstr>
      <vt:lpstr>Who is Client ?</vt:lpstr>
      <vt:lpstr>Who is Server ?</vt:lpstr>
      <vt:lpstr>SERVER TYPES </vt:lpstr>
      <vt:lpstr>Connectionless Iterative Server</vt:lpstr>
      <vt:lpstr>Connection-Oriented Concurrent Server</vt:lpstr>
      <vt:lpstr>PowerPoint Presentation</vt:lpstr>
      <vt:lpstr>What is Socket Interface ?</vt:lpstr>
      <vt:lpstr>Concept of Socket</vt:lpstr>
      <vt:lpstr>What is a socket ?</vt:lpstr>
      <vt:lpstr>Origin of Socket Interface</vt:lpstr>
      <vt:lpstr>Socket data structure</vt:lpstr>
      <vt:lpstr>Socket types</vt:lpstr>
      <vt:lpstr> List of  socket  API ’s on  Linux/Unix/POSIX Compliant OSes </vt:lpstr>
      <vt:lpstr>PowerPoint Presentation</vt:lpstr>
      <vt:lpstr>Byte Ordering Functions</vt:lpstr>
      <vt:lpstr>Address Conversion Function</vt:lpstr>
      <vt:lpstr>List of headers for socket programming </vt:lpstr>
      <vt:lpstr>Additional Header that may be required</vt:lpstr>
      <vt:lpstr>TCP Client – Server (Basic) Model</vt:lpstr>
      <vt:lpstr>PowerPoint Presentation</vt:lpstr>
      <vt:lpstr>UDP Server – Client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sysadmin hyd</cp:lastModifiedBy>
  <cp:revision>108</cp:revision>
  <dcterms:created xsi:type="dcterms:W3CDTF">2006-08-16T00:00:00Z</dcterms:created>
  <dcterms:modified xsi:type="dcterms:W3CDTF">2023-09-23T13:56:16Z</dcterms:modified>
</cp:coreProperties>
</file>