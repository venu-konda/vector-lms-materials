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71" r:id="rId4"/>
    <p:sldId id="281" r:id="rId5"/>
    <p:sldId id="282" r:id="rId6"/>
    <p:sldId id="283" r:id="rId7"/>
    <p:sldId id="284" r:id="rId8"/>
    <p:sldId id="285" r:id="rId9"/>
    <p:sldId id="287" r:id="rId10"/>
    <p:sldId id="288" r:id="rId11"/>
    <p:sldId id="286" r:id="rId12"/>
    <p:sldId id="293" r:id="rId13"/>
    <p:sldId id="292" r:id="rId14"/>
    <p:sldId id="291" r:id="rId15"/>
    <p:sldId id="296" r:id="rId16"/>
    <p:sldId id="297" r:id="rId17"/>
    <p:sldId id="298" r:id="rId18"/>
    <p:sldId id="299" r:id="rId19"/>
    <p:sldId id="300" r:id="rId20"/>
    <p:sldId id="301" r:id="rId21"/>
    <p:sldId id="309" r:id="rId22"/>
    <p:sldId id="302" r:id="rId23"/>
    <p:sldId id="303" r:id="rId24"/>
    <p:sldId id="270" r:id="rId25"/>
    <p:sldId id="294" r:id="rId26"/>
    <p:sldId id="269" r:id="rId27"/>
    <p:sldId id="304" r:id="rId28"/>
    <p:sldId id="307" r:id="rId29"/>
    <p:sldId id="308" r:id="rId30"/>
    <p:sldId id="310" r:id="rId31"/>
    <p:sldId id="321" r:id="rId32"/>
    <p:sldId id="313" r:id="rId33"/>
    <p:sldId id="312" r:id="rId34"/>
    <p:sldId id="319" r:id="rId35"/>
    <p:sldId id="314" r:id="rId36"/>
    <p:sldId id="311" r:id="rId37"/>
    <p:sldId id="316" r:id="rId38"/>
    <p:sldId id="320" r:id="rId39"/>
    <p:sldId id="315" r:id="rId40"/>
    <p:sldId id="317" r:id="rId41"/>
    <p:sldId id="318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4" autoAdjust="0"/>
    <p:restoredTop sz="94660"/>
  </p:normalViewPr>
  <p:slideViewPr>
    <p:cSldViewPr>
      <p:cViewPr varScale="1">
        <p:scale>
          <a:sx n="81" d="100"/>
          <a:sy n="81" d="100"/>
        </p:scale>
        <p:origin x="15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G1ueMDgwxw" TargetMode="External"/><Relationship Id="rId2" Type="http://schemas.openxmlformats.org/officeDocument/2006/relationships/hyperlink" Target="https://www.youtube.com/watch?v=FTUV0t6JaDA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ad4kQ5835Y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with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for Interviews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689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TCP/IP Layers and their address</a:t>
            </a:r>
          </a:p>
          <a:p>
            <a:r>
              <a:rPr lang="en-US" dirty="0"/>
              <a:t>Physical /Link/MAC/Hardware address</a:t>
            </a:r>
          </a:p>
          <a:p>
            <a:r>
              <a:rPr lang="en-US" dirty="0"/>
              <a:t>Logical Address / IP address</a:t>
            </a:r>
          </a:p>
          <a:p>
            <a:r>
              <a:rPr lang="en-US" dirty="0"/>
              <a:t>Classes of IPv4 addresses/</a:t>
            </a:r>
            <a:r>
              <a:rPr lang="en-US" dirty="0" err="1"/>
              <a:t>classful</a:t>
            </a:r>
            <a:r>
              <a:rPr lang="en-US" dirty="0"/>
              <a:t> IPv4 addressing</a:t>
            </a:r>
          </a:p>
          <a:p>
            <a:r>
              <a:rPr lang="en-US" dirty="0"/>
              <a:t>Port Numbers</a:t>
            </a:r>
          </a:p>
          <a:p>
            <a:r>
              <a:rPr lang="en-US" dirty="0"/>
              <a:t>Connecting Devices(DCE’s) :</a:t>
            </a:r>
          </a:p>
          <a:p>
            <a:pPr>
              <a:buNone/>
            </a:pPr>
            <a:r>
              <a:rPr lang="en-US" dirty="0"/>
              <a:t>     Repeater,</a:t>
            </a:r>
          </a:p>
          <a:p>
            <a:pPr>
              <a:buNone/>
            </a:pPr>
            <a:r>
              <a:rPr lang="en-US" dirty="0"/>
              <a:t>     Hub,</a:t>
            </a:r>
          </a:p>
          <a:p>
            <a:pPr>
              <a:buNone/>
            </a:pPr>
            <a:r>
              <a:rPr lang="en-US" dirty="0"/>
              <a:t>     Bridge,</a:t>
            </a:r>
          </a:p>
          <a:p>
            <a:pPr>
              <a:buNone/>
            </a:pPr>
            <a:r>
              <a:rPr lang="en-US" dirty="0"/>
              <a:t>     Switch,</a:t>
            </a:r>
          </a:p>
          <a:p>
            <a:pPr>
              <a:buNone/>
            </a:pPr>
            <a:r>
              <a:rPr lang="en-US" dirty="0"/>
              <a:t>     Router</a:t>
            </a:r>
          </a:p>
          <a:p>
            <a:pPr>
              <a:buNone/>
            </a:pPr>
            <a:r>
              <a:rPr lang="en-US" dirty="0"/>
              <a:t>     Gateway,</a:t>
            </a:r>
          </a:p>
          <a:p>
            <a:pPr>
              <a:buNone/>
            </a:pPr>
            <a:r>
              <a:rPr lang="en-US" dirty="0"/>
              <a:t>     Modem</a:t>
            </a:r>
          </a:p>
          <a:p>
            <a:pPr>
              <a:buNone/>
            </a:pPr>
            <a:r>
              <a:rPr lang="en-US" dirty="0"/>
              <a:t>     CSU/DSU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Layers and Their Addresses</a:t>
            </a:r>
          </a:p>
        </p:txBody>
      </p:sp>
      <p:pic>
        <p:nvPicPr>
          <p:cNvPr id="30722" name="Picture 2" descr="Discuss the different types of addresses used in the TCP/IP protocol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8077200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Physical/Link/Hardware/MAC Address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It is a 48-bit address </a:t>
            </a:r>
            <a:r>
              <a:rPr lang="en-US" dirty="0" err="1"/>
              <a:t>address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represented as a 6 byte/octet hexadecimal number , where in each byte may be within the range 00 to FF.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a globally unique address assigned to a commercial NIC.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This address type may be </a:t>
            </a:r>
            <a:r>
              <a:rPr lang="en-US" dirty="0" err="1"/>
              <a:t>unicast,multicast,broadcast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If </a:t>
            </a:r>
            <a:r>
              <a:rPr lang="en-US" dirty="0" err="1"/>
              <a:t>lsb</a:t>
            </a:r>
            <a:r>
              <a:rPr lang="en-US" dirty="0"/>
              <a:t> of first byte(B1) is 0 then address is </a:t>
            </a:r>
            <a:r>
              <a:rPr lang="en-US" dirty="0" err="1"/>
              <a:t>unicast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If </a:t>
            </a:r>
            <a:r>
              <a:rPr lang="en-US" dirty="0" err="1"/>
              <a:t>lsb</a:t>
            </a:r>
            <a:r>
              <a:rPr lang="en-US" dirty="0"/>
              <a:t> of first byte(B1) is 1 then address is multicast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If all bytes are FF then address is ONLY destination broadcast address and never assigned to any network adaptor.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If all bytes are 00 then address is ONLY source address is also never assigned to any network adaptor.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 first 3 bytes are manufacture ID bytes , &amp; the next 3 bytes are unique CARD ID bytes under one manufacturer ID bytes. 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ma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1746" name="Picture 2" descr="https://media.geeksforgeeks.org/wp-content/uploads/mac-nota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686800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Logical Address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Also called as Internet Protocol (IP) Address</a:t>
            </a:r>
          </a:p>
          <a:p>
            <a:r>
              <a:rPr lang="en-US" dirty="0"/>
              <a:t>Currently 2 versions are in use  : IPv4 &amp; IPv6/</a:t>
            </a:r>
            <a:r>
              <a:rPr lang="en-US" dirty="0" err="1"/>
              <a:t>IPng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IPv4: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32 bit address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represented as a 4 byte/octet dotted decimal number , where each byte is with 0 – 255 range . Example 1.2.3.4.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There are two groups of IPv4 address namely private IPv4 addresses &amp; public IPv4 address.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isco Networking Basics: IP Addressing | Network Comput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Private IPv4 address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Given and maintained by Local System/Network Administrator   using rules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Used for Host to Host communication/networking Within LAN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Are non commercial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Locally Unique for any Host within particular LAN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Public IPv4 address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Given &amp; maintained by ISP using rules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are commercial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Used for Host to Host Communication in two separate network connected through ISP.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Public IP is usually shared by a group/all  hosts of a particular LAN.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Hence a host may have &amp; use two IPv4 addresses , a private IPv4 for local communication , and a public IPv4 address for global communication.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Classfull</a:t>
            </a:r>
            <a:r>
              <a:rPr lang="en-US" dirty="0"/>
              <a:t> IPv4</a:t>
            </a:r>
          </a:p>
        </p:txBody>
      </p:sp>
      <p:pic>
        <p:nvPicPr>
          <p:cNvPr id="35844" name="Picture 4" descr="Format-of-an-IP-Address – Gate Vidyala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8991600" cy="1828800"/>
          </a:xfrm>
          <a:prstGeom prst="rect">
            <a:avLst/>
          </a:prstGeom>
          <a:noFill/>
        </p:spPr>
      </p:pic>
      <p:pic>
        <p:nvPicPr>
          <p:cNvPr id="5" name="Picture 6" descr="Introduction To IP Addressing And Networking | Bernki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95600"/>
            <a:ext cx="9144000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cna treats: Internet Protocol Tutor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200400"/>
          </a:xfrm>
          <a:prstGeom prst="rect">
            <a:avLst/>
          </a:prstGeom>
          <a:noFill/>
        </p:spPr>
      </p:pic>
      <p:pic>
        <p:nvPicPr>
          <p:cNvPr id="6" name="Picture 2" descr="IP Addressing | Introduction and Classful Addressi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2800"/>
            <a:ext cx="9144000" cy="350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Default Subnet Masks (Special IPv4 Addresses)</a:t>
            </a:r>
          </a:p>
        </p:txBody>
      </p:sp>
      <p:sp>
        <p:nvSpPr>
          <p:cNvPr id="38914" name="AutoShape 2" descr="I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916" name="AutoShape 4" descr="I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00200"/>
            <a:ext cx="914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More Special IPv4 </a:t>
            </a:r>
            <a:r>
              <a:rPr lang="en-US" dirty="0" err="1"/>
              <a:t>Addressess</a:t>
            </a:r>
            <a:endParaRPr lang="en-US" dirty="0"/>
          </a:p>
        </p:txBody>
      </p:sp>
      <p:pic>
        <p:nvPicPr>
          <p:cNvPr id="4" name="Picture 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16462"/>
            <a:ext cx="9144000" cy="214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57347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2342024-A478-4703-8D92-AEF24051ED59}" type="slidenum">
              <a:rPr lang="en-US"/>
              <a:pPr/>
              <a:t>16</a:t>
            </a:fld>
            <a:endParaRPr lang="en-US"/>
          </a:p>
        </p:txBody>
      </p:sp>
      <p:pic>
        <p:nvPicPr>
          <p:cNvPr id="5734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752600"/>
            <a:ext cx="8686800" cy="305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762000"/>
            <a:ext cx="6019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ADDRESS/NUMBER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 </a:t>
            </a:r>
            <a:r>
              <a:rPr lang="en-US" b="1" dirty="0"/>
              <a:t>port number</a:t>
            </a:r>
            <a:r>
              <a:rPr lang="en-US" dirty="0"/>
              <a:t> is a way to identify a specific process/connection in a specific process(client/server) that wants communicate using TCP/IP </a:t>
            </a:r>
            <a:r>
              <a:rPr lang="en-US" b="1" dirty="0"/>
              <a:t>network in </a:t>
            </a:r>
            <a:r>
              <a:rPr lang="en-US" b="1" dirty="0">
                <a:solidFill>
                  <a:srgbClr val="FF0000"/>
                </a:solidFill>
              </a:rPr>
              <a:t>a particular Host</a:t>
            </a:r>
            <a:r>
              <a:rPr lang="en-US" dirty="0"/>
              <a:t> .</a:t>
            </a:r>
          </a:p>
          <a:p>
            <a:r>
              <a:rPr lang="en-US" dirty="0"/>
              <a:t>It a 16-bit unsigned short integer (0 – 65535) number .</a:t>
            </a:r>
          </a:p>
          <a:p>
            <a:r>
              <a:rPr lang="en-US" dirty="0"/>
              <a:t>Two or more processes/connections in the same process CANNOT use the same port number at the same time.</a:t>
            </a:r>
          </a:p>
          <a:p>
            <a:r>
              <a:rPr lang="en-US" dirty="0"/>
              <a:t>Hence port number is unique for a process/connection in a particular Host.</a:t>
            </a:r>
          </a:p>
          <a:p>
            <a:r>
              <a:rPr lang="en-US" dirty="0"/>
              <a:t>The sum total  of processes/connections using TCP/IP network in a particular host is limited by this number.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Number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0 – 65535</a:t>
            </a:r>
          </a:p>
          <a:p>
            <a:r>
              <a:rPr lang="en-US" dirty="0"/>
              <a:t> </a:t>
            </a:r>
            <a:r>
              <a:rPr lang="en-US" b="1" dirty="0"/>
              <a:t>port</a:t>
            </a:r>
            <a:r>
              <a:rPr lang="en-US" dirty="0"/>
              <a:t> numbers 0 to 1023 are reserved for privileged services and designated as well-known </a:t>
            </a:r>
            <a:r>
              <a:rPr lang="en-US" b="1" dirty="0"/>
              <a:t>ports.</a:t>
            </a:r>
          </a:p>
          <a:p>
            <a:r>
              <a:rPr lang="en-US" b="1" dirty="0"/>
              <a:t>Port numbers 1024 – 49151 are referred to as registered / </a:t>
            </a:r>
            <a:r>
              <a:rPr lang="en-US" b="1" dirty="0" err="1"/>
              <a:t>registerable</a:t>
            </a:r>
            <a:r>
              <a:rPr lang="en-US" b="1" dirty="0"/>
              <a:t> ports.</a:t>
            </a:r>
          </a:p>
          <a:p>
            <a:r>
              <a:rPr lang="en-US" b="1" dirty="0"/>
              <a:t>Port numbers 49152 – 65535 are referred to as open/dynamic/ephemeral ports.</a:t>
            </a:r>
          </a:p>
          <a:p>
            <a:r>
              <a:rPr lang="en-US" b="1" dirty="0"/>
              <a:t>TRANSPORT LAYER DEALS WITH PORT NUMBERS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Devices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Repeater</a:t>
            </a:r>
          </a:p>
        </p:txBody>
      </p:sp>
      <p:pic>
        <p:nvPicPr>
          <p:cNvPr id="1026" name="Picture 2" descr="Difference Between Repeaters, Bridges, Routers, Cables And Gatewa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610600" cy="2819400"/>
          </a:xfrm>
          <a:prstGeom prst="rect">
            <a:avLst/>
          </a:prstGeom>
          <a:noFill/>
        </p:spPr>
      </p:pic>
      <p:pic>
        <p:nvPicPr>
          <p:cNvPr id="1028" name="Picture 4" descr="GNS3 Labs | CCNP | CCNA Labs: Hub vs Switch vs Repeater | LAN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810000"/>
            <a:ext cx="82296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two port device.</a:t>
            </a:r>
          </a:p>
          <a:p>
            <a:r>
              <a:rPr lang="en-US" dirty="0"/>
              <a:t>It is used for extending the distance of interconnectivity between two DTEs in the event of signal attenuation/drop/weakened</a:t>
            </a:r>
          </a:p>
          <a:p>
            <a:r>
              <a:rPr lang="en-US" dirty="0"/>
              <a:t> between them.</a:t>
            </a:r>
          </a:p>
          <a:p>
            <a:r>
              <a:rPr lang="en-US" dirty="0"/>
              <a:t>It non intelligent as does help in managing network traffic &amp; does not deal with any addresses.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 descr="1 networking devices 20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9154" name="Picture 2" descr="Computer Networks 15-1 Connecting Devices. Connecting Device We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1 networking devices 20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HUB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 a multiport Repeater used for interconnecting multiple hosts using star topology.</a:t>
            </a:r>
          </a:p>
          <a:p>
            <a:r>
              <a:rPr lang="en-US" dirty="0"/>
              <a:t>Whatever information sent by any host arrives at the bridge’s one port and copies it to the rest of all other ports(BROADCAST).</a:t>
            </a:r>
          </a:p>
          <a:p>
            <a:r>
              <a:rPr lang="en-US" dirty="0"/>
              <a:t>It is a non intelligent device , since it does not deal with addresses during communication and hence does not manage network traffic.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BRIDGE</a:t>
            </a:r>
          </a:p>
        </p:txBody>
      </p:sp>
      <p:pic>
        <p:nvPicPr>
          <p:cNvPr id="1026" name="Picture 2" descr="Use a Bridge to Expand Your Local Networ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38200"/>
            <a:ext cx="9144000" cy="601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Bridge is a device which divides a LAN into 2 separate collision/broadcast domains.</a:t>
            </a:r>
          </a:p>
          <a:p>
            <a:r>
              <a:rPr lang="en-US" dirty="0"/>
              <a:t>Thus It helps in managing network traffic to some extent. ( Refer : FIG2 )</a:t>
            </a:r>
          </a:p>
          <a:p>
            <a:r>
              <a:rPr lang="en-US" dirty="0">
                <a:solidFill>
                  <a:srgbClr val="FF0000"/>
                </a:solidFill>
              </a:rPr>
              <a:t>Collision Domain </a:t>
            </a:r>
            <a:r>
              <a:rPr lang="en-US" dirty="0"/>
              <a:t>refers the area/region/boundary of any network that can accommodate as many hosts as possible which can comfortably communicate with each other, WITHOUT more time spent in retransmissions due to collisions , THAN ACTUAL transmissions.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SWITCH</a:t>
            </a:r>
          </a:p>
        </p:txBody>
      </p:sp>
      <p:pic>
        <p:nvPicPr>
          <p:cNvPr id="52226" name="Picture 2" descr="Network Switch Before or After Router?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4400"/>
            <a:ext cx="9144000" cy="594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Switch is a multi-interface bridge</a:t>
            </a:r>
          </a:p>
          <a:p>
            <a:r>
              <a:rPr lang="en-US" dirty="0"/>
              <a:t>It divides the network into several collision/broadcast domain.(Refer PIC/Image 4)</a:t>
            </a:r>
          </a:p>
          <a:p>
            <a:r>
              <a:rPr lang="en-US" dirty="0"/>
              <a:t>Hence it manages network traffic in more better way.</a:t>
            </a:r>
          </a:p>
          <a:p>
            <a:r>
              <a:rPr lang="en-US" dirty="0"/>
              <a:t>It also deals with physical addresses ONLY , and maintains a switch table , to help manage traffic. </a:t>
            </a:r>
          </a:p>
          <a:p>
            <a:r>
              <a:rPr lang="en-US" dirty="0"/>
              <a:t>The intelligence of switch can be explained using the terms </a:t>
            </a:r>
            <a:r>
              <a:rPr lang="en-US" dirty="0" err="1"/>
              <a:t>learning,flooding,forwarding,filtering,aging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Is a device used for interconnecting  2 or more networks (which are using different network addresses) BUT physical communication technologies of all the networks are SAME.</a:t>
            </a:r>
          </a:p>
          <a:p>
            <a:r>
              <a:rPr lang="en-US" dirty="0"/>
              <a:t>It forwards/routes data from one network to another network based on their IP address.</a:t>
            </a:r>
          </a:p>
          <a:p>
            <a:r>
              <a:rPr lang="en-US" dirty="0"/>
              <a:t>Routers help forward information from source host in one network directly or indirectly(using a chain of routers) to a destination host in another network.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Router - javatpoi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2800"/>
            <a:ext cx="8991600" cy="3505200"/>
          </a:xfrm>
          <a:prstGeom prst="rect">
            <a:avLst/>
          </a:prstGeom>
          <a:noFill/>
        </p:spPr>
      </p:pic>
      <p:pic>
        <p:nvPicPr>
          <p:cNvPr id="1028" name="Picture 4" descr="What is Router - javatpoi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0"/>
            <a:ext cx="7467600" cy="3276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Router consistently deal with IP addresses &amp; MAC addresses to forward/route information in smallest path(route) among several paths(routes) if available.</a:t>
            </a:r>
          </a:p>
          <a:p>
            <a:r>
              <a:rPr lang="en-US" dirty="0"/>
              <a:t>Any routing path will involve </a:t>
            </a:r>
            <a:r>
              <a:rPr lang="en-US" dirty="0" err="1"/>
              <a:t>atleast</a:t>
            </a:r>
            <a:r>
              <a:rPr lang="en-US" dirty="0"/>
              <a:t> 2 DTEs(source &amp; destination hosts) and 1 or more(chain of) DCEs (routers) </a:t>
            </a:r>
          </a:p>
          <a:p>
            <a:r>
              <a:rPr lang="en-US" dirty="0">
                <a:solidFill>
                  <a:srgbClr val="FF0000"/>
                </a:solidFill>
              </a:rPr>
              <a:t>Gateways are special Routers </a:t>
            </a:r>
            <a:r>
              <a:rPr lang="en-US" dirty="0"/>
              <a:t>which can interconnect 2 or more networks BUT physical communication technologies of the networks my be DIFFERENT.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</a:t>
            </a:r>
            <a:r>
              <a:rPr lang="en-US"/>
              <a:t>Enabled Router/Gateway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routers additional deal with port number , in their forward process , then it is referred to as NAT Enabled router.</a:t>
            </a:r>
          </a:p>
          <a:p>
            <a:r>
              <a:rPr lang="en-US" dirty="0"/>
              <a:t>NAT Enabled routers deal with PORT FORWARDING (i.e. Intranet to Internet &amp; vice-versa communication for private &amp; public IP mapping.</a:t>
            </a:r>
          </a:p>
          <a:p>
            <a:r>
              <a:rPr lang="en-US" dirty="0"/>
              <a:t>Because of NAT a single public IP can be shared among several private IPs &amp; connections </a:t>
            </a:r>
            <a:r>
              <a:rPr lang="en-US" dirty="0" err="1"/>
              <a:t>simulataneously</a:t>
            </a:r>
            <a:r>
              <a:rPr lang="en-US" dirty="0"/>
              <a:t>.</a:t>
            </a:r>
          </a:p>
          <a:p>
            <a:r>
              <a:rPr lang="en-US" dirty="0"/>
              <a:t>Refer </a:t>
            </a:r>
            <a:r>
              <a:rPr lang="en-US" dirty="0" err="1"/>
              <a:t>urls</a:t>
            </a:r>
            <a:r>
              <a:rPr lang="en-US" dirty="0"/>
              <a:t> : NAT , Port Forwarding</a:t>
            </a:r>
          </a:p>
          <a:p>
            <a:r>
              <a:rPr lang="en-US" dirty="0">
                <a:hlinkClick r:id="rId2"/>
              </a:rPr>
              <a:t>https://www.youtube.com/watch?v=FTUV0t6JaDA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https://www.youtube.com/watch?v=2G1ueMDgwxw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LAN </a:t>
            </a:r>
            <a:r>
              <a:rPr lang="en-US" dirty="0" err="1"/>
              <a:t>vs</a:t>
            </a:r>
            <a:r>
              <a:rPr lang="en-US" dirty="0"/>
              <a:t> WAN</a:t>
            </a:r>
          </a:p>
        </p:txBody>
      </p:sp>
      <p:pic>
        <p:nvPicPr>
          <p:cNvPr id="52226" name="Picture 2" descr="Introduction to WANs (Wide Area Network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Is a device which brings the internet into your home  or business.</a:t>
            </a:r>
          </a:p>
          <a:p>
            <a:r>
              <a:rPr lang="en-US" dirty="0"/>
              <a:t>It establishes and maintains a dedicated connection to ISP to give us access to the internet.</a:t>
            </a:r>
          </a:p>
          <a:p>
            <a:r>
              <a:rPr lang="en-US" dirty="0"/>
              <a:t>Internet uses analog signal , where as computers use digital signal hence a Modem comes between.</a:t>
            </a:r>
          </a:p>
          <a:p>
            <a:r>
              <a:rPr lang="en-US" dirty="0"/>
              <a:t>Modem demodulate incoming analog signal from internet in digital signal for computer.</a:t>
            </a:r>
          </a:p>
          <a:p>
            <a:r>
              <a:rPr lang="en-US" dirty="0"/>
              <a:t>And modulates outgoing digital signal from computer to analog signal for internet.</a:t>
            </a:r>
          </a:p>
          <a:p>
            <a:r>
              <a:rPr lang="en-US" dirty="0"/>
              <a:t>Refer </a:t>
            </a:r>
            <a:r>
              <a:rPr lang="en-US" dirty="0" err="1"/>
              <a:t>url</a:t>
            </a:r>
            <a:r>
              <a:rPr lang="en-US" dirty="0"/>
              <a:t> : (Modem </a:t>
            </a:r>
            <a:r>
              <a:rPr lang="en-US" dirty="0" err="1"/>
              <a:t>vs</a:t>
            </a:r>
            <a:r>
              <a:rPr lang="en-US" dirty="0"/>
              <a:t> Router )</a:t>
            </a:r>
          </a:p>
          <a:p>
            <a:r>
              <a:rPr lang="en-US" dirty="0">
                <a:hlinkClick r:id="rId2"/>
              </a:rPr>
              <a:t>https://www.youtube.com/watch?v=Mad4kQ5835Y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76600"/>
            <a:ext cx="9144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609600"/>
            <a:ext cx="8229600" cy="1219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Routers &amp; Modem may also come in the same package as a single device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CSU/DSU</a:t>
            </a:r>
          </a:p>
        </p:txBody>
      </p:sp>
      <p:pic>
        <p:nvPicPr>
          <p:cNvPr id="53250" name="Picture 2" descr="Connecting Your Wide Area Network (WAN) Devices - dumm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57600"/>
            <a:ext cx="9144000" cy="3200400"/>
          </a:xfrm>
          <a:prstGeom prst="rect">
            <a:avLst/>
          </a:prstGeom>
          <a:noFill/>
        </p:spPr>
      </p:pic>
      <p:pic>
        <p:nvPicPr>
          <p:cNvPr id="6" name="Picture 2" descr="WAN Connection Types - Config Rout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3000"/>
            <a:ext cx="9144000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CSU/DSU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Channel Service Unit/Data Service Unit sit between the ISP connection and the router.</a:t>
            </a:r>
          </a:p>
          <a:p>
            <a:r>
              <a:rPr lang="en-US" dirty="0"/>
              <a:t>CSU – connects to the network provider</a:t>
            </a:r>
          </a:p>
          <a:p>
            <a:r>
              <a:rPr lang="en-US" dirty="0"/>
              <a:t>DSU – connects to router</a:t>
            </a:r>
          </a:p>
          <a:p>
            <a:r>
              <a:rPr lang="en-US" dirty="0"/>
              <a:t>Used for managing the speed of internet connection being provided by ISP to clients based on </a:t>
            </a:r>
            <a:r>
              <a:rPr lang="en-US"/>
              <a:t>their opted subscription.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0178" name="Picture 2" descr="Connecting to WAN – Techno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 Technologies &amp; Connectivity</a:t>
            </a:r>
          </a:p>
        </p:txBody>
      </p:sp>
      <p:pic>
        <p:nvPicPr>
          <p:cNvPr id="51202" name="Picture 2" descr="WAN Technologies and Connectivity. Example of WAN | ICND2 200-1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5918</TotalTime>
  <Words>1296</Words>
  <Application>Microsoft Office PowerPoint</Application>
  <PresentationFormat>On-screen Show (4:3)</PresentationFormat>
  <Paragraphs>120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Wingdings</vt:lpstr>
      <vt:lpstr>Office Theme</vt:lpstr>
      <vt:lpstr>Network with TCP/IP</vt:lpstr>
      <vt:lpstr>Agenda</vt:lpstr>
      <vt:lpstr>TCP/IP Layers and Their Addresses</vt:lpstr>
      <vt:lpstr>Physical/Link/Hardware/MAC Address I</vt:lpstr>
      <vt:lpstr>PowerPoint Presentation</vt:lpstr>
      <vt:lpstr>PowerPoint Presentation</vt:lpstr>
      <vt:lpstr>PowerPoint Presentation</vt:lpstr>
      <vt:lpstr>Logical Address</vt:lpstr>
      <vt:lpstr>PowerPoint Presentation</vt:lpstr>
      <vt:lpstr>PowerPoint Presentation</vt:lpstr>
      <vt:lpstr>PowerPoint Presentation</vt:lpstr>
      <vt:lpstr>Classfull IPv4</vt:lpstr>
      <vt:lpstr>PowerPoint Presentation</vt:lpstr>
      <vt:lpstr>Default Subnet Masks (Special IPv4 Addresses)</vt:lpstr>
      <vt:lpstr>More Special IPv4 Addressess</vt:lpstr>
      <vt:lpstr>PowerPoint Presentation</vt:lpstr>
      <vt:lpstr>PORT ADDRESS/NUMBER</vt:lpstr>
      <vt:lpstr>PORT Number Ranges</vt:lpstr>
      <vt:lpstr>Connecting Devices</vt:lpstr>
      <vt:lpstr>Repeater</vt:lpstr>
      <vt:lpstr>PowerPoint Presentation</vt:lpstr>
      <vt:lpstr>PowerPoint Presentation</vt:lpstr>
      <vt:lpstr>PowerPoint Presentation</vt:lpstr>
      <vt:lpstr>PowerPoint Presentation</vt:lpstr>
      <vt:lpstr>HUB </vt:lpstr>
      <vt:lpstr>BRIDGE</vt:lpstr>
      <vt:lpstr>BRIDGE</vt:lpstr>
      <vt:lpstr>SWITCH</vt:lpstr>
      <vt:lpstr>Switch</vt:lpstr>
      <vt:lpstr>Router</vt:lpstr>
      <vt:lpstr>PowerPoint Presentation</vt:lpstr>
      <vt:lpstr>Router continued</vt:lpstr>
      <vt:lpstr>NAT Enabled Router/Gateway</vt:lpstr>
      <vt:lpstr>Summing Up LAN vs WAN</vt:lpstr>
      <vt:lpstr>Modem</vt:lpstr>
      <vt:lpstr>PowerPoint Presentation</vt:lpstr>
      <vt:lpstr>PowerPoint Presentation</vt:lpstr>
      <vt:lpstr>CSU/DSU</vt:lpstr>
      <vt:lpstr>CSU/DSU</vt:lpstr>
      <vt:lpstr>PowerPoint Presentation</vt:lpstr>
      <vt:lpstr>WAN Technologies &amp; Connectivity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shashank ganla</dc:creator>
  <cp:lastModifiedBy>sysadmin hyd</cp:lastModifiedBy>
  <cp:revision>252</cp:revision>
  <dcterms:created xsi:type="dcterms:W3CDTF">2006-08-16T00:00:00Z</dcterms:created>
  <dcterms:modified xsi:type="dcterms:W3CDTF">2023-10-30T11:20:52Z</dcterms:modified>
</cp:coreProperties>
</file>