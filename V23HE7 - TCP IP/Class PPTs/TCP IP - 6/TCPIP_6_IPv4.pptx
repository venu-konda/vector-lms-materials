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5" r:id="rId3"/>
    <p:sldId id="257" r:id="rId4"/>
    <p:sldId id="259" r:id="rId5"/>
    <p:sldId id="260" r:id="rId6"/>
    <p:sldId id="264" r:id="rId7"/>
    <p:sldId id="273" r:id="rId8"/>
    <p:sldId id="275" r:id="rId9"/>
    <p:sldId id="276" r:id="rId10"/>
    <p:sldId id="278" r:id="rId11"/>
    <p:sldId id="284" r:id="rId12"/>
    <p:sldId id="286" r:id="rId13"/>
    <p:sldId id="288" r:id="rId14"/>
    <p:sldId id="290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304" r:id="rId23"/>
    <p:sldId id="306" r:id="rId24"/>
    <p:sldId id="307" r:id="rId25"/>
    <p:sldId id="313" r:id="rId26"/>
    <p:sldId id="31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430E21-44A2-48B5-B8D8-464F37CBD43B}" type="slidenum">
              <a:rPr lang="en-US"/>
              <a:pPr/>
              <a:t>1</a:t>
            </a:fld>
            <a:endParaRPr lang="en-US"/>
          </a:p>
        </p:txBody>
      </p:sp>
      <p:sp>
        <p:nvSpPr>
          <p:cNvPr id="560133" name="Text Box 5"/>
          <p:cNvSpPr txBox="1">
            <a:spLocks noChangeArrowheads="1"/>
          </p:cNvSpPr>
          <p:nvPr/>
        </p:nvSpPr>
        <p:spPr bwMode="auto">
          <a:xfrm>
            <a:off x="2438400" y="2895600"/>
            <a:ext cx="4502150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4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Internet Protocol</a:t>
            </a:r>
          </a:p>
        </p:txBody>
      </p:sp>
      <p:sp>
        <p:nvSpPr>
          <p:cNvPr id="560134" name="Text Box 6"/>
          <p:cNvSpPr txBox="1">
            <a:spLocks noChangeArrowheads="1"/>
          </p:cNvSpPr>
          <p:nvPr/>
        </p:nvSpPr>
        <p:spPr bwMode="auto">
          <a:xfrm>
            <a:off x="80391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9E41-ED37-F7E8-5C73-168D3C10C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47700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It is the major protocol of Internet Layer.</a:t>
            </a:r>
          </a:p>
          <a:p>
            <a:r>
              <a:rPr lang="en-IN" dirty="0"/>
              <a:t>It is a connectionless communication protocol of the Internet Layer.</a:t>
            </a:r>
          </a:p>
          <a:p>
            <a:r>
              <a:rPr lang="en-IN" dirty="0"/>
              <a:t>It is an unreliable protocol – because does not guarantee delivery of information.</a:t>
            </a:r>
          </a:p>
          <a:p>
            <a:r>
              <a:rPr lang="en-IN" dirty="0"/>
              <a:t>It is a best effort delivery protocol.</a:t>
            </a:r>
          </a:p>
          <a:p>
            <a:r>
              <a:rPr lang="en-IN" dirty="0"/>
              <a:t>It support error checking &amp; discarding</a:t>
            </a:r>
          </a:p>
          <a:p>
            <a:r>
              <a:rPr lang="en-IN" dirty="0"/>
              <a:t>Does not support acknowledgements/handshaking </a:t>
            </a:r>
          </a:p>
          <a:p>
            <a:r>
              <a:rPr lang="en-IN" dirty="0"/>
              <a:t>Does not support retransmission</a:t>
            </a:r>
          </a:p>
          <a:p>
            <a:r>
              <a:rPr lang="en-IN" dirty="0"/>
              <a:t>Acks/handshaking &amp; retransmission are responsibility of high level protocols such as </a:t>
            </a:r>
            <a:r>
              <a:rPr lang="en-IN" dirty="0" err="1"/>
              <a:t>TCP,etc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6032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F4137C-57F4-4C48-8D0E-FA2918FF4456}" type="slidenum">
              <a:rPr lang="en-US"/>
              <a:pPr/>
              <a:t>3</a:t>
            </a:fld>
            <a:endParaRPr lang="en-US"/>
          </a:p>
        </p:txBody>
      </p:sp>
      <p:sp>
        <p:nvSpPr>
          <p:cNvPr id="47821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</a:t>
            </a:r>
            <a:r>
              <a:rPr lang="en-US" altLang="en-US" i="1" dirty="0">
                <a:latin typeface="Times New Roman" pitchFamily="18" charset="0"/>
              </a:rPr>
              <a:t>Position of IP in TCP/IP protocol suite</a:t>
            </a:r>
          </a:p>
        </p:txBody>
      </p:sp>
      <p:sp>
        <p:nvSpPr>
          <p:cNvPr id="47821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7821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7821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7821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7821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7821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7821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78220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6600" y="914400"/>
            <a:ext cx="7239000" cy="536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0EB5-5F3F-48F9-920E-37929C3F68BB}" type="slidenum">
              <a:rPr lang="en-US"/>
              <a:pPr/>
              <a:t>4</a:t>
            </a:fld>
            <a:endParaRPr lang="en-US"/>
          </a:p>
        </p:txBody>
      </p:sp>
      <p:sp>
        <p:nvSpPr>
          <p:cNvPr id="479234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                        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 dirty="0">
                <a:latin typeface="Times New Roman" pitchFamily="18" charset="0"/>
              </a:rPr>
              <a:t>IP datagram/Packet</a:t>
            </a:r>
          </a:p>
        </p:txBody>
      </p:sp>
      <p:sp>
        <p:nvSpPr>
          <p:cNvPr id="47923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7923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7923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7923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7923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7924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7924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7138" y="1075294"/>
            <a:ext cx="8458199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4A16F8-E0D1-4829-9676-F812DE22134C}" type="slidenum">
              <a:rPr lang="en-US"/>
              <a:pPr/>
              <a:t>5</a:t>
            </a:fld>
            <a:endParaRPr lang="en-US"/>
          </a:p>
        </p:txBody>
      </p:sp>
      <p:sp>
        <p:nvSpPr>
          <p:cNvPr id="480258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itchFamily="18" charset="0"/>
              </a:rPr>
              <a:t>Figure 8.3</a:t>
            </a:r>
            <a:r>
              <a:rPr lang="en-US" altLang="en-US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>
                <a:latin typeface="Times New Roman" pitchFamily="18" charset="0"/>
              </a:rPr>
              <a:t>Service type or differentiated services</a:t>
            </a:r>
          </a:p>
        </p:txBody>
      </p:sp>
      <p:sp>
        <p:nvSpPr>
          <p:cNvPr id="48025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026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026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026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026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026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026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80266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8393" y="1600200"/>
            <a:ext cx="6907213" cy="449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FBA76-1EC1-44E0-86EF-0BB07CB97E7F}" type="slidenum">
              <a:rPr lang="en-US"/>
              <a:pPr/>
              <a:t>6</a:t>
            </a:fld>
            <a:endParaRPr lang="en-US"/>
          </a:p>
        </p:txBody>
      </p:sp>
      <p:sp>
        <p:nvSpPr>
          <p:cNvPr id="513027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35815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400" i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Table </a:t>
            </a:r>
            <a:r>
              <a:rPr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Values for </a:t>
            </a:r>
            <a:r>
              <a:rPr lang="en-US" sz="24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codepoints</a:t>
            </a:r>
            <a:endParaRPr lang="en-US" sz="2400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513065" name="Picture 4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09600"/>
            <a:ext cx="5638799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962400"/>
            <a:ext cx="8305799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304800" y="3276600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</a:t>
            </a:r>
            <a:r>
              <a:rPr lang="en-US" altLang="en-US" i="1" dirty="0">
                <a:latin typeface="Times New Roman" pitchFamily="18" charset="0"/>
              </a:rPr>
              <a:t>Multiplexing</a:t>
            </a:r>
          </a:p>
        </p:txBody>
      </p:sp>
      <p:pic>
        <p:nvPicPr>
          <p:cNvPr id="9" name="Picture 4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90006" y="609600"/>
            <a:ext cx="3115869" cy="316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F7D83E-4984-4D8F-9AEA-64C88F411851}" type="slidenum">
              <a:rPr lang="en-US"/>
              <a:pPr/>
              <a:t>7</a:t>
            </a:fld>
            <a:endParaRPr 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304800"/>
            <a:ext cx="9144000" cy="6096000"/>
            <a:chOff x="0" y="96"/>
            <a:chExt cx="5472" cy="3840"/>
          </a:xfrm>
        </p:grpSpPr>
        <p:sp>
          <p:nvSpPr>
            <p:cNvPr id="474115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4116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G4 w 1000"/>
                <a:gd name="T3" fmla="*/ G1 h 1000"/>
              </a:gdLst>
              <a:ahLst/>
              <a:cxnLst>
                <a:cxn ang="0">
                  <a:pos x="0" y="0"/>
                </a:cxn>
                <a:cxn ang="0">
                  <a:pos x="6169" y="0"/>
                </a:cxn>
                <a:cxn ang="0">
                  <a:pos x="6670" y="500"/>
                </a:cxn>
                <a:cxn ang="0">
                  <a:pos x="6170" y="1000"/>
                </a:cxn>
                <a:cxn ang="0">
                  <a:pos x="0" y="1000"/>
                </a:cxn>
              </a:cxnLst>
              <a:rect l="T0" t="T1" r="T2" b="T3"/>
              <a:pathLst>
                <a:path w="7000" h="1000">
                  <a:moveTo>
                    <a:pt x="0" y="0"/>
                  </a:moveTo>
                  <a:lnTo>
                    <a:pt x="6169" y="0"/>
                  </a:lnTo>
                  <a:cubicBezTo>
                    <a:pt x="6446" y="0"/>
                    <a:pt x="6670" y="223"/>
                    <a:pt x="6670" y="500"/>
                  </a:cubicBezTo>
                  <a:cubicBezTo>
                    <a:pt x="6670" y="776"/>
                    <a:pt x="6446" y="999"/>
                    <a:pt x="6170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4117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4118" name="Text Box 6"/>
          <p:cNvSpPr txBox="1">
            <a:spLocks noChangeArrowheads="1"/>
          </p:cNvSpPr>
          <p:nvPr/>
        </p:nvSpPr>
        <p:spPr bwMode="auto">
          <a:xfrm>
            <a:off x="228600" y="354013"/>
            <a:ext cx="437376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charset="0"/>
              </a:rPr>
              <a:t> FRAGMENTATION</a:t>
            </a:r>
          </a:p>
        </p:txBody>
      </p:sp>
      <p:sp>
        <p:nvSpPr>
          <p:cNvPr id="474119" name="Rectangle 7"/>
          <p:cNvSpPr>
            <a:spLocks noChangeArrowheads="1"/>
          </p:cNvSpPr>
          <p:nvPr/>
        </p:nvSpPr>
        <p:spPr bwMode="auto">
          <a:xfrm>
            <a:off x="533400" y="1828800"/>
            <a:ext cx="78486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The format and size of a  frame depend on the protocol used by the physical network. A datagram may have to be fragmented to fit the protocol regulations. </a:t>
            </a:r>
          </a:p>
        </p:txBody>
      </p:sp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429000"/>
            <a:ext cx="8418512" cy="183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9B5AFC-0011-4F9D-ADB7-CC3B2A7F27B3}" type="slidenum">
              <a:rPr lang="en-US"/>
              <a:pPr/>
              <a:t>8</a:t>
            </a:fld>
            <a:endParaRPr lang="en-US"/>
          </a:p>
        </p:txBody>
      </p:sp>
      <p:sp>
        <p:nvSpPr>
          <p:cNvPr id="515075" name="Text Box 3"/>
          <p:cNvSpPr txBox="1">
            <a:spLocks noChangeArrowheads="1"/>
          </p:cNvSpPr>
          <p:nvPr/>
        </p:nvSpPr>
        <p:spPr bwMode="auto">
          <a:xfrm>
            <a:off x="2211388" y="1066800"/>
            <a:ext cx="41927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400" i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Table   </a:t>
            </a:r>
            <a:r>
              <a:rPr 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MTUs for some networks</a:t>
            </a:r>
          </a:p>
        </p:txBody>
      </p:sp>
      <p:pic>
        <p:nvPicPr>
          <p:cNvPr id="515151" name="Picture 7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6600" y="1447800"/>
            <a:ext cx="5384800" cy="419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7E2FC6-80C3-4D07-B9D6-8060BA51D0A3}" type="slidenum">
              <a:rPr lang="en-US"/>
              <a:pPr/>
              <a:t>9</a:t>
            </a:fld>
            <a:endParaRPr lang="en-US"/>
          </a:p>
        </p:txBody>
      </p:sp>
      <p:sp>
        <p:nvSpPr>
          <p:cNvPr id="484354" name="Text Box 2"/>
          <p:cNvSpPr txBox="1">
            <a:spLocks noChangeArrowheads="1"/>
          </p:cNvSpPr>
          <p:nvPr/>
        </p:nvSpPr>
        <p:spPr bwMode="auto">
          <a:xfrm>
            <a:off x="1600200" y="90488"/>
            <a:ext cx="5105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 dirty="0">
                <a:latin typeface="Times New Roman" pitchFamily="18" charset="0"/>
              </a:rPr>
              <a:t>Flags field</a:t>
            </a:r>
          </a:p>
        </p:txBody>
      </p:sp>
      <p:sp>
        <p:nvSpPr>
          <p:cNvPr id="48435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435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435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435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435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436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436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8436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762000"/>
            <a:ext cx="2420937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048000"/>
            <a:ext cx="7916862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609600" y="2514600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 dirty="0">
                <a:latin typeface="Times New Roman" pitchFamily="18" charset="0"/>
              </a:rPr>
              <a:t>Fragmentation example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1ABFF8-852B-47EF-AD9A-40A6219C16EA}" type="slidenum">
              <a:rPr lang="en-US"/>
              <a:pPr/>
              <a:t>10</a:t>
            </a:fld>
            <a:endParaRPr lang="en-US"/>
          </a:p>
        </p:txBody>
      </p:sp>
      <p:sp>
        <p:nvSpPr>
          <p:cNvPr id="486402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</a:t>
            </a:r>
            <a:r>
              <a:rPr lang="en-US" altLang="en-US" i="1" dirty="0">
                <a:latin typeface="Times New Roman" pitchFamily="18" charset="0"/>
              </a:rPr>
              <a:t>Detailed fragmentation example</a:t>
            </a:r>
          </a:p>
        </p:txBody>
      </p:sp>
      <p:sp>
        <p:nvSpPr>
          <p:cNvPr id="48640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4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5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6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7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8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640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8641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3088" y="1066800"/>
            <a:ext cx="7732712" cy="537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5963BB-731A-48FD-AC43-78FD3624ED1F}" type="slidenum">
              <a:rPr lang="en-US"/>
              <a:pPr/>
              <a:t>11</a:t>
            </a:fld>
            <a:endParaRPr 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152400"/>
            <a:ext cx="8991600" cy="6248400"/>
            <a:chOff x="0" y="96"/>
            <a:chExt cx="5472" cy="3840"/>
          </a:xfrm>
        </p:grpSpPr>
        <p:sp>
          <p:nvSpPr>
            <p:cNvPr id="475139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5140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G4 w 1000"/>
                <a:gd name="T3" fmla="*/ G1 h 1000"/>
              </a:gdLst>
              <a:ahLst/>
              <a:cxnLst>
                <a:cxn ang="0">
                  <a:pos x="0" y="0"/>
                </a:cxn>
                <a:cxn ang="0">
                  <a:pos x="6169" y="0"/>
                </a:cxn>
                <a:cxn ang="0">
                  <a:pos x="6670" y="500"/>
                </a:cxn>
                <a:cxn ang="0">
                  <a:pos x="6170" y="1000"/>
                </a:cxn>
                <a:cxn ang="0">
                  <a:pos x="0" y="1000"/>
                </a:cxn>
              </a:cxnLst>
              <a:rect l="T0" t="T1" r="T2" b="T3"/>
              <a:pathLst>
                <a:path w="7000" h="1000">
                  <a:moveTo>
                    <a:pt x="0" y="0"/>
                  </a:moveTo>
                  <a:lnTo>
                    <a:pt x="6169" y="0"/>
                  </a:lnTo>
                  <a:cubicBezTo>
                    <a:pt x="6446" y="0"/>
                    <a:pt x="6670" y="223"/>
                    <a:pt x="6670" y="500"/>
                  </a:cubicBezTo>
                  <a:cubicBezTo>
                    <a:pt x="6670" y="776"/>
                    <a:pt x="6446" y="999"/>
                    <a:pt x="6170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5141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5142" name="Text Box 6"/>
          <p:cNvSpPr txBox="1">
            <a:spLocks noChangeArrowheads="1"/>
          </p:cNvSpPr>
          <p:nvPr/>
        </p:nvSpPr>
        <p:spPr bwMode="auto">
          <a:xfrm>
            <a:off x="228600" y="354013"/>
            <a:ext cx="239039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charset="0"/>
              </a:rPr>
              <a:t> OPTIONS</a:t>
            </a:r>
          </a:p>
        </p:txBody>
      </p:sp>
      <p:sp>
        <p:nvSpPr>
          <p:cNvPr id="475143" name="Rectangle 7"/>
          <p:cNvSpPr>
            <a:spLocks noChangeArrowheads="1"/>
          </p:cNvSpPr>
          <p:nvPr/>
        </p:nvSpPr>
        <p:spPr bwMode="auto">
          <a:xfrm>
            <a:off x="533400" y="1371600"/>
            <a:ext cx="78486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The header of the IP datagram is made of two parts: a fixed part and a variable part.  The variable part comprises the options that can be a maximum of 40 bytes.</a:t>
            </a:r>
          </a:p>
        </p:txBody>
      </p:sp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895600"/>
            <a:ext cx="8255000" cy="350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57200" y="2438400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</a:t>
            </a:r>
            <a:r>
              <a:rPr lang="en-US" altLang="en-US" i="1" dirty="0">
                <a:latin typeface="Times New Roman" pitchFamily="18" charset="0"/>
              </a:rPr>
              <a:t>Option format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59AFEE-B149-4A23-935E-9C40AC7C6812}" type="slidenum">
              <a:rPr lang="en-US"/>
              <a:pPr/>
              <a:t>12</a:t>
            </a:fld>
            <a:endParaRPr lang="en-US"/>
          </a:p>
        </p:txBody>
      </p:sp>
      <p:sp>
        <p:nvSpPr>
          <p:cNvPr id="48845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altLang="en-US" i="1" dirty="0">
                <a:latin typeface="Times New Roman" pitchFamily="18" charset="0"/>
              </a:rPr>
              <a:t>Categories of options</a:t>
            </a:r>
          </a:p>
        </p:txBody>
      </p:sp>
      <p:sp>
        <p:nvSpPr>
          <p:cNvPr id="48845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845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845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845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845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845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8845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8845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4677" y="391550"/>
            <a:ext cx="7769225" cy="258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505200"/>
            <a:ext cx="7751762" cy="284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304800" y="3048000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altLang="en-US" i="1" dirty="0">
                <a:latin typeface="Times New Roman" pitchFamily="18" charset="0"/>
              </a:rPr>
              <a:t>No operation option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F1FEA5-F4AC-44CC-BB76-11C225C660C0}" type="slidenum">
              <a:rPr lang="en-US"/>
              <a:pPr/>
              <a:t>13</a:t>
            </a:fld>
            <a:endParaRPr lang="en-US"/>
          </a:p>
        </p:txBody>
      </p:sp>
      <p:sp>
        <p:nvSpPr>
          <p:cNvPr id="490498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</a:t>
            </a:r>
            <a:r>
              <a:rPr lang="en-US" altLang="en-US" i="1" dirty="0">
                <a:latin typeface="Times New Roman" pitchFamily="18" charset="0"/>
              </a:rPr>
              <a:t>End of option </a:t>
            </a:r>
            <a:r>
              <a:rPr lang="en-US" altLang="en-US" i="1" dirty="0" err="1">
                <a:latin typeface="Times New Roman" pitchFamily="18" charset="0"/>
              </a:rPr>
              <a:t>option</a:t>
            </a:r>
            <a:endParaRPr lang="en-US" altLang="en-US" i="1" dirty="0">
              <a:latin typeface="Times New Roman" pitchFamily="18" charset="0"/>
            </a:endParaRPr>
          </a:p>
        </p:txBody>
      </p:sp>
      <p:sp>
        <p:nvSpPr>
          <p:cNvPr id="49049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050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050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050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050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050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050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0506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685801"/>
            <a:ext cx="78708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81000" y="2971800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altLang="en-US" i="1" dirty="0">
                <a:latin typeface="Times New Roman" pitchFamily="18" charset="0"/>
              </a:rPr>
              <a:t>Record route option</a:t>
            </a:r>
          </a:p>
        </p:txBody>
      </p:sp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3429000"/>
            <a:ext cx="7367587" cy="312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744473-6553-4576-9E9D-BE98684D646B}" type="slidenum">
              <a:rPr lang="en-US"/>
              <a:pPr/>
              <a:t>14</a:t>
            </a:fld>
            <a:endParaRPr lang="en-US"/>
          </a:p>
        </p:txBody>
      </p:sp>
      <p:sp>
        <p:nvSpPr>
          <p:cNvPr id="492546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 dirty="0">
                <a:latin typeface="Times New Roman" pitchFamily="18" charset="0"/>
              </a:rPr>
              <a:t>Record route concept</a:t>
            </a:r>
          </a:p>
        </p:txBody>
      </p:sp>
      <p:sp>
        <p:nvSpPr>
          <p:cNvPr id="49254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2548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2549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2550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2551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2552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255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2554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533400"/>
            <a:ext cx="8739188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28600" y="3276600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 dirty="0">
                <a:latin typeface="Times New Roman" pitchFamily="18" charset="0"/>
              </a:rPr>
              <a:t>Strict source route option</a:t>
            </a:r>
          </a:p>
        </p:txBody>
      </p:sp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624262"/>
            <a:ext cx="8229600" cy="270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0ABF78-B2F1-4B14-AAA4-189C534F715C}" type="slidenum">
              <a:rPr lang="en-US"/>
              <a:pPr/>
              <a:t>15</a:t>
            </a:fld>
            <a:endParaRPr lang="en-US"/>
          </a:p>
        </p:txBody>
      </p:sp>
      <p:sp>
        <p:nvSpPr>
          <p:cNvPr id="494594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</a:t>
            </a:r>
            <a:r>
              <a:rPr lang="en-US" altLang="en-US" i="1" dirty="0">
                <a:latin typeface="Times New Roman" pitchFamily="18" charset="0"/>
              </a:rPr>
              <a:t>Strict source route concept</a:t>
            </a:r>
          </a:p>
        </p:txBody>
      </p:sp>
      <p:sp>
        <p:nvSpPr>
          <p:cNvPr id="49459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59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59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59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59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60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60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460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938" y="1778000"/>
            <a:ext cx="8729662" cy="333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614A1A-99B9-43E8-BD72-CA6A4F91324E}" type="slidenum">
              <a:rPr lang="en-US"/>
              <a:pPr/>
              <a:t>16</a:t>
            </a:fld>
            <a:endParaRPr lang="en-US"/>
          </a:p>
        </p:txBody>
      </p:sp>
      <p:sp>
        <p:nvSpPr>
          <p:cNvPr id="495618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 dirty="0">
                <a:latin typeface="Times New Roman" pitchFamily="18" charset="0"/>
              </a:rPr>
              <a:t>Loose source route option</a:t>
            </a:r>
          </a:p>
        </p:txBody>
      </p:sp>
      <p:sp>
        <p:nvSpPr>
          <p:cNvPr id="49561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5626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8213" y="1833563"/>
            <a:ext cx="7367587" cy="311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A50435-24A3-43AE-B34F-71DB3482177D}" type="slidenum">
              <a:rPr lang="en-US"/>
              <a:pPr/>
              <a:t>17</a:t>
            </a:fld>
            <a:endParaRPr lang="en-US"/>
          </a:p>
        </p:txBody>
      </p:sp>
      <p:sp>
        <p:nvSpPr>
          <p:cNvPr id="496642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 dirty="0">
                <a:latin typeface="Times New Roman" pitchFamily="18" charset="0"/>
              </a:rPr>
              <a:t>Timestamp option</a:t>
            </a:r>
          </a:p>
        </p:txBody>
      </p:sp>
      <p:sp>
        <p:nvSpPr>
          <p:cNvPr id="49664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4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5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6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7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8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665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16025"/>
            <a:ext cx="7138988" cy="495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67DFD9-E4C5-4EC3-9163-C3736B5B2B9D}" type="slidenum">
              <a:rPr lang="en-US"/>
              <a:pPr/>
              <a:t>18</a:t>
            </a:fld>
            <a:endParaRPr lang="en-US"/>
          </a:p>
        </p:txBody>
      </p:sp>
      <p:sp>
        <p:nvSpPr>
          <p:cNvPr id="497666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 dirty="0">
                <a:latin typeface="Times New Roman" pitchFamily="18" charset="0"/>
              </a:rPr>
              <a:t>Use of flag in timestamp</a:t>
            </a:r>
          </a:p>
        </p:txBody>
      </p:sp>
      <p:sp>
        <p:nvSpPr>
          <p:cNvPr id="49766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68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69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70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71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72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7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7674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5" y="2290763"/>
            <a:ext cx="8391525" cy="266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67C5F4-EB97-46D5-8A54-BAF101D01F11}" type="slidenum">
              <a:rPr lang="en-US"/>
              <a:pPr/>
              <a:t>19</a:t>
            </a:fld>
            <a:endParaRPr lang="en-US"/>
          </a:p>
        </p:txBody>
      </p:sp>
      <p:sp>
        <p:nvSpPr>
          <p:cNvPr id="49869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 dirty="0">
                <a:latin typeface="Times New Roman" pitchFamily="18" charset="0"/>
              </a:rPr>
              <a:t>Timestamp concept</a:t>
            </a:r>
          </a:p>
        </p:txBody>
      </p:sp>
      <p:sp>
        <p:nvSpPr>
          <p:cNvPr id="49869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869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869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869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869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869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869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8699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213" y="1635125"/>
            <a:ext cx="8739187" cy="423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7074E7-9386-47F0-AFD9-628776D2CE28}" type="slidenum">
              <a:rPr lang="en-US"/>
              <a:pPr/>
              <a:t>20</a:t>
            </a:fld>
            <a:endParaRPr lang="en-US"/>
          </a:p>
        </p:txBody>
      </p:sp>
      <p:sp>
        <p:nvSpPr>
          <p:cNvPr id="543746" name="Rectangle 2"/>
          <p:cNvSpPr>
            <a:spLocks noChangeArrowheads="1"/>
          </p:cNvSpPr>
          <p:nvPr/>
        </p:nvSpPr>
        <p:spPr bwMode="auto">
          <a:xfrm>
            <a:off x="392113" y="1295400"/>
            <a:ext cx="815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i="1">
                <a:latin typeface="Times New Roman" pitchFamily="18" charset="0"/>
              </a:rPr>
              <a:t>Which of the six options must be copied to each fragment?</a:t>
            </a:r>
          </a:p>
        </p:txBody>
      </p:sp>
      <p:sp>
        <p:nvSpPr>
          <p:cNvPr id="543747" name="Text Box 3"/>
          <p:cNvSpPr txBox="1">
            <a:spLocks noChangeArrowheads="1"/>
          </p:cNvSpPr>
          <p:nvPr/>
        </p:nvSpPr>
        <p:spPr bwMode="auto">
          <a:xfrm>
            <a:off x="1143000" y="381000"/>
            <a:ext cx="2209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2400" i="1">
                <a:solidFill>
                  <a:schemeClr val="folHlink"/>
                </a:solidFill>
                <a:latin typeface="Algerian" pitchFamily="82" charset="0"/>
              </a:rPr>
              <a:t>Example</a:t>
            </a:r>
            <a:r>
              <a:rPr lang="en-US" altLang="en-US" sz="2800" i="1">
                <a:solidFill>
                  <a:schemeClr val="folHlink"/>
                </a:solidFill>
                <a:latin typeface="Algerian" pitchFamily="82" charset="0"/>
              </a:rPr>
              <a:t> 10</a:t>
            </a:r>
          </a:p>
        </p:txBody>
      </p:sp>
      <p:sp>
        <p:nvSpPr>
          <p:cNvPr id="543748" name="Rectangle 4"/>
          <p:cNvSpPr>
            <a:spLocks noChangeArrowheads="1"/>
          </p:cNvSpPr>
          <p:nvPr/>
        </p:nvSpPr>
        <p:spPr bwMode="auto">
          <a:xfrm>
            <a:off x="457200" y="15240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750" name="Rectangle 6"/>
          <p:cNvSpPr>
            <a:spLocks noChangeArrowheads="1"/>
          </p:cNvSpPr>
          <p:nvPr/>
        </p:nvSpPr>
        <p:spPr bwMode="auto">
          <a:xfrm>
            <a:off x="381000" y="1981200"/>
            <a:ext cx="8153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Solution</a:t>
            </a:r>
            <a:br>
              <a:rPr lang="en-US" sz="2400" i="1">
                <a:latin typeface="Times New Roman" pitchFamily="18" charset="0"/>
              </a:rPr>
            </a:br>
            <a:r>
              <a:rPr lang="en-US" sz="2400" i="1">
                <a:latin typeface="Times New Roman" pitchFamily="18" charset="0"/>
              </a:rPr>
              <a:t>We look at the first (left-most) bit of the code for each option.</a:t>
            </a:r>
          </a:p>
        </p:txBody>
      </p:sp>
      <p:sp>
        <p:nvSpPr>
          <p:cNvPr id="543751" name="Rectangle 7"/>
          <p:cNvSpPr>
            <a:spLocks noChangeArrowheads="1"/>
          </p:cNvSpPr>
          <p:nvPr/>
        </p:nvSpPr>
        <p:spPr bwMode="auto">
          <a:xfrm>
            <a:off x="990600" y="3051175"/>
            <a:ext cx="7162800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a</a:t>
            </a:r>
            <a:r>
              <a:rPr lang="en-US" sz="2400" i="1">
                <a:latin typeface="Times New Roman" pitchFamily="18" charset="0"/>
              </a:rPr>
              <a:t>. No operation: Code is 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0</a:t>
            </a:r>
            <a:r>
              <a:rPr lang="en-US" sz="2400" i="1">
                <a:latin typeface="Times New Roman" pitchFamily="18" charset="0"/>
              </a:rPr>
              <a:t>0000001;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not copied</a:t>
            </a:r>
            <a:r>
              <a:rPr lang="en-US" sz="2400" i="1">
                <a:latin typeface="Times New Roman" pitchFamily="18" charset="0"/>
              </a:rPr>
              <a:t>.</a:t>
            </a:r>
            <a:br>
              <a:rPr lang="en-US" sz="2400" i="1">
                <a:latin typeface="Times New Roman" pitchFamily="18" charset="0"/>
              </a:rPr>
            </a:b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b</a:t>
            </a:r>
            <a:r>
              <a:rPr lang="en-US" sz="2400" i="1">
                <a:latin typeface="Times New Roman" pitchFamily="18" charset="0"/>
              </a:rPr>
              <a:t>. End of option: Code is 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0</a:t>
            </a:r>
            <a:r>
              <a:rPr lang="en-US" sz="2400" i="1">
                <a:latin typeface="Times New Roman" pitchFamily="18" charset="0"/>
              </a:rPr>
              <a:t>0000000;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not copied</a:t>
            </a:r>
            <a:r>
              <a:rPr lang="en-US" sz="2400" i="1">
                <a:latin typeface="Times New Roman" pitchFamily="18" charset="0"/>
              </a:rPr>
              <a:t>.</a:t>
            </a:r>
            <a:br>
              <a:rPr lang="en-US" sz="2400" i="1">
                <a:latin typeface="Times New Roman" pitchFamily="18" charset="0"/>
              </a:rPr>
            </a:b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c</a:t>
            </a:r>
            <a:r>
              <a:rPr lang="en-US" sz="2400" i="1">
                <a:latin typeface="Times New Roman" pitchFamily="18" charset="0"/>
              </a:rPr>
              <a:t>. Record route: Code is 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0</a:t>
            </a:r>
            <a:r>
              <a:rPr lang="en-US" sz="2400" i="1">
                <a:latin typeface="Times New Roman" pitchFamily="18" charset="0"/>
              </a:rPr>
              <a:t>0000111;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not copied</a:t>
            </a:r>
            <a:r>
              <a:rPr lang="en-US" sz="2400" i="1">
                <a:latin typeface="Times New Roman" pitchFamily="18" charset="0"/>
              </a:rPr>
              <a:t>.</a:t>
            </a:r>
            <a:br>
              <a:rPr lang="en-US" sz="2400" i="1">
                <a:latin typeface="Times New Roman" pitchFamily="18" charset="0"/>
              </a:rPr>
            </a:b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d</a:t>
            </a:r>
            <a:r>
              <a:rPr lang="en-US" sz="2400" i="1">
                <a:latin typeface="Times New Roman" pitchFamily="18" charset="0"/>
              </a:rPr>
              <a:t>. Strict source route: Code is 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1</a:t>
            </a:r>
            <a:r>
              <a:rPr lang="en-US" sz="2400" i="1">
                <a:latin typeface="Times New Roman" pitchFamily="18" charset="0"/>
              </a:rPr>
              <a:t>0001001;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copied</a:t>
            </a:r>
            <a:r>
              <a:rPr lang="en-US" sz="2400" i="1">
                <a:latin typeface="Times New Roman" pitchFamily="18" charset="0"/>
              </a:rPr>
              <a:t>.</a:t>
            </a:r>
            <a:br>
              <a:rPr lang="en-US" sz="2400" i="1">
                <a:latin typeface="Times New Roman" pitchFamily="18" charset="0"/>
              </a:rPr>
            </a:b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e</a:t>
            </a:r>
            <a:r>
              <a:rPr lang="en-US" sz="2400" i="1">
                <a:latin typeface="Times New Roman" pitchFamily="18" charset="0"/>
              </a:rPr>
              <a:t>. Loose source route: Code is 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1</a:t>
            </a:r>
            <a:r>
              <a:rPr lang="en-US" sz="2400" i="1">
                <a:latin typeface="Times New Roman" pitchFamily="18" charset="0"/>
              </a:rPr>
              <a:t>0000011;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copied</a:t>
            </a:r>
            <a:r>
              <a:rPr lang="en-US" sz="2400" i="1">
                <a:latin typeface="Times New Roman" pitchFamily="18" charset="0"/>
              </a:rPr>
              <a:t>.</a:t>
            </a:r>
            <a:br>
              <a:rPr lang="en-US" sz="2400" i="1">
                <a:latin typeface="Times New Roman" pitchFamily="18" charset="0"/>
              </a:rPr>
            </a:b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f</a:t>
            </a:r>
            <a:r>
              <a:rPr lang="en-US" sz="2400" i="1">
                <a:latin typeface="Times New Roman" pitchFamily="18" charset="0"/>
              </a:rPr>
              <a:t>. Timestamp: Code is 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0</a:t>
            </a:r>
            <a:r>
              <a:rPr lang="en-US" sz="2400" i="1">
                <a:latin typeface="Times New Roman" pitchFamily="18" charset="0"/>
              </a:rPr>
              <a:t>1000100;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not copied</a:t>
            </a:r>
            <a:r>
              <a:rPr lang="en-US" sz="2400" i="1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F3984-10EF-4312-BD62-2978371537E5}" type="slidenum">
              <a:rPr lang="en-US"/>
              <a:pPr/>
              <a:t>21</a:t>
            </a:fld>
            <a:endParaRPr lang="en-US"/>
          </a:p>
        </p:txBody>
      </p:sp>
      <p:sp>
        <p:nvSpPr>
          <p:cNvPr id="552962" name="Rectangle 2"/>
          <p:cNvSpPr>
            <a:spLocks noChangeArrowheads="1"/>
          </p:cNvSpPr>
          <p:nvPr/>
        </p:nvSpPr>
        <p:spPr bwMode="auto">
          <a:xfrm>
            <a:off x="392113" y="1295400"/>
            <a:ext cx="8153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i="1">
                <a:latin typeface="Times New Roman" pitchFamily="18" charset="0"/>
              </a:rPr>
              <a:t>Which of the six options are used for datagram control and which are used for debugging and management?</a:t>
            </a:r>
          </a:p>
        </p:txBody>
      </p:sp>
      <p:sp>
        <p:nvSpPr>
          <p:cNvPr id="552963" name="Text Box 3"/>
          <p:cNvSpPr txBox="1">
            <a:spLocks noChangeArrowheads="1"/>
          </p:cNvSpPr>
          <p:nvPr/>
        </p:nvSpPr>
        <p:spPr bwMode="auto">
          <a:xfrm>
            <a:off x="1143000" y="381000"/>
            <a:ext cx="2209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2400" i="1" dirty="0">
                <a:solidFill>
                  <a:schemeClr val="folHlink"/>
                </a:solidFill>
                <a:latin typeface="Algerian" pitchFamily="82" charset="0"/>
              </a:rPr>
              <a:t>Example</a:t>
            </a:r>
            <a:r>
              <a:rPr lang="en-US" altLang="en-US" sz="2800" i="1" dirty="0">
                <a:solidFill>
                  <a:schemeClr val="folHlink"/>
                </a:solidFill>
                <a:latin typeface="Algerian" pitchFamily="82" charset="0"/>
              </a:rPr>
              <a:t> </a:t>
            </a:r>
          </a:p>
        </p:txBody>
      </p:sp>
      <p:sp>
        <p:nvSpPr>
          <p:cNvPr id="552964" name="Rectangle 4"/>
          <p:cNvSpPr>
            <a:spLocks noChangeArrowheads="1"/>
          </p:cNvSpPr>
          <p:nvPr/>
        </p:nvSpPr>
        <p:spPr bwMode="auto">
          <a:xfrm>
            <a:off x="457200" y="15240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65" name="Rectangle 5"/>
          <p:cNvSpPr>
            <a:spLocks noChangeArrowheads="1"/>
          </p:cNvSpPr>
          <p:nvPr/>
        </p:nvSpPr>
        <p:spPr bwMode="auto">
          <a:xfrm>
            <a:off x="381000" y="2438400"/>
            <a:ext cx="8153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Solution</a:t>
            </a:r>
            <a:b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</a:br>
            <a:r>
              <a:rPr lang="en-US" sz="2400" i="1">
                <a:latin typeface="Times New Roman" pitchFamily="18" charset="0"/>
              </a:rPr>
              <a:t>We look at the second and third (left-most) bits of the code.</a:t>
            </a:r>
          </a:p>
        </p:txBody>
      </p:sp>
      <p:sp>
        <p:nvSpPr>
          <p:cNvPr id="552966" name="Rectangle 6"/>
          <p:cNvSpPr>
            <a:spLocks noChangeArrowheads="1"/>
          </p:cNvSpPr>
          <p:nvPr/>
        </p:nvSpPr>
        <p:spPr bwMode="auto">
          <a:xfrm>
            <a:off x="533400" y="3429000"/>
            <a:ext cx="82296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a</a:t>
            </a:r>
            <a:r>
              <a:rPr lang="en-US" sz="2400" i="1">
                <a:latin typeface="Times New Roman" pitchFamily="18" charset="0"/>
              </a:rPr>
              <a:t>. No operation: Code is 0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00</a:t>
            </a:r>
            <a:r>
              <a:rPr lang="en-US" sz="2400" i="1">
                <a:latin typeface="Times New Roman" pitchFamily="18" charset="0"/>
              </a:rPr>
              <a:t>00001;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datagram control</a:t>
            </a:r>
            <a:r>
              <a:rPr lang="en-US" sz="2400" i="1">
                <a:latin typeface="Times New Roman" pitchFamily="18" charset="0"/>
              </a:rPr>
              <a:t>.</a:t>
            </a:r>
            <a:br>
              <a:rPr lang="en-US" sz="2400" i="1">
                <a:latin typeface="Times New Roman" pitchFamily="18" charset="0"/>
              </a:rPr>
            </a:b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b</a:t>
            </a:r>
            <a:r>
              <a:rPr lang="en-US" sz="2400" i="1">
                <a:latin typeface="Times New Roman" pitchFamily="18" charset="0"/>
              </a:rPr>
              <a:t>. End of option: Code is 0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00</a:t>
            </a:r>
            <a:r>
              <a:rPr lang="en-US" sz="2400" i="1">
                <a:latin typeface="Times New Roman" pitchFamily="18" charset="0"/>
              </a:rPr>
              <a:t>00000;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datagram control</a:t>
            </a:r>
            <a:r>
              <a:rPr lang="en-US" sz="2400" i="1">
                <a:latin typeface="Times New Roman" pitchFamily="18" charset="0"/>
              </a:rPr>
              <a:t>.</a:t>
            </a:r>
            <a:br>
              <a:rPr lang="en-US" sz="2400" i="1">
                <a:latin typeface="Times New Roman" pitchFamily="18" charset="0"/>
              </a:rPr>
            </a:b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c</a:t>
            </a:r>
            <a:r>
              <a:rPr lang="en-US" sz="2400" i="1">
                <a:latin typeface="Times New Roman" pitchFamily="18" charset="0"/>
              </a:rPr>
              <a:t>. Record route: Code is 0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00</a:t>
            </a:r>
            <a:r>
              <a:rPr lang="en-US" sz="2400" i="1">
                <a:latin typeface="Times New Roman" pitchFamily="18" charset="0"/>
              </a:rPr>
              <a:t>00111;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datagram control</a:t>
            </a:r>
            <a:r>
              <a:rPr lang="en-US" sz="2400" i="1">
                <a:latin typeface="Times New Roman" pitchFamily="18" charset="0"/>
              </a:rPr>
              <a:t>.</a:t>
            </a:r>
            <a:br>
              <a:rPr lang="en-US" sz="2400" i="1">
                <a:latin typeface="Times New Roman" pitchFamily="18" charset="0"/>
              </a:rPr>
            </a:b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d</a:t>
            </a:r>
            <a:r>
              <a:rPr lang="en-US" sz="2400" i="1">
                <a:latin typeface="Times New Roman" pitchFamily="18" charset="0"/>
              </a:rPr>
              <a:t>. Strict source route: Code is 1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00</a:t>
            </a:r>
            <a:r>
              <a:rPr lang="en-US" sz="2400" i="1">
                <a:latin typeface="Times New Roman" pitchFamily="18" charset="0"/>
              </a:rPr>
              <a:t>01001;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datagram control</a:t>
            </a:r>
            <a:r>
              <a:rPr lang="en-US" sz="2400" i="1">
                <a:latin typeface="Times New Roman" pitchFamily="18" charset="0"/>
              </a:rPr>
              <a:t>.</a:t>
            </a:r>
            <a:br>
              <a:rPr lang="en-US" sz="2400" i="1">
                <a:latin typeface="Times New Roman" pitchFamily="18" charset="0"/>
              </a:rPr>
            </a:b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e</a:t>
            </a:r>
            <a:r>
              <a:rPr lang="en-US" sz="2400" i="1">
                <a:latin typeface="Times New Roman" pitchFamily="18" charset="0"/>
              </a:rPr>
              <a:t>. Loose source route: Code is 1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00</a:t>
            </a:r>
            <a:r>
              <a:rPr lang="en-US" sz="2400" i="1">
                <a:latin typeface="Times New Roman" pitchFamily="18" charset="0"/>
              </a:rPr>
              <a:t>00011;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datagram control</a:t>
            </a:r>
            <a:r>
              <a:rPr lang="en-US" sz="2400" i="1">
                <a:latin typeface="Times New Roman" pitchFamily="18" charset="0"/>
              </a:rPr>
              <a:t>.</a:t>
            </a:r>
            <a:br>
              <a:rPr lang="en-US" sz="2400" i="1">
                <a:latin typeface="Times New Roman" pitchFamily="18" charset="0"/>
              </a:rPr>
            </a:b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f</a:t>
            </a:r>
            <a:r>
              <a:rPr lang="en-US" sz="2400" i="1">
                <a:latin typeface="Times New Roman" pitchFamily="18" charset="0"/>
              </a:rPr>
              <a:t>. Time stamp: Code is 0</a:t>
            </a:r>
            <a:r>
              <a:rPr lang="en-US" sz="2400" i="1">
                <a:solidFill>
                  <a:schemeClr val="hlink"/>
                </a:solidFill>
                <a:latin typeface="Times New Roman" pitchFamily="18" charset="0"/>
              </a:rPr>
              <a:t>10</a:t>
            </a:r>
            <a:r>
              <a:rPr lang="en-US" sz="2400" i="1">
                <a:latin typeface="Times New Roman" pitchFamily="18" charset="0"/>
              </a:rPr>
              <a:t>00100; </a:t>
            </a: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debugging and management </a:t>
            </a:r>
            <a:b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</a:br>
            <a:r>
              <a:rPr lang="en-US" sz="2400" i="1">
                <a:solidFill>
                  <a:schemeClr val="folHlink"/>
                </a:solidFill>
                <a:latin typeface="Times New Roman" pitchFamily="18" charset="0"/>
              </a:rPr>
              <a:t>   control</a:t>
            </a:r>
            <a:r>
              <a:rPr lang="en-US" sz="2400" i="1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8AC8B9-8A58-4FF2-A960-873BE5B05A9F}" type="slidenum">
              <a:rPr lang="en-US"/>
              <a:pPr/>
              <a:t>22</a:t>
            </a:fld>
            <a:endParaRPr 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8686800" cy="6400800"/>
            <a:chOff x="0" y="96"/>
            <a:chExt cx="5472" cy="3840"/>
          </a:xfrm>
        </p:grpSpPr>
        <p:sp>
          <p:nvSpPr>
            <p:cNvPr id="476163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6164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G4 w 1000"/>
                <a:gd name="T3" fmla="*/ G1 h 1000"/>
              </a:gdLst>
              <a:ahLst/>
              <a:cxnLst>
                <a:cxn ang="0">
                  <a:pos x="0" y="0"/>
                </a:cxn>
                <a:cxn ang="0">
                  <a:pos x="6169" y="0"/>
                </a:cxn>
                <a:cxn ang="0">
                  <a:pos x="6670" y="500"/>
                </a:cxn>
                <a:cxn ang="0">
                  <a:pos x="6170" y="1000"/>
                </a:cxn>
                <a:cxn ang="0">
                  <a:pos x="0" y="1000"/>
                </a:cxn>
              </a:cxnLst>
              <a:rect l="T0" t="T1" r="T2" b="T3"/>
              <a:pathLst>
                <a:path w="7000" h="1000">
                  <a:moveTo>
                    <a:pt x="0" y="0"/>
                  </a:moveTo>
                  <a:lnTo>
                    <a:pt x="6169" y="0"/>
                  </a:lnTo>
                  <a:cubicBezTo>
                    <a:pt x="6446" y="0"/>
                    <a:pt x="6670" y="223"/>
                    <a:pt x="6670" y="500"/>
                  </a:cubicBezTo>
                  <a:cubicBezTo>
                    <a:pt x="6670" y="776"/>
                    <a:pt x="6446" y="999"/>
                    <a:pt x="6170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6165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6166" name="Text Box 6"/>
          <p:cNvSpPr txBox="1">
            <a:spLocks noChangeArrowheads="1"/>
          </p:cNvSpPr>
          <p:nvPr/>
        </p:nvSpPr>
        <p:spPr bwMode="auto">
          <a:xfrm>
            <a:off x="228600" y="354013"/>
            <a:ext cx="3841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Arial" charset="0"/>
              </a:rPr>
              <a:t>8.4   CHECKSUM</a:t>
            </a:r>
          </a:p>
        </p:txBody>
      </p:sp>
      <p:sp>
        <p:nvSpPr>
          <p:cNvPr id="476167" name="Rectangle 7"/>
          <p:cNvSpPr>
            <a:spLocks noChangeArrowheads="1"/>
          </p:cNvSpPr>
          <p:nvPr/>
        </p:nvSpPr>
        <p:spPr bwMode="auto">
          <a:xfrm>
            <a:off x="533400" y="1371600"/>
            <a:ext cx="78486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The error detection method used by most TCP/IP protocols is called the checksum. The checksum protects against the corruption that may occur during the transmission of a packet. It is redundant information added to the packet.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685800" y="3124200"/>
            <a:ext cx="7467600" cy="283667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sz="2000" i="1" dirty="0">
                <a:latin typeface="Times New Roman" pitchFamily="18" charset="0"/>
              </a:rPr>
              <a:t>To create the checksum the sender does the following:</a:t>
            </a:r>
          </a:p>
          <a:p>
            <a:pPr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sz="2000" i="1" dirty="0">
                <a:solidFill>
                  <a:schemeClr val="hlink"/>
                </a:solidFill>
                <a:latin typeface="Times New Roman" pitchFamily="18" charset="0"/>
              </a:rPr>
              <a:t>❏</a:t>
            </a:r>
            <a:r>
              <a:rPr lang="en-US" sz="2000" i="1" dirty="0">
                <a:latin typeface="Times New Roman" pitchFamily="18" charset="0"/>
              </a:rPr>
              <a:t> The packet is divided into k sections, each of n bits.</a:t>
            </a:r>
            <a:br>
              <a:rPr lang="en-US" sz="2000" i="1" dirty="0">
                <a:latin typeface="Times New Roman" pitchFamily="18" charset="0"/>
              </a:rPr>
            </a:br>
            <a:br>
              <a:rPr lang="en-US" sz="2000" i="1" dirty="0">
                <a:latin typeface="Times New Roman" pitchFamily="18" charset="0"/>
              </a:rPr>
            </a:br>
            <a:r>
              <a:rPr lang="en-US" sz="2000" i="1" dirty="0">
                <a:solidFill>
                  <a:schemeClr val="hlink"/>
                </a:solidFill>
                <a:latin typeface="Times New Roman" pitchFamily="18" charset="0"/>
              </a:rPr>
              <a:t>❏</a:t>
            </a:r>
            <a:r>
              <a:rPr lang="en-US" sz="2000" i="1" dirty="0">
                <a:solidFill>
                  <a:schemeClr val="folHlink"/>
                </a:solidFill>
                <a:latin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</a:rPr>
              <a:t>All sections are added together using 1’s  complement</a:t>
            </a:r>
            <a:br>
              <a:rPr lang="en-US" sz="2000" i="1" dirty="0">
                <a:latin typeface="Times New Roman" pitchFamily="18" charset="0"/>
              </a:rPr>
            </a:br>
            <a:r>
              <a:rPr lang="en-US" sz="2000" i="1" dirty="0">
                <a:latin typeface="Times New Roman" pitchFamily="18" charset="0"/>
              </a:rPr>
              <a:t>    arithmetic.</a:t>
            </a:r>
            <a:br>
              <a:rPr lang="en-US" sz="2000" i="1" dirty="0">
                <a:latin typeface="Times New Roman" pitchFamily="18" charset="0"/>
              </a:rPr>
            </a:br>
            <a:br>
              <a:rPr lang="en-US" sz="2000" i="1" dirty="0">
                <a:latin typeface="Times New Roman" pitchFamily="18" charset="0"/>
              </a:rPr>
            </a:br>
            <a:r>
              <a:rPr lang="en-US" sz="2000" i="1" dirty="0">
                <a:solidFill>
                  <a:schemeClr val="hlink"/>
                </a:solidFill>
                <a:latin typeface="Times New Roman" pitchFamily="18" charset="0"/>
              </a:rPr>
              <a:t>❏</a:t>
            </a:r>
            <a:r>
              <a:rPr lang="en-US" sz="2000" i="1" dirty="0">
                <a:latin typeface="Times New Roman" pitchFamily="18" charset="0"/>
              </a:rPr>
              <a:t> The final result is complemented to make the</a:t>
            </a:r>
            <a:br>
              <a:rPr lang="en-US" sz="2000" i="1" dirty="0">
                <a:latin typeface="Times New Roman" pitchFamily="18" charset="0"/>
              </a:rPr>
            </a:br>
            <a:r>
              <a:rPr lang="en-US" sz="2000" i="1" dirty="0">
                <a:latin typeface="Times New Roman" pitchFamily="18" charset="0"/>
              </a:rPr>
              <a:t>     checksum.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3571E1-CB46-48B7-966A-02717B3B7C42}" type="slidenum">
              <a:rPr lang="en-US"/>
              <a:pPr/>
              <a:t>23</a:t>
            </a:fld>
            <a:endParaRPr lang="en-US"/>
          </a:p>
        </p:txBody>
      </p:sp>
      <p:sp>
        <p:nvSpPr>
          <p:cNvPr id="499714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 dirty="0">
                <a:latin typeface="Times New Roman" pitchFamily="18" charset="0"/>
              </a:rPr>
              <a:t>Checksum concept</a:t>
            </a:r>
          </a:p>
        </p:txBody>
      </p:sp>
      <p:sp>
        <p:nvSpPr>
          <p:cNvPr id="49971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971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971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971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971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972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97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9723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176338"/>
            <a:ext cx="8610600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47F2E1-D675-4574-80E1-416117147AA5}" type="slidenum">
              <a:rPr lang="en-US"/>
              <a:pPr/>
              <a:t>24</a:t>
            </a:fld>
            <a:endParaRPr lang="en-US"/>
          </a:p>
        </p:txBody>
      </p:sp>
      <p:sp>
        <p:nvSpPr>
          <p:cNvPr id="500738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 dirty="0">
                <a:latin typeface="Times New Roman" pitchFamily="18" charset="0"/>
              </a:rPr>
              <a:t>Checksum in one’s complement arithmetic</a:t>
            </a:r>
          </a:p>
        </p:txBody>
      </p:sp>
      <p:sp>
        <p:nvSpPr>
          <p:cNvPr id="50073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074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074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074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074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074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074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500746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8450" y="2720975"/>
            <a:ext cx="8235950" cy="127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C4C0A4-CC71-46ED-B321-16ED8ADE3F33}" type="slidenum">
              <a:rPr lang="en-US"/>
              <a:pPr/>
              <a:t>25</a:t>
            </a:fld>
            <a:endParaRPr 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8686800" cy="6400800"/>
            <a:chOff x="0" y="96"/>
            <a:chExt cx="5472" cy="3840"/>
          </a:xfrm>
        </p:grpSpPr>
        <p:sp>
          <p:nvSpPr>
            <p:cNvPr id="477187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7188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G4 w 1000"/>
                <a:gd name="T3" fmla="*/ G1 h 1000"/>
              </a:gdLst>
              <a:ahLst/>
              <a:cxnLst>
                <a:cxn ang="0">
                  <a:pos x="0" y="0"/>
                </a:cxn>
                <a:cxn ang="0">
                  <a:pos x="6169" y="0"/>
                </a:cxn>
                <a:cxn ang="0">
                  <a:pos x="6670" y="500"/>
                </a:cxn>
                <a:cxn ang="0">
                  <a:pos x="6170" y="1000"/>
                </a:cxn>
                <a:cxn ang="0">
                  <a:pos x="0" y="1000"/>
                </a:cxn>
              </a:cxnLst>
              <a:rect l="T0" t="T1" r="T2" b="T3"/>
              <a:pathLst>
                <a:path w="7000" h="1000">
                  <a:moveTo>
                    <a:pt x="0" y="0"/>
                  </a:moveTo>
                  <a:lnTo>
                    <a:pt x="6169" y="0"/>
                  </a:lnTo>
                  <a:cubicBezTo>
                    <a:pt x="6446" y="0"/>
                    <a:pt x="6670" y="223"/>
                    <a:pt x="6670" y="500"/>
                  </a:cubicBezTo>
                  <a:cubicBezTo>
                    <a:pt x="6670" y="776"/>
                    <a:pt x="6446" y="999"/>
                    <a:pt x="6170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7189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7190" name="Text Box 6"/>
          <p:cNvSpPr txBox="1">
            <a:spLocks noChangeArrowheads="1"/>
          </p:cNvSpPr>
          <p:nvPr/>
        </p:nvSpPr>
        <p:spPr bwMode="auto">
          <a:xfrm>
            <a:off x="228600" y="354013"/>
            <a:ext cx="4044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Arial" charset="0"/>
              </a:rPr>
              <a:t>8.5   IP PACKAGE</a:t>
            </a:r>
          </a:p>
        </p:txBody>
      </p:sp>
      <p:sp>
        <p:nvSpPr>
          <p:cNvPr id="477191" name="Rectangle 7"/>
          <p:cNvSpPr>
            <a:spLocks noChangeArrowheads="1"/>
          </p:cNvSpPr>
          <p:nvPr/>
        </p:nvSpPr>
        <p:spPr bwMode="auto">
          <a:xfrm>
            <a:off x="533400" y="1371600"/>
            <a:ext cx="7848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IP software package components and the relationships between the components. This IP package involves eight modules. </a:t>
            </a:r>
          </a:p>
        </p:txBody>
      </p:sp>
      <p:sp>
        <p:nvSpPr>
          <p:cNvPr id="477193" name="Rectangle 9"/>
          <p:cNvSpPr>
            <a:spLocks noChangeArrowheads="1"/>
          </p:cNvSpPr>
          <p:nvPr/>
        </p:nvSpPr>
        <p:spPr bwMode="auto">
          <a:xfrm>
            <a:off x="685800" y="3200400"/>
            <a:ext cx="7315200" cy="283527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Header-Adding Module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Processing Module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Queues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Routing Table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Forwarding Module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MTU Table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Fragmentation Module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Reassembly Table</a:t>
            </a:r>
          </a:p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Reassembly Module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F0D2A4-1B70-4E6F-A033-764261A8E5F4}" type="slidenum">
              <a:rPr lang="en-US"/>
              <a:pPr/>
              <a:t>26</a:t>
            </a:fld>
            <a:endParaRPr lang="en-US"/>
          </a:p>
        </p:txBody>
      </p:sp>
      <p:sp>
        <p:nvSpPr>
          <p:cNvPr id="50381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dirty="0">
                <a:solidFill>
                  <a:schemeClr val="accent2"/>
                </a:solidFill>
                <a:latin typeface="Times New Roman" pitchFamily="18" charset="0"/>
              </a:rPr>
              <a:t>   </a:t>
            </a:r>
            <a:r>
              <a:rPr lang="en-US" altLang="en-US" i="1" dirty="0">
                <a:latin typeface="Times New Roman" pitchFamily="18" charset="0"/>
              </a:rPr>
              <a:t>IP components</a:t>
            </a:r>
          </a:p>
        </p:txBody>
      </p:sp>
      <p:sp>
        <p:nvSpPr>
          <p:cNvPr id="50381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381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381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381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381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381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0381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50381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720725"/>
            <a:ext cx="7543799" cy="583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2193</TotalTime>
  <Words>768</Words>
  <Application>Microsoft Office PowerPoint</Application>
  <PresentationFormat>On-screen Show (4:3)</PresentationFormat>
  <Paragraphs>110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Algerian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shashank ganla</dc:creator>
  <cp:lastModifiedBy>sysadmin hyd</cp:lastModifiedBy>
  <cp:revision>95</cp:revision>
  <dcterms:created xsi:type="dcterms:W3CDTF">2006-08-16T00:00:00Z</dcterms:created>
  <dcterms:modified xsi:type="dcterms:W3CDTF">2023-09-15T13:34:37Z</dcterms:modified>
</cp:coreProperties>
</file>