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7" r:id="rId4"/>
    <p:sldId id="265" r:id="rId5"/>
    <p:sldId id="295" r:id="rId6"/>
    <p:sldId id="296" r:id="rId7"/>
    <p:sldId id="266" r:id="rId8"/>
    <p:sldId id="303" r:id="rId9"/>
    <p:sldId id="298" r:id="rId10"/>
    <p:sldId id="301" r:id="rId11"/>
    <p:sldId id="300" r:id="rId12"/>
    <p:sldId id="302" r:id="rId13"/>
    <p:sldId id="305" r:id="rId14"/>
    <p:sldId id="268" r:id="rId15"/>
    <p:sldId id="270" r:id="rId16"/>
    <p:sldId id="278" r:id="rId17"/>
    <p:sldId id="271" r:id="rId18"/>
    <p:sldId id="272" r:id="rId19"/>
    <p:sldId id="304" r:id="rId20"/>
    <p:sldId id="273" r:id="rId21"/>
    <p:sldId id="29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iKn0GzF5-IU&amp;list=RDCMUCJQJ4GjTiq5lmn8czf8oo0Q&amp;index=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0nUERzTBJbQ" TargetMode="External"/><Relationship Id="rId2" Type="http://schemas.openxmlformats.org/officeDocument/2006/relationships/hyperlink" Target="https://www.youtube.com/watch?v=XdXWOHXkcMQ"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youtube.com/watch?v=1SpY1vwEIJI&amp;list=RDCMUCJQJ4GjTiq5lmn8czf8oo0Q&amp;index=9"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www.youtube.com/watch?v=cn8Zxh9bPio&amp;list=RDCMUCJQJ4GjTiq5lmn8czf8oo0Q&amp;index=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Networking With TCP/IP</a:t>
            </a:r>
            <a:endParaRPr lang="en-US" dirty="0"/>
          </a:p>
        </p:txBody>
      </p:sp>
      <p:sp>
        <p:nvSpPr>
          <p:cNvPr id="5" name="Subtitle 4"/>
          <p:cNvSpPr>
            <a:spLocks noGrp="1"/>
          </p:cNvSpPr>
          <p:nvPr>
            <p:ph type="subTitle" idx="1"/>
          </p:nvPr>
        </p:nvSpPr>
        <p:spPr/>
        <p:txBody>
          <a:bodyPr/>
          <a:lstStyle/>
          <a:p>
            <a:r>
              <a:rPr lang="en-US" dirty="0" smtClean="0"/>
              <a:t>Overview</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2530" name="Picture 2" descr="Network Basics: TCP/IP and OSI Network Model Comparisons - dummies"/>
          <p:cNvPicPr>
            <a:picLocks noChangeAspect="1" noChangeArrowheads="1"/>
          </p:cNvPicPr>
          <p:nvPr/>
        </p:nvPicPr>
        <p:blipFill>
          <a:blip r:embed="rId2"/>
          <a:srcRect/>
          <a:stretch>
            <a:fillRect/>
          </a:stretch>
        </p:blipFill>
        <p:spPr bwMode="auto">
          <a:xfrm>
            <a:off x="228600" y="1676400"/>
            <a:ext cx="8915400" cy="48006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r>
              <a:rPr lang="en-US" dirty="0" smtClean="0"/>
              <a:t>Network Interface Layer :Ethernet Layers</a:t>
            </a:r>
          </a:p>
          <a:p>
            <a:r>
              <a:rPr lang="en-US" dirty="0" smtClean="0"/>
              <a:t>ARP , RARP </a:t>
            </a:r>
          </a:p>
          <a:p>
            <a:r>
              <a:rPr lang="en-US" dirty="0" smtClean="0"/>
              <a:t>IP </a:t>
            </a:r>
          </a:p>
          <a:p>
            <a:r>
              <a:rPr lang="en-US" dirty="0" smtClean="0"/>
              <a:t>ICMP</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t>TCP/IP Protocol Suite</a:t>
            </a:r>
          </a:p>
        </p:txBody>
      </p:sp>
      <p:sp>
        <p:nvSpPr>
          <p:cNvPr id="486402"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dirty="0">
                <a:solidFill>
                  <a:srgbClr val="0000FF"/>
                </a:solidFill>
              </a:rPr>
              <a:t>Figure </a:t>
            </a:r>
            <a:r>
              <a:rPr lang="en-US" altLang="en-US" dirty="0" smtClean="0">
                <a:solidFill>
                  <a:srgbClr val="0000FF"/>
                </a:solidFill>
              </a:rPr>
              <a:t>                            </a:t>
            </a:r>
            <a:r>
              <a:rPr lang="en-US" altLang="en-US" i="1" dirty="0" smtClean="0"/>
              <a:t>Ethernet </a:t>
            </a:r>
            <a:r>
              <a:rPr lang="en-US" altLang="en-US" i="1" dirty="0"/>
              <a:t>layers</a:t>
            </a:r>
          </a:p>
        </p:txBody>
      </p:sp>
      <p:sp>
        <p:nvSpPr>
          <p:cNvPr id="48640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640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640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640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640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640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640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pic>
        <p:nvPicPr>
          <p:cNvPr id="486411" name="Picture 11"/>
          <p:cNvPicPr>
            <a:picLocks noChangeAspect="1" noChangeArrowheads="1"/>
          </p:cNvPicPr>
          <p:nvPr/>
        </p:nvPicPr>
        <p:blipFill>
          <a:blip r:embed="rId2"/>
          <a:srcRect/>
          <a:stretch>
            <a:fillRect/>
          </a:stretch>
        </p:blipFill>
        <p:spPr bwMode="auto">
          <a:xfrm>
            <a:off x="304800" y="1295400"/>
            <a:ext cx="8534400" cy="50022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LLC(Logical Link Control) </a:t>
            </a:r>
            <a:r>
              <a:rPr lang="en-US" dirty="0" err="1" smtClean="0"/>
              <a:t>Sublayer</a:t>
            </a:r>
            <a:r>
              <a:rPr lang="en-US" dirty="0" smtClean="0"/>
              <a:t> Functions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primary function of LLC is to multiplex protocols over the MAC layer while transmitting and likewise to de-multiplex the protocols while receiving.</a:t>
            </a:r>
          </a:p>
          <a:p>
            <a:r>
              <a:rPr lang="en-US" dirty="0" smtClean="0"/>
              <a:t>LLC provides hop-to-hop </a:t>
            </a:r>
            <a:r>
              <a:rPr lang="en-US" dirty="0" err="1" smtClean="0"/>
              <a:t>synchronisation,flow</a:t>
            </a:r>
            <a:r>
              <a:rPr lang="en-US" dirty="0" smtClean="0"/>
              <a:t> and error control.</a:t>
            </a:r>
          </a:p>
          <a:p>
            <a:r>
              <a:rPr lang="en-US" dirty="0" smtClean="0"/>
              <a:t>It allows multipoint communication over computer network.</a:t>
            </a:r>
          </a:p>
          <a:p>
            <a:r>
              <a:rPr lang="en-US" dirty="0" smtClean="0"/>
              <a:t>Frame Sequence Numbers are assigned by LLC.</a:t>
            </a:r>
          </a:p>
          <a:p>
            <a:r>
              <a:rPr lang="en-US" dirty="0" smtClean="0"/>
              <a:t>In case of acknowledged services, it tracks acknowledgements</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 </a:t>
            </a:r>
            <a:r>
              <a:rPr lang="en-US" dirty="0" err="1" smtClean="0"/>
              <a:t>Sublayer</a:t>
            </a:r>
            <a:r>
              <a:rPr lang="en-US" dirty="0" smtClean="0"/>
              <a:t> Functions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 Ethernet is a contention-based/non-  deterministic method of networking.</a:t>
            </a:r>
          </a:p>
          <a:p>
            <a:r>
              <a:rPr lang="en-US" dirty="0" smtClean="0"/>
              <a:t> Ethernet provides a method for controlling how the nodes share access through the use a Carrier Sense Multiple Access (CSMA) technology.</a:t>
            </a:r>
          </a:p>
          <a:p>
            <a:r>
              <a:rPr lang="en-US" b="1" dirty="0" smtClean="0"/>
              <a:t>Refer URL:</a:t>
            </a:r>
          </a:p>
          <a:p>
            <a:r>
              <a:rPr lang="en-US" dirty="0" smtClean="0">
                <a:hlinkClick r:id="rId2"/>
              </a:rPr>
              <a:t>https://www.youtube.com/watch?v=iKn0GzF5-IU&amp;list=RDCMUCJQJ4GjTiq5lmn8czf8oo0Q&amp;index=2</a:t>
            </a:r>
            <a:endParaRPr lang="en-US" b="1" dirty="0" smtClean="0"/>
          </a:p>
          <a:p>
            <a:r>
              <a:rPr lang="en-US" b="1" dirty="0" smtClean="0"/>
              <a:t>Data Encapsulation</a:t>
            </a:r>
          </a:p>
          <a:p>
            <a:pPr>
              <a:buNone/>
            </a:pPr>
            <a:r>
              <a:rPr lang="en-US" b="1" dirty="0" smtClean="0"/>
              <a:t>    </a:t>
            </a:r>
            <a:r>
              <a:rPr lang="en-US" dirty="0" smtClean="0"/>
              <a:t>Frame </a:t>
            </a:r>
            <a:r>
              <a:rPr lang="en-US" dirty="0" err="1" smtClean="0"/>
              <a:t>delimiting,Addressing,Error</a:t>
            </a:r>
            <a:r>
              <a:rPr lang="en-US" dirty="0" smtClean="0"/>
              <a:t> detection.</a:t>
            </a:r>
          </a:p>
          <a:p>
            <a:r>
              <a:rPr lang="en-US" b="1" dirty="0" smtClean="0"/>
              <a:t>Media Access Control</a:t>
            </a:r>
          </a:p>
          <a:p>
            <a:pPr>
              <a:buNone/>
            </a:pPr>
            <a:r>
              <a:rPr lang="en-US" b="1" dirty="0" smtClean="0"/>
              <a:t>    </a:t>
            </a:r>
            <a:r>
              <a:rPr lang="en-US" dirty="0" smtClean="0"/>
              <a:t>Control of frame placement on and off the media.</a:t>
            </a:r>
          </a:p>
          <a:p>
            <a:pPr>
              <a:buNone/>
            </a:pPr>
            <a:r>
              <a:rPr lang="en-US" dirty="0" smtClean="0"/>
              <a:t>    Media recovery</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304800" y="1524000"/>
            <a:ext cx="8686800" cy="4724400"/>
          </a:xfrm>
        </p:spPr>
        <p:txBody>
          <a:bodyPr>
            <a:normAutofit fontScale="85000" lnSpcReduction="10000"/>
          </a:bodyPr>
          <a:lstStyle/>
          <a:p>
            <a:r>
              <a:rPr lang="en-US" dirty="0" smtClean="0"/>
              <a:t>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l</a:t>
            </a:r>
          </a:p>
          <a:p>
            <a:pPr>
              <a:buNone/>
            </a:pPr>
            <a:endParaRPr lang="en-US" dirty="0" smtClean="0">
              <a:hlinkClick r:id="rId2"/>
            </a:endParaRPr>
          </a:p>
          <a:p>
            <a:pPr>
              <a:buNone/>
            </a:pPr>
            <a:endParaRPr lang="en-US" dirty="0" smtClean="0">
              <a:hlinkClick r:id="rId2"/>
            </a:endParaRPr>
          </a:p>
          <a:p>
            <a:r>
              <a:rPr lang="en-US" dirty="0" smtClean="0">
                <a:hlinkClick r:id="rId2"/>
              </a:rPr>
              <a:t>Refer </a:t>
            </a:r>
            <a:r>
              <a:rPr lang="en-US" dirty="0" err="1" smtClean="0">
                <a:hlinkClick r:id="rId2"/>
              </a:rPr>
              <a:t>urls</a:t>
            </a:r>
            <a:r>
              <a:rPr lang="en-US" dirty="0" smtClean="0">
                <a:hlinkClick r:id="rId2"/>
              </a:rPr>
              <a:t>:</a:t>
            </a:r>
          </a:p>
          <a:p>
            <a:r>
              <a:rPr lang="en-US" dirty="0" smtClean="0">
                <a:hlinkClick r:id="rId2"/>
              </a:rPr>
              <a:t>https://www.youtube.com/watch?v=XdXWOHXkcMQ</a:t>
            </a:r>
            <a:endParaRPr lang="en-US" dirty="0" smtClean="0"/>
          </a:p>
          <a:p>
            <a:r>
              <a:rPr lang="en-US" dirty="0" smtClean="0">
                <a:hlinkClick r:id="rId3"/>
              </a:rPr>
              <a:t>https://www.youtube.com/watch?v=0nUERzTBJbQ</a:t>
            </a:r>
            <a:endParaRPr lang="en-US" dirty="0" smtClean="0"/>
          </a:p>
          <a:p>
            <a:r>
              <a:rPr lang="en-US" dirty="0" smtClean="0">
                <a:hlinkClick r:id="rId4"/>
              </a:rPr>
              <a:t>https://www.youtube.com/watch?v=1SpY1vwEIJI&amp;list=RDCMUCJQJ4GjTiq5lmn8czf8oo0Q&amp;index=9</a:t>
            </a:r>
            <a:endParaRPr lang="en-US" dirty="0" smtClean="0"/>
          </a:p>
          <a:p>
            <a:pPr>
              <a:buNone/>
            </a:pPr>
            <a:endParaRPr lang="en-US" dirty="0"/>
          </a:p>
        </p:txBody>
      </p:sp>
      <p:sp>
        <p:nvSpPr>
          <p:cNvPr id="11" name="Footer Placeholder 1"/>
          <p:cNvSpPr>
            <a:spLocks noGrp="1"/>
          </p:cNvSpPr>
          <p:nvPr>
            <p:ph type="ftr" sz="quarter" idx="11"/>
          </p:nvPr>
        </p:nvSpPr>
        <p:spPr/>
        <p:txBody>
          <a:bodyPr/>
          <a:lstStyle/>
          <a:p>
            <a:r>
              <a:rPr lang="en-US"/>
              <a:t>TCP/IP Protocol Suite</a:t>
            </a:r>
          </a:p>
        </p:txBody>
      </p:sp>
      <p:sp>
        <p:nvSpPr>
          <p:cNvPr id="12" name="Slide Number Placeholder 2"/>
          <p:cNvSpPr>
            <a:spLocks noGrp="1"/>
          </p:cNvSpPr>
          <p:nvPr>
            <p:ph type="sldNum" sz="quarter" idx="12"/>
          </p:nvPr>
        </p:nvSpPr>
        <p:spPr/>
        <p:txBody>
          <a:bodyPr/>
          <a:lstStyle/>
          <a:p>
            <a:endParaRPr lang="en-US" dirty="0"/>
          </a:p>
        </p:txBody>
      </p:sp>
      <p:sp>
        <p:nvSpPr>
          <p:cNvPr id="487426"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dirty="0">
                <a:solidFill>
                  <a:srgbClr val="0000FF"/>
                </a:solidFill>
              </a:rPr>
              <a:t>Figure </a:t>
            </a:r>
            <a:r>
              <a:rPr lang="en-US" altLang="en-US" dirty="0" smtClean="0">
                <a:solidFill>
                  <a:schemeClr val="accent2"/>
                </a:solidFill>
              </a:rPr>
              <a:t>    </a:t>
            </a:r>
            <a:r>
              <a:rPr lang="en-US" altLang="en-US" i="1" dirty="0"/>
              <a:t>Ethernet frame</a:t>
            </a:r>
          </a:p>
        </p:txBody>
      </p:sp>
      <p:sp>
        <p:nvSpPr>
          <p:cNvPr id="487427"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742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7429"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743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743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7432"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48743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pic>
        <p:nvPicPr>
          <p:cNvPr id="487434" name="Picture 10"/>
          <p:cNvPicPr>
            <a:picLocks noChangeAspect="1" noChangeArrowheads="1"/>
          </p:cNvPicPr>
          <p:nvPr/>
        </p:nvPicPr>
        <p:blipFill>
          <a:blip r:embed="rId5"/>
          <a:srcRect/>
          <a:stretch>
            <a:fillRect/>
          </a:stretch>
        </p:blipFill>
        <p:spPr bwMode="auto">
          <a:xfrm>
            <a:off x="304800" y="1600200"/>
            <a:ext cx="8686800" cy="190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https://itexamanswers.net/wp-content/uploads/2017/09/2017-09-29_100820.pn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WAN Technologies</a:t>
            </a:r>
            <a:endParaRPr lang="en-US" dirty="0"/>
          </a:p>
        </p:txBody>
      </p:sp>
      <p:sp>
        <p:nvSpPr>
          <p:cNvPr id="3" name="Content Placeholder 2"/>
          <p:cNvSpPr>
            <a:spLocks noGrp="1"/>
          </p:cNvSpPr>
          <p:nvPr>
            <p:ph idx="1"/>
          </p:nvPr>
        </p:nvSpPr>
        <p:spPr/>
        <p:txBody>
          <a:bodyPr>
            <a:normAutofit fontScale="85000" lnSpcReduction="10000"/>
          </a:bodyPr>
          <a:lstStyle/>
          <a:p>
            <a:r>
              <a:rPr lang="en-US" i="1" dirty="0" smtClean="0">
                <a:effectLst>
                  <a:outerShdw blurRad="38100" dist="38100" dir="2700000" algn="tl">
                    <a:srgbClr val="C0C0C0"/>
                  </a:outerShdw>
                </a:effectLst>
              </a:rPr>
              <a:t>A </a:t>
            </a:r>
            <a:r>
              <a:rPr lang="en-US" i="1" dirty="0" smtClean="0">
                <a:solidFill>
                  <a:schemeClr val="hlink"/>
                </a:solidFill>
                <a:effectLst>
                  <a:outerShdw blurRad="38100" dist="38100" dir="2700000" algn="tl">
                    <a:srgbClr val="C0C0C0"/>
                  </a:outerShdw>
                </a:effectLst>
              </a:rPr>
              <a:t>point-to-point WAN</a:t>
            </a:r>
            <a:r>
              <a:rPr lang="en-US" i="1" dirty="0" smtClean="0">
                <a:effectLst>
                  <a:outerShdw blurRad="38100" dist="38100" dir="2700000" algn="tl">
                    <a:srgbClr val="C0C0C0"/>
                  </a:outerShdw>
                </a:effectLst>
              </a:rPr>
              <a:t> connects two remote devices using a line available from a public network such as a telephone network.</a:t>
            </a:r>
          </a:p>
          <a:p>
            <a:r>
              <a:rPr lang="en-US" i="1" dirty="0" smtClean="0">
                <a:effectLst>
                  <a:outerShdw blurRad="38100" dist="38100" dir="2700000" algn="tl">
                    <a:srgbClr val="C0C0C0"/>
                  </a:outerShdw>
                </a:effectLst>
              </a:rPr>
              <a:t>The backbone networks in the Internet are usually switched WANs. A </a:t>
            </a:r>
            <a:r>
              <a:rPr lang="en-US" i="1" dirty="0" smtClean="0">
                <a:solidFill>
                  <a:schemeClr val="hlink"/>
                </a:solidFill>
                <a:effectLst>
                  <a:outerShdw blurRad="38100" dist="38100" dir="2700000" algn="tl">
                    <a:srgbClr val="C0C0C0"/>
                  </a:outerShdw>
                </a:effectLst>
              </a:rPr>
              <a:t>switched WAN</a:t>
            </a:r>
            <a:r>
              <a:rPr lang="en-US" i="1" dirty="0" smtClean="0">
                <a:effectLst>
                  <a:outerShdw blurRad="38100" dist="38100" dir="2700000" algn="tl">
                    <a:srgbClr val="C0C0C0"/>
                  </a:outerShdw>
                </a:effectLst>
              </a:rPr>
              <a:t> is a wide area network that covers a large area (a state or a country) and provides access at several points to the users. </a:t>
            </a:r>
            <a:r>
              <a:rPr lang="en-US" i="1" dirty="0" smtClean="0">
                <a:solidFill>
                  <a:srgbClr val="C00000"/>
                </a:solidFill>
                <a:effectLst>
                  <a:outerShdw blurRad="38100" dist="38100" dir="2700000" algn="tl">
                    <a:srgbClr val="C0C0C0"/>
                  </a:outerShdw>
                </a:effectLst>
              </a:rPr>
              <a:t>Inside</a:t>
            </a:r>
            <a:r>
              <a:rPr lang="en-US" i="1" dirty="0" smtClean="0">
                <a:effectLst>
                  <a:outerShdw blurRad="38100" dist="38100" dir="2700000" algn="tl">
                    <a:srgbClr val="C0C0C0"/>
                  </a:outerShdw>
                </a:effectLst>
              </a:rPr>
              <a:t> the </a:t>
            </a:r>
            <a:r>
              <a:rPr lang="en-US" i="1" dirty="0" smtClean="0">
                <a:solidFill>
                  <a:schemeClr val="hlink"/>
                </a:solidFill>
                <a:effectLst>
                  <a:outerShdw blurRad="38100" dist="38100" dir="2700000" algn="tl">
                    <a:srgbClr val="C0C0C0"/>
                  </a:outerShdw>
                </a:effectLst>
              </a:rPr>
              <a:t>switched WAN</a:t>
            </a:r>
            <a:r>
              <a:rPr lang="en-US" i="1" dirty="0" smtClean="0">
                <a:effectLst>
                  <a:outerShdw blurRad="38100" dist="38100" dir="2700000" algn="tl">
                    <a:srgbClr val="C0C0C0"/>
                  </a:outerShdw>
                </a:effectLst>
              </a:rPr>
              <a:t> , </a:t>
            </a:r>
            <a:r>
              <a:rPr lang="en-US" i="1" u="sng" dirty="0" smtClean="0">
                <a:solidFill>
                  <a:srgbClr val="FF0000"/>
                </a:solidFill>
                <a:effectLst>
                  <a:outerShdw blurRad="38100" dist="38100" dir="2700000" algn="tl">
                    <a:srgbClr val="C0C0C0"/>
                  </a:outerShdw>
                </a:effectLst>
              </a:rPr>
              <a:t>there is a mesh of point-to-point networks</a:t>
            </a:r>
            <a:r>
              <a:rPr lang="en-US" i="1" dirty="0" smtClean="0">
                <a:solidFill>
                  <a:srgbClr val="FF0000"/>
                </a:solidFill>
                <a:effectLst>
                  <a:outerShdw blurRad="38100" dist="38100" dir="2700000" algn="tl">
                    <a:srgbClr val="C0C0C0"/>
                  </a:outerShdw>
                </a:effectLst>
              </a:rPr>
              <a:t> that connects switches. </a:t>
            </a:r>
            <a:r>
              <a:rPr lang="en-US" i="1" dirty="0" smtClean="0">
                <a:effectLst>
                  <a:outerShdw blurRad="38100" dist="38100" dir="2700000" algn="tl">
                    <a:srgbClr val="C0C0C0"/>
                  </a:outerShdw>
                </a:effectLst>
              </a:rPr>
              <a:t>The switches, multiple port connectors, allow the connection of several inputs and outputs. </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descr="Ch01 introduction"/>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WAN Technologies Overview (1.1) &gt; WAN Concepts | Cisco Press"/>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fontScale="90000"/>
          </a:bodyPr>
          <a:lstStyle/>
          <a:p>
            <a:r>
              <a:rPr lang="en-US" sz="3600" b="1" dirty="0" smtClean="0"/>
              <a:t/>
            </a:r>
            <a:br>
              <a:rPr lang="en-US" sz="3600" b="1" dirty="0" smtClean="0"/>
            </a:br>
            <a:r>
              <a:rPr lang="en-US" sz="3600" b="1" dirty="0" smtClean="0"/>
              <a:t>Packet Switching and Circuit Switching</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a:t>
            </a:r>
            <a:r>
              <a:rPr lang="en-US" dirty="0" smtClean="0">
                <a:solidFill>
                  <a:srgbClr val="FF0000"/>
                </a:solidFill>
              </a:rPr>
              <a:t>switching function </a:t>
            </a:r>
            <a:r>
              <a:rPr lang="en-US" dirty="0" smtClean="0"/>
              <a:t>provides communication pathways between two endpoints and manages how data flows between them.</a:t>
            </a:r>
          </a:p>
          <a:p>
            <a:pPr>
              <a:buNone/>
            </a:pPr>
            <a:endParaRPr lang="en-US" dirty="0" smtClean="0"/>
          </a:p>
          <a:p>
            <a:r>
              <a:rPr lang="en-US" dirty="0" smtClean="0">
                <a:solidFill>
                  <a:srgbClr val="FF0000"/>
                </a:solidFill>
              </a:rPr>
              <a:t>Circuit switching </a:t>
            </a:r>
            <a:r>
              <a:rPr lang="en-US" dirty="0" smtClean="0"/>
              <a:t>requires a dedicated physical connection between the sending and receiving devices. The sending system establishes a physical connection, and the data is transmitted between the two. When the transmission is complete, the channel is closed.</a:t>
            </a:r>
          </a:p>
          <a:p>
            <a:pPr>
              <a:buNone/>
            </a:pPr>
            <a:endParaRPr lang="en-US" dirty="0" smtClean="0"/>
          </a:p>
          <a:p>
            <a:r>
              <a:rPr lang="en-US" dirty="0" smtClean="0">
                <a:solidFill>
                  <a:srgbClr val="FF0000"/>
                </a:solidFill>
              </a:rPr>
              <a:t>In packet switching</a:t>
            </a:r>
            <a:r>
              <a:rPr lang="en-US" dirty="0" smtClean="0"/>
              <a:t>, messages are broken into smaller pieces called packets. Each packet is assigned source and destination addresses. Packets are required to have this information because they do not always use the same path or route to get to their intended destination. Packets can take an alternative route if a particular route is unavailable for some reason.</a:t>
            </a:r>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t>TCP/IP Protocol Suite</a:t>
            </a:r>
          </a:p>
        </p:txBody>
      </p:sp>
      <p:sp>
        <p:nvSpPr>
          <p:cNvPr id="12" name="Slide Number Placeholder 2"/>
          <p:cNvSpPr>
            <a:spLocks noGrp="1"/>
          </p:cNvSpPr>
          <p:nvPr>
            <p:ph type="sldNum" sz="quarter" idx="11"/>
          </p:nvPr>
        </p:nvSpPr>
        <p:spPr/>
        <p:txBody>
          <a:bodyPr/>
          <a:lstStyle/>
          <a:p>
            <a:fld id="{9ABA2246-EBA5-4A48-BBAA-47E84F11FEA0}" type="slidenum">
              <a:rPr lang="en-US"/>
              <a:pPr/>
              <a:t>13</a:t>
            </a:fld>
            <a:endParaRPr lang="en-US"/>
          </a:p>
        </p:txBody>
      </p:sp>
      <p:sp>
        <p:nvSpPr>
          <p:cNvPr id="477186" name="Text Box 2"/>
          <p:cNvSpPr txBox="1">
            <a:spLocks noChangeArrowheads="1"/>
          </p:cNvSpPr>
          <p:nvPr/>
        </p:nvSpPr>
        <p:spPr bwMode="auto">
          <a:xfrm>
            <a:off x="990600" y="90488"/>
            <a:ext cx="7239000" cy="366712"/>
          </a:xfrm>
          <a:prstGeom prst="rect">
            <a:avLst/>
          </a:prstGeom>
          <a:noFill/>
          <a:ln w="9525">
            <a:noFill/>
            <a:miter lim="800000"/>
            <a:headEnd/>
            <a:tailEnd/>
          </a:ln>
          <a:effectLst/>
        </p:spPr>
        <p:txBody>
          <a:bodyPr>
            <a:spAutoFit/>
          </a:bodyPr>
          <a:lstStyle/>
          <a:p>
            <a:r>
              <a:rPr lang="en-US" altLang="en-US" dirty="0" smtClean="0">
                <a:solidFill>
                  <a:srgbClr val="0000FF"/>
                </a:solidFill>
                <a:latin typeface="Times New Roman" pitchFamily="18" charset="0"/>
              </a:rPr>
              <a:t>Figure   </a:t>
            </a:r>
            <a:r>
              <a:rPr lang="en-US" altLang="en-US" i="1" dirty="0" smtClean="0">
                <a:latin typeface="Times New Roman" pitchFamily="18" charset="0"/>
              </a:rPr>
              <a:t>Position </a:t>
            </a:r>
            <a:r>
              <a:rPr lang="en-US" altLang="en-US" i="1" dirty="0">
                <a:latin typeface="Times New Roman" pitchFamily="18" charset="0"/>
              </a:rPr>
              <a:t>of ARP and RARP in TCP/IP protocol suite</a:t>
            </a:r>
          </a:p>
        </p:txBody>
      </p:sp>
      <p:sp>
        <p:nvSpPr>
          <p:cNvPr id="477187"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7718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77189"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7719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7719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77192"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7719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77194" name="Picture 10"/>
          <p:cNvPicPr>
            <a:picLocks noChangeAspect="1" noChangeArrowheads="1"/>
          </p:cNvPicPr>
          <p:nvPr/>
        </p:nvPicPr>
        <p:blipFill>
          <a:blip r:embed="rId2"/>
          <a:srcRect/>
          <a:stretch>
            <a:fillRect/>
          </a:stretch>
        </p:blipFill>
        <p:spPr bwMode="auto">
          <a:xfrm>
            <a:off x="304800" y="2743200"/>
            <a:ext cx="7532688" cy="14652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t>TCP/IP Protocol Suite</a:t>
            </a:r>
          </a:p>
        </p:txBody>
      </p:sp>
      <p:sp>
        <p:nvSpPr>
          <p:cNvPr id="12" name="Slide Number Placeholder 2"/>
          <p:cNvSpPr>
            <a:spLocks noGrp="1"/>
          </p:cNvSpPr>
          <p:nvPr>
            <p:ph type="sldNum" sz="quarter" idx="11"/>
          </p:nvPr>
        </p:nvSpPr>
        <p:spPr/>
        <p:txBody>
          <a:bodyPr/>
          <a:lstStyle/>
          <a:p>
            <a:fld id="{D2E0AFD9-9006-4B18-BBCB-23C9216F0A47}" type="slidenum">
              <a:rPr lang="en-US"/>
              <a:pPr/>
              <a:t>14</a:t>
            </a:fld>
            <a:endParaRPr lang="en-US"/>
          </a:p>
        </p:txBody>
      </p:sp>
      <p:sp>
        <p:nvSpPr>
          <p:cNvPr id="476162" name="Text Box 2"/>
          <p:cNvSpPr txBox="1">
            <a:spLocks noChangeArrowheads="1"/>
          </p:cNvSpPr>
          <p:nvPr/>
        </p:nvSpPr>
        <p:spPr bwMode="auto">
          <a:xfrm>
            <a:off x="990600" y="90488"/>
            <a:ext cx="7848600" cy="366712"/>
          </a:xfrm>
          <a:prstGeom prst="rect">
            <a:avLst/>
          </a:prstGeom>
          <a:noFill/>
          <a:ln w="9525">
            <a:noFill/>
            <a:miter lim="800000"/>
            <a:headEnd/>
            <a:tailEnd/>
          </a:ln>
          <a:effectLst/>
        </p:spPr>
        <p:txBody>
          <a:bodyPr wrap="square">
            <a:spAutoFit/>
          </a:bodyPr>
          <a:lstStyle/>
          <a:p>
            <a:r>
              <a:rPr lang="en-US" altLang="en-US" dirty="0">
                <a:solidFill>
                  <a:srgbClr val="0000FF"/>
                </a:solidFill>
                <a:latin typeface="Times New Roman" pitchFamily="18" charset="0"/>
              </a:rPr>
              <a:t>Figure </a:t>
            </a:r>
            <a:r>
              <a:rPr lang="en-US" altLang="en-US" dirty="0" smtClean="0">
                <a:solidFill>
                  <a:schemeClr val="accent2"/>
                </a:solidFill>
                <a:latin typeface="Times New Roman" pitchFamily="18" charset="0"/>
              </a:rPr>
              <a:t>                                </a:t>
            </a:r>
            <a:r>
              <a:rPr lang="en-US" altLang="en-US" i="1" dirty="0">
                <a:latin typeface="Times New Roman" pitchFamily="18" charset="0"/>
              </a:rPr>
              <a:t>ARP and RARP</a:t>
            </a:r>
          </a:p>
        </p:txBody>
      </p:sp>
      <p:sp>
        <p:nvSpPr>
          <p:cNvPr id="47616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7616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7616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7616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7616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7616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7616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76170" name="Picture 10"/>
          <p:cNvPicPr>
            <a:picLocks noChangeAspect="1" noChangeArrowheads="1"/>
          </p:cNvPicPr>
          <p:nvPr/>
        </p:nvPicPr>
        <p:blipFill>
          <a:blip r:embed="rId2"/>
          <a:srcRect/>
          <a:stretch>
            <a:fillRect/>
          </a:stretch>
        </p:blipFill>
        <p:spPr bwMode="auto">
          <a:xfrm>
            <a:off x="228600" y="2362200"/>
            <a:ext cx="8610600" cy="4038600"/>
          </a:xfrm>
          <a:prstGeom prst="rect">
            <a:avLst/>
          </a:prstGeom>
          <a:noFill/>
          <a:ln w="9525">
            <a:noFill/>
            <a:miter lim="800000"/>
            <a:headEnd/>
            <a:tailEnd/>
          </a:ln>
          <a:effectLst/>
        </p:spPr>
      </p:pic>
      <p:sp>
        <p:nvSpPr>
          <p:cNvPr id="13" name="Rectangle 8"/>
          <p:cNvSpPr>
            <a:spLocks noChangeArrowheads="1"/>
          </p:cNvSpPr>
          <p:nvPr/>
        </p:nvSpPr>
        <p:spPr bwMode="auto">
          <a:xfrm>
            <a:off x="533400" y="1143000"/>
            <a:ext cx="7848600" cy="707886"/>
          </a:xfrm>
          <a:prstGeom prst="rect">
            <a:avLst/>
          </a:prstGeom>
          <a:noFill/>
          <a:ln w="9525">
            <a:noFill/>
            <a:miter lim="800000"/>
            <a:headEnd/>
            <a:tailEnd/>
          </a:ln>
          <a:effectLst/>
        </p:spPr>
        <p:txBody>
          <a:bodyPr>
            <a:spAutoFit/>
          </a:bodyPr>
          <a:lstStyle/>
          <a:p>
            <a:pPr algn="just"/>
            <a:r>
              <a:rPr lang="en-US" sz="2000" i="1" dirty="0">
                <a:effectLst>
                  <a:outerShdw blurRad="38100" dist="38100" dir="2700000" algn="tl">
                    <a:srgbClr val="C0C0C0"/>
                  </a:outerShdw>
                </a:effectLst>
                <a:latin typeface="Times New Roman" pitchFamily="18" charset="0"/>
              </a:rPr>
              <a:t>ARP associates an IP address with its physical address. </a:t>
            </a:r>
            <a:endParaRPr lang="en-US" sz="2000" i="1" dirty="0" smtClean="0">
              <a:effectLst>
                <a:outerShdw blurRad="38100" dist="38100" dir="2700000" algn="tl">
                  <a:srgbClr val="C0C0C0"/>
                </a:outerShdw>
              </a:effectLst>
              <a:latin typeface="Times New Roman" pitchFamily="18" charset="0"/>
            </a:endParaRPr>
          </a:p>
          <a:p>
            <a:pPr algn="just"/>
            <a:r>
              <a:rPr lang="en-US" sz="2000" i="1" dirty="0" smtClean="0">
                <a:effectLst>
                  <a:outerShdw blurRad="38100" dist="38100" dir="2700000" algn="tl">
                    <a:srgbClr val="C0C0C0"/>
                  </a:outerShdw>
                </a:effectLst>
                <a:latin typeface="Times New Roman" pitchFamily="18" charset="0"/>
              </a:rPr>
              <a:t>RARP  associates a physical address with its IP address.</a:t>
            </a:r>
            <a:endParaRPr lang="en-US" sz="2000" i="1" dirty="0">
              <a:effectLst>
                <a:outerShdw blurRad="38100" dist="38100" dir="2700000" algn="tl">
                  <a:srgbClr val="C0C0C0"/>
                </a:outerShdw>
              </a:effectLst>
              <a:latin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t>TCP/IP Protocol Suite</a:t>
            </a:r>
          </a:p>
        </p:txBody>
      </p:sp>
      <p:sp>
        <p:nvSpPr>
          <p:cNvPr id="12" name="Slide Number Placeholder 2"/>
          <p:cNvSpPr>
            <a:spLocks noGrp="1"/>
          </p:cNvSpPr>
          <p:nvPr>
            <p:ph type="sldNum" sz="quarter" idx="11"/>
          </p:nvPr>
        </p:nvSpPr>
        <p:spPr/>
        <p:txBody>
          <a:bodyPr/>
          <a:lstStyle/>
          <a:p>
            <a:fld id="{E0328A45-34FF-490B-8F11-142B4ECCA31F}" type="slidenum">
              <a:rPr lang="en-US"/>
              <a:pPr/>
              <a:t>15</a:t>
            </a:fld>
            <a:endParaRPr lang="en-US"/>
          </a:p>
        </p:txBody>
      </p:sp>
      <p:sp>
        <p:nvSpPr>
          <p:cNvPr id="478210"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dirty="0">
                <a:solidFill>
                  <a:srgbClr val="0000FF"/>
                </a:solidFill>
                <a:latin typeface="Times New Roman" pitchFamily="18" charset="0"/>
              </a:rPr>
              <a:t>Figure </a:t>
            </a:r>
            <a:r>
              <a:rPr lang="en-US" altLang="en-US" dirty="0" smtClean="0">
                <a:solidFill>
                  <a:schemeClr val="accent2"/>
                </a:solidFill>
                <a:latin typeface="Times New Roman" pitchFamily="18" charset="0"/>
              </a:rPr>
              <a:t>    </a:t>
            </a:r>
            <a:r>
              <a:rPr lang="en-US" altLang="en-US" i="1" dirty="0">
                <a:latin typeface="Times New Roman" pitchFamily="18" charset="0"/>
              </a:rPr>
              <a:t>ARP operation</a:t>
            </a:r>
          </a:p>
        </p:txBody>
      </p:sp>
      <p:sp>
        <p:nvSpPr>
          <p:cNvPr id="478211"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7821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78213"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7821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7821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78216"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7821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78218" name="Picture 10"/>
          <p:cNvPicPr>
            <a:picLocks noChangeAspect="1" noChangeArrowheads="1"/>
          </p:cNvPicPr>
          <p:nvPr/>
        </p:nvPicPr>
        <p:blipFill>
          <a:blip r:embed="rId2"/>
          <a:srcRect/>
          <a:stretch>
            <a:fillRect/>
          </a:stretch>
        </p:blipFill>
        <p:spPr bwMode="auto">
          <a:xfrm>
            <a:off x="838200" y="1374775"/>
            <a:ext cx="6472238" cy="47974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t>TCP/IP Protocol Suite</a:t>
            </a:r>
          </a:p>
        </p:txBody>
      </p:sp>
      <p:sp>
        <p:nvSpPr>
          <p:cNvPr id="12" name="Slide Number Placeholder 2"/>
          <p:cNvSpPr>
            <a:spLocks noGrp="1"/>
          </p:cNvSpPr>
          <p:nvPr>
            <p:ph type="sldNum" sz="quarter" idx="11"/>
          </p:nvPr>
        </p:nvSpPr>
        <p:spPr/>
        <p:txBody>
          <a:bodyPr/>
          <a:lstStyle/>
          <a:p>
            <a:fld id="{83A3AC8E-C1BC-40A5-B9E0-2380ABAEC830}" type="slidenum">
              <a:rPr lang="en-US"/>
              <a:pPr/>
              <a:t>16</a:t>
            </a:fld>
            <a:endParaRPr lang="en-US"/>
          </a:p>
        </p:txBody>
      </p:sp>
      <p:sp>
        <p:nvSpPr>
          <p:cNvPr id="485378"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dirty="0">
                <a:solidFill>
                  <a:srgbClr val="0000FF"/>
                </a:solidFill>
                <a:latin typeface="Times New Roman" pitchFamily="18" charset="0"/>
              </a:rPr>
              <a:t>Figure </a:t>
            </a:r>
            <a:r>
              <a:rPr lang="en-US" altLang="en-US" dirty="0" smtClean="0">
                <a:solidFill>
                  <a:schemeClr val="accent2"/>
                </a:solidFill>
                <a:latin typeface="Times New Roman" pitchFamily="18" charset="0"/>
              </a:rPr>
              <a:t>   </a:t>
            </a:r>
            <a:r>
              <a:rPr lang="en-US" altLang="en-US" i="1" dirty="0">
                <a:latin typeface="Times New Roman" pitchFamily="18" charset="0"/>
              </a:rPr>
              <a:t>RARP operation</a:t>
            </a:r>
          </a:p>
        </p:txBody>
      </p:sp>
      <p:sp>
        <p:nvSpPr>
          <p:cNvPr id="485379"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8538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5381"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8538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538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85384"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8538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85386" name="Picture 10"/>
          <p:cNvPicPr>
            <a:picLocks noChangeAspect="1" noChangeArrowheads="1"/>
          </p:cNvPicPr>
          <p:nvPr/>
        </p:nvPicPr>
        <p:blipFill>
          <a:blip r:embed="rId2"/>
          <a:srcRect/>
          <a:stretch>
            <a:fillRect/>
          </a:stretch>
        </p:blipFill>
        <p:spPr bwMode="auto">
          <a:xfrm>
            <a:off x="1371600" y="889000"/>
            <a:ext cx="6526213" cy="551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t>TCP/IP Protocol Suite</a:t>
            </a:r>
          </a:p>
        </p:txBody>
      </p:sp>
      <p:sp>
        <p:nvSpPr>
          <p:cNvPr id="12" name="Slide Number Placeholder 2"/>
          <p:cNvSpPr>
            <a:spLocks noGrp="1"/>
          </p:cNvSpPr>
          <p:nvPr>
            <p:ph type="sldNum" sz="quarter" idx="11"/>
          </p:nvPr>
        </p:nvSpPr>
        <p:spPr/>
        <p:txBody>
          <a:bodyPr/>
          <a:lstStyle/>
          <a:p>
            <a:fld id="{8B268F9A-0B26-4F73-B545-B701C2A2BDEB}" type="slidenum">
              <a:rPr lang="en-US"/>
              <a:pPr/>
              <a:t>17</a:t>
            </a:fld>
            <a:endParaRPr lang="en-US"/>
          </a:p>
        </p:txBody>
      </p:sp>
      <p:sp>
        <p:nvSpPr>
          <p:cNvPr id="479234"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dirty="0">
                <a:solidFill>
                  <a:srgbClr val="0000FF"/>
                </a:solidFill>
                <a:latin typeface="Times New Roman" pitchFamily="18" charset="0"/>
              </a:rPr>
              <a:t>Figure </a:t>
            </a:r>
            <a:r>
              <a:rPr lang="en-US" altLang="en-US" dirty="0" smtClean="0">
                <a:solidFill>
                  <a:srgbClr val="0000FF"/>
                </a:solidFill>
                <a:latin typeface="Times New Roman" pitchFamily="18" charset="0"/>
              </a:rPr>
              <a:t>                            </a:t>
            </a:r>
            <a:r>
              <a:rPr lang="en-US" altLang="en-US" i="1" dirty="0" smtClean="0">
                <a:latin typeface="Times New Roman" pitchFamily="18" charset="0"/>
              </a:rPr>
              <a:t>ARP / RARP packet</a:t>
            </a:r>
            <a:endParaRPr lang="en-US" altLang="en-US" i="1" dirty="0">
              <a:latin typeface="Times New Roman" pitchFamily="18" charset="0"/>
            </a:endParaRPr>
          </a:p>
        </p:txBody>
      </p:sp>
      <p:sp>
        <p:nvSpPr>
          <p:cNvPr id="479235"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79236"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79237"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79238"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79239"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79240"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7924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79242" name="Picture 10"/>
          <p:cNvPicPr>
            <a:picLocks noChangeAspect="1" noChangeArrowheads="1"/>
          </p:cNvPicPr>
          <p:nvPr/>
        </p:nvPicPr>
        <p:blipFill>
          <a:blip r:embed="rId2"/>
          <a:srcRect/>
          <a:stretch>
            <a:fillRect/>
          </a:stretch>
        </p:blipFill>
        <p:spPr bwMode="auto">
          <a:xfrm>
            <a:off x="304800" y="1143000"/>
            <a:ext cx="8534400" cy="51816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t>TCP/IP Protocol Suite</a:t>
            </a:r>
          </a:p>
        </p:txBody>
      </p:sp>
      <p:sp>
        <p:nvSpPr>
          <p:cNvPr id="12" name="Slide Number Placeholder 2"/>
          <p:cNvSpPr>
            <a:spLocks noGrp="1"/>
          </p:cNvSpPr>
          <p:nvPr>
            <p:ph type="sldNum" sz="quarter" idx="11"/>
          </p:nvPr>
        </p:nvSpPr>
        <p:spPr/>
        <p:txBody>
          <a:bodyPr/>
          <a:lstStyle/>
          <a:p>
            <a:fld id="{84D3E4A3-8AF7-47B9-AAA2-87CA894B8A3D}" type="slidenum">
              <a:rPr lang="en-US"/>
              <a:pPr/>
              <a:t>18</a:t>
            </a:fld>
            <a:endParaRPr lang="en-US"/>
          </a:p>
        </p:txBody>
      </p:sp>
      <p:sp>
        <p:nvSpPr>
          <p:cNvPr id="480258"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dirty="0">
                <a:solidFill>
                  <a:srgbClr val="0000FF"/>
                </a:solidFill>
                <a:latin typeface="Times New Roman" pitchFamily="18" charset="0"/>
              </a:rPr>
              <a:t>Figure 7.5</a:t>
            </a:r>
            <a:r>
              <a:rPr lang="en-US" altLang="en-US" dirty="0">
                <a:solidFill>
                  <a:schemeClr val="accent2"/>
                </a:solidFill>
                <a:latin typeface="Times New Roman" pitchFamily="18" charset="0"/>
              </a:rPr>
              <a:t>    </a:t>
            </a:r>
            <a:r>
              <a:rPr lang="en-US" altLang="en-US" i="1" dirty="0">
                <a:latin typeface="Times New Roman" pitchFamily="18" charset="0"/>
              </a:rPr>
              <a:t>Encapsulation of </a:t>
            </a:r>
            <a:r>
              <a:rPr lang="en-US" altLang="en-US" i="1" dirty="0" smtClean="0">
                <a:latin typeface="Times New Roman" pitchFamily="18" charset="0"/>
              </a:rPr>
              <a:t>ARP/RARP </a:t>
            </a:r>
            <a:r>
              <a:rPr lang="en-US" altLang="en-US" i="1" dirty="0">
                <a:latin typeface="Times New Roman" pitchFamily="18" charset="0"/>
              </a:rPr>
              <a:t>packet</a:t>
            </a:r>
          </a:p>
        </p:txBody>
      </p:sp>
      <p:sp>
        <p:nvSpPr>
          <p:cNvPr id="480259"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8026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0261"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8026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026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80264"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8026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80266" name="Picture 10"/>
          <p:cNvPicPr>
            <a:picLocks noChangeAspect="1" noChangeArrowheads="1"/>
          </p:cNvPicPr>
          <p:nvPr/>
        </p:nvPicPr>
        <p:blipFill>
          <a:blip r:embed="rId2"/>
          <a:srcRect/>
          <a:stretch>
            <a:fillRect/>
          </a:stretch>
        </p:blipFill>
        <p:spPr bwMode="auto">
          <a:xfrm>
            <a:off x="304800" y="1371600"/>
            <a:ext cx="7824787" cy="1830387"/>
          </a:xfrm>
          <a:prstGeom prst="rect">
            <a:avLst/>
          </a:prstGeom>
          <a:noFill/>
          <a:ln w="9525">
            <a:noFill/>
            <a:miter lim="800000"/>
            <a:headEnd/>
            <a:tailEnd/>
          </a:ln>
          <a:effectLst/>
        </p:spPr>
      </p:pic>
      <p:pic>
        <p:nvPicPr>
          <p:cNvPr id="13" name="Picture 10"/>
          <p:cNvPicPr>
            <a:picLocks noChangeAspect="1" noChangeArrowheads="1"/>
          </p:cNvPicPr>
          <p:nvPr/>
        </p:nvPicPr>
        <p:blipFill>
          <a:blip r:embed="rId3"/>
          <a:srcRect/>
          <a:stretch>
            <a:fillRect/>
          </a:stretch>
        </p:blipFill>
        <p:spPr bwMode="auto">
          <a:xfrm>
            <a:off x="381000" y="4191000"/>
            <a:ext cx="7824788" cy="18303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t>TCP/IP Protocol Suite</a:t>
            </a:r>
          </a:p>
        </p:txBody>
      </p:sp>
      <p:sp>
        <p:nvSpPr>
          <p:cNvPr id="12" name="Slide Number Placeholder 2"/>
          <p:cNvSpPr>
            <a:spLocks noGrp="1"/>
          </p:cNvSpPr>
          <p:nvPr>
            <p:ph type="sldNum" sz="quarter" idx="11"/>
          </p:nvPr>
        </p:nvSpPr>
        <p:spPr/>
        <p:txBody>
          <a:bodyPr/>
          <a:lstStyle/>
          <a:p>
            <a:fld id="{7878FF4D-FF51-427A-AE69-DB468FE3ABCC}" type="slidenum">
              <a:rPr lang="en-US"/>
              <a:pPr/>
              <a:t>19</a:t>
            </a:fld>
            <a:endParaRPr lang="en-US"/>
          </a:p>
        </p:txBody>
      </p:sp>
      <p:sp>
        <p:nvSpPr>
          <p:cNvPr id="482306"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a:solidFill>
                  <a:srgbClr val="0000FF"/>
                </a:solidFill>
                <a:latin typeface="Times New Roman" pitchFamily="18" charset="0"/>
              </a:rPr>
              <a:t>Figure 7.7</a:t>
            </a:r>
            <a:r>
              <a:rPr lang="en-US" altLang="en-US">
                <a:solidFill>
                  <a:schemeClr val="accent2"/>
                </a:solidFill>
                <a:latin typeface="Times New Roman" pitchFamily="18" charset="0"/>
              </a:rPr>
              <a:t>    </a:t>
            </a:r>
            <a:r>
              <a:rPr lang="en-US" altLang="en-US" i="1">
                <a:latin typeface="Times New Roman" pitchFamily="18" charset="0"/>
              </a:rPr>
              <a:t>Example 1</a:t>
            </a:r>
          </a:p>
        </p:txBody>
      </p:sp>
      <p:sp>
        <p:nvSpPr>
          <p:cNvPr id="482307"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8230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2309"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8231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231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82312"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8231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82318" name="Picture 14"/>
          <p:cNvPicPr>
            <a:picLocks noChangeAspect="1" noChangeArrowheads="1"/>
          </p:cNvPicPr>
          <p:nvPr/>
        </p:nvPicPr>
        <p:blipFill>
          <a:blip r:embed="rId2"/>
          <a:srcRect/>
          <a:stretch>
            <a:fillRect/>
          </a:stretch>
        </p:blipFill>
        <p:spPr bwMode="auto">
          <a:xfrm>
            <a:off x="1365250" y="762000"/>
            <a:ext cx="6864350" cy="5594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t>TCP/IP Protocol Suite</a:t>
            </a:r>
          </a:p>
        </p:txBody>
      </p:sp>
      <p:sp>
        <p:nvSpPr>
          <p:cNvPr id="12" name="Slide Number Placeholder 2"/>
          <p:cNvSpPr>
            <a:spLocks noGrp="1"/>
          </p:cNvSpPr>
          <p:nvPr>
            <p:ph type="sldNum" sz="quarter" idx="11"/>
          </p:nvPr>
        </p:nvSpPr>
        <p:spPr/>
        <p:txBody>
          <a:bodyPr/>
          <a:lstStyle/>
          <a:p>
            <a:fld id="{116373F0-8169-4D5E-A0B2-AD26CE62EF00}" type="slidenum">
              <a:rPr lang="en-US"/>
              <a:pPr/>
              <a:t>20</a:t>
            </a:fld>
            <a:endParaRPr lang="en-US"/>
          </a:p>
        </p:txBody>
      </p:sp>
      <p:sp>
        <p:nvSpPr>
          <p:cNvPr id="481282"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dirty="0">
                <a:solidFill>
                  <a:srgbClr val="0000FF"/>
                </a:solidFill>
                <a:latin typeface="Times New Roman" pitchFamily="18" charset="0"/>
              </a:rPr>
              <a:t>Figure </a:t>
            </a:r>
            <a:r>
              <a:rPr lang="en-US" altLang="en-US" dirty="0" smtClean="0">
                <a:solidFill>
                  <a:schemeClr val="accent2"/>
                </a:solidFill>
                <a:latin typeface="Times New Roman" pitchFamily="18" charset="0"/>
              </a:rPr>
              <a:t>    </a:t>
            </a:r>
            <a:r>
              <a:rPr lang="en-US" altLang="en-US" i="1" dirty="0">
                <a:latin typeface="Times New Roman" pitchFamily="18" charset="0"/>
              </a:rPr>
              <a:t>Four cases using ARP</a:t>
            </a:r>
          </a:p>
        </p:txBody>
      </p:sp>
      <p:sp>
        <p:nvSpPr>
          <p:cNvPr id="48128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8128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128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8128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128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8128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8128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81290" name="Picture 10"/>
          <p:cNvPicPr>
            <a:picLocks noChangeAspect="1" noChangeArrowheads="1"/>
          </p:cNvPicPr>
          <p:nvPr/>
        </p:nvPicPr>
        <p:blipFill>
          <a:blip r:embed="rId2"/>
          <a:srcRect/>
          <a:stretch>
            <a:fillRect/>
          </a:stretch>
        </p:blipFill>
        <p:spPr bwMode="auto">
          <a:xfrm>
            <a:off x="865188" y="914400"/>
            <a:ext cx="7440612" cy="5470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 </a:t>
            </a:r>
            <a:r>
              <a:rPr lang="en-US" dirty="0" err="1" smtClean="0"/>
              <a:t>urls</a:t>
            </a:r>
            <a:endParaRPr lang="en-US" dirty="0"/>
          </a:p>
        </p:txBody>
      </p:sp>
      <p:sp>
        <p:nvSpPr>
          <p:cNvPr id="3" name="Content Placeholder 2"/>
          <p:cNvSpPr>
            <a:spLocks noGrp="1"/>
          </p:cNvSpPr>
          <p:nvPr>
            <p:ph idx="1"/>
          </p:nvPr>
        </p:nvSpPr>
        <p:spPr/>
        <p:txBody>
          <a:bodyPr/>
          <a:lstStyle/>
          <a:p>
            <a:r>
              <a:rPr lang="en-US" dirty="0" smtClean="0">
                <a:hlinkClick r:id="rId2"/>
              </a:rPr>
              <a:t>https</a:t>
            </a:r>
            <a:r>
              <a:rPr lang="en-US" smtClean="0">
                <a:hlinkClick r:id="rId2"/>
              </a:rPr>
              <a:t>://www.youtube.com/watch?v=cn8Zxh9bPio&amp;list=RDCMUCJQJ4GjTiq5lmn8czf8oo0Q&amp;index=1</a:t>
            </a:r>
            <a:endParaRPr lang="en-US" smtClean="0"/>
          </a:p>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840</TotalTime>
  <Words>422</Words>
  <Application>Microsoft Office PowerPoint</Application>
  <PresentationFormat>On-screen Show (4:3)</PresentationFormat>
  <Paragraphs>71</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Networking With TCP/IP</vt:lpstr>
      <vt:lpstr>Slide 2</vt:lpstr>
      <vt:lpstr>AGENDA</vt:lpstr>
      <vt:lpstr>Slide 4</vt:lpstr>
      <vt:lpstr>LLC(Logical Link Control) Sublayer Functions</vt:lpstr>
      <vt:lpstr>MAC Sublayer Functions</vt:lpstr>
      <vt:lpstr>Slide 7</vt:lpstr>
      <vt:lpstr>Slide 8</vt:lpstr>
      <vt:lpstr>WAN Technologies</vt:lpstr>
      <vt:lpstr>Slide 10</vt:lpstr>
      <vt:lpstr>Slide 11</vt:lpstr>
      <vt:lpstr> Packet Switching and Circuit Switching </vt:lpstr>
      <vt:lpstr>Slide 13</vt:lpstr>
      <vt:lpstr>Slide 14</vt:lpstr>
      <vt:lpstr>Slide 15</vt:lpstr>
      <vt:lpstr>Slide 16</vt:lpstr>
      <vt:lpstr>Slide 17</vt:lpstr>
      <vt:lpstr>Slide 18</vt:lpstr>
      <vt:lpstr>Slide 19</vt:lpstr>
      <vt:lpstr>Slide 20</vt:lpstr>
      <vt:lpstr>Refer urls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With TCP/IP</dc:title>
  <dc:creator/>
  <cp:lastModifiedBy>shashank</cp:lastModifiedBy>
  <cp:revision>54</cp:revision>
  <dcterms:created xsi:type="dcterms:W3CDTF">2006-08-16T00:00:00Z</dcterms:created>
  <dcterms:modified xsi:type="dcterms:W3CDTF">2022-03-22T12:06:57Z</dcterms:modified>
</cp:coreProperties>
</file>