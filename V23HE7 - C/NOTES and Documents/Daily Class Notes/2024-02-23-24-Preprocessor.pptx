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21"/>
  </p:notesMasterIdLst>
  <p:sldIdLst>
    <p:sldId id="334" r:id="rId2"/>
    <p:sldId id="353" r:id="rId3"/>
    <p:sldId id="354" r:id="rId4"/>
    <p:sldId id="355" r:id="rId5"/>
    <p:sldId id="377" r:id="rId6"/>
    <p:sldId id="356" r:id="rId7"/>
    <p:sldId id="361" r:id="rId8"/>
    <p:sldId id="380" r:id="rId9"/>
    <p:sldId id="357" r:id="rId10"/>
    <p:sldId id="367" r:id="rId11"/>
    <p:sldId id="368" r:id="rId12"/>
    <p:sldId id="373" r:id="rId13"/>
    <p:sldId id="370" r:id="rId14"/>
    <p:sldId id="372" r:id="rId15"/>
    <p:sldId id="374" r:id="rId16"/>
    <p:sldId id="376" r:id="rId17"/>
    <p:sldId id="383" r:id="rId18"/>
    <p:sldId id="378" r:id="rId19"/>
    <p:sldId id="379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33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>
      <p:cViewPr varScale="1">
        <p:scale>
          <a:sx n="82" d="100"/>
          <a:sy n="82" d="100"/>
        </p:scale>
        <p:origin x="143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72035-53B8-400B-B68A-BF96F868B3D9}" type="datetimeFigureOut">
              <a:rPr lang="en-IN" smtClean="0"/>
              <a:t>30-08-2023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43291-B6F1-4DA7-B6CB-929D8A6693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13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5397D2-3D22-4A8E-9C63-6E0AB93A2C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B03594-5B53-472C-8D8A-0E7F5FFF04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8FEA7A-31C2-42F9-81C5-5222D87E1A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B0C902-3550-4F8D-8478-64EEDB183F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B5F7AF-A16A-408E-B35F-5BCE70BD9B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E26C0F-1242-45D1-8C68-DF6993B520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5FEEC3-0B4E-4698-9802-BEA197FAEC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176833-FCBD-487B-85BD-6C5462FD8F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F01CE-10FD-47B9-8D77-55B54B5D5F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70320-E3DD-4098-B0FC-73570C9CD1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1296B5-4E9E-4963-A364-77FCE1360D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37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latin typeface="+mn-lt"/>
              </a:defRPr>
            </a:lvl1pPr>
          </a:lstStyle>
          <a:p>
            <a:pPr>
              <a:defRPr/>
            </a:pPr>
            <a:fld id="{A660CA4A-5A03-435B-9C6C-B844472819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CCE10-F32B-6D9D-8CBC-3990A3564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743200"/>
            <a:ext cx="8229600" cy="1143000"/>
          </a:xfrm>
        </p:spPr>
        <p:txBody>
          <a:bodyPr/>
          <a:lstStyle/>
          <a:p>
            <a:r>
              <a:rPr lang="en-IN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Pre-processor</a:t>
            </a:r>
          </a:p>
        </p:txBody>
      </p:sp>
    </p:spTree>
    <p:extLst>
      <p:ext uri="{BB962C8B-B14F-4D97-AF65-F5344CB8AC3E}">
        <p14:creationId xmlns:p14="http://schemas.microsoft.com/office/powerpoint/2010/main" val="344852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EBA27-0238-B6E1-948D-461D47D98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B5C93-5049-36AB-E4E2-EAD463C2C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983162"/>
          </a:xfrm>
        </p:spPr>
        <p:txBody>
          <a:bodyPr/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stage of compilation, in multistage compilation.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program that processes our source program before it is passed to the next stage i.e. Translator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 on the source code and creates “expanded source code”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/p is ‘C’ text file, o/p also C text file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is also known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pure-c-code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to compile program up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stage is </a:t>
            </a:r>
          </a:p>
          <a:p>
            <a:pPr lvl="1" algn="just"/>
            <a:r>
              <a:rPr lang="en-IN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–E </a:t>
            </a:r>
            <a:r>
              <a:rPr lang="en-IN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filename.c</a:t>
            </a:r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–o </a:t>
            </a:r>
            <a:r>
              <a:rPr lang="en-IN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filename.i</a:t>
            </a:r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</a:t>
            </a:r>
          </a:p>
          <a:p>
            <a:pPr lvl="1" algn="just"/>
            <a:endParaRPr lang="en-IN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</a:t>
            </a:r>
            <a:r>
              <a:rPr lang="en-IN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prog.c</a:t>
            </a:r>
            <a:endParaRPr lang="en-IN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IN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IN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</a:t>
            </a:r>
          </a:p>
          <a:p>
            <a:pPr marL="457200" lvl="1" indent="0" algn="just">
              <a:buNone/>
            </a:pPr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</a:t>
            </a:r>
            <a:r>
              <a:rPr lang="en-IN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prog.i</a:t>
            </a:r>
            <a:endParaRPr lang="en-IN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48A6EA-A603-B27B-B55D-2081E33DEBEF}"/>
              </a:ext>
            </a:extLst>
          </p:cNvPr>
          <p:cNvSpPr/>
          <p:nvPr/>
        </p:nvSpPr>
        <p:spPr>
          <a:xfrm>
            <a:off x="3276600" y="5257800"/>
            <a:ext cx="1447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</a:rPr>
              <a:t>Pre-processor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95B99AF3-EDD4-BE54-1B93-EC4C1C9819CB}"/>
              </a:ext>
            </a:extLst>
          </p:cNvPr>
          <p:cNvSpPr/>
          <p:nvPr/>
        </p:nvSpPr>
        <p:spPr>
          <a:xfrm>
            <a:off x="3886200" y="4800600"/>
            <a:ext cx="228600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212DFFD8-DCA1-2B60-BB06-BB2ABDFF3798}"/>
              </a:ext>
            </a:extLst>
          </p:cNvPr>
          <p:cNvSpPr/>
          <p:nvPr/>
        </p:nvSpPr>
        <p:spPr>
          <a:xfrm>
            <a:off x="3886200" y="5791200"/>
            <a:ext cx="228600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99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FB462-3AE5-77E6-C6A7-96663585C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21CB7-19C1-21C0-5E4A-856D94B09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 of Preprocessor 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Each preprocessor directives starts with </a:t>
            </a:r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'#'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There should be one preprocessor directive for one line.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To extend preprocessor into multiple lines, then use (</a:t>
            </a:r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'\'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at end.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The preprocessor directives doesn't end with semicolon (</a:t>
            </a:r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';'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Some of the preprocessor directive are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#define, #include, #if, #else, #elif, #endif, #undef,#pragma, #ifdef, #ifndef.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100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07E69-9F59-7AE7-BC3D-F911DFE35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7CC64-E640-FC48-1086-A24E9B07C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Operations of Preprocessor 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Following operations are performed by preprocessors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File Inclusions.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Removal of comments.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Macros substitutions.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Conditional compilation.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59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3B11E-8374-1A0B-D293-820F02387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FF99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header file inclusion</a:t>
            </a:r>
            <a:endParaRPr lang="en-IN" b="1" dirty="0">
              <a:solidFill>
                <a:srgbClr val="FF99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38B5F-DA7F-5244-A557-13BCCAD16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 the header files is in 2 ways.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FF33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#include&lt; &gt;				#include “ “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rgbClr val="FF33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#include&lt; &gt;:</a:t>
            </a:r>
          </a:p>
          <a:p>
            <a:pPr marL="0" indent="0" algn="just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Here, the pre-processor searches for header files in a predefined path i.e. /</a:t>
            </a:r>
            <a:r>
              <a:rPr lang="en-US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/include/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rgbClr val="FF33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#include “ “:</a:t>
            </a:r>
          </a:p>
          <a:p>
            <a:pPr marL="0" indent="0" algn="just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Here, the pre-processor searches the header file in a present working directory, if it is not found then it searches predefined path /</a:t>
            </a:r>
            <a:r>
              <a:rPr lang="en-US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/include/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header file inclusion must?</a:t>
            </a: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501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8D00A-5264-126D-35B6-05E7634F6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E1B81F-D4B7-5166-C82C-5FD48FAD89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763" y="1524000"/>
            <a:ext cx="8229600" cy="4754562"/>
          </a:xfrm>
        </p:spPr>
      </p:pic>
    </p:spTree>
    <p:extLst>
      <p:ext uri="{BB962C8B-B14F-4D97-AF65-F5344CB8AC3E}">
        <p14:creationId xmlns:p14="http://schemas.microsoft.com/office/powerpoint/2010/main" val="1612401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91A7-5C3A-CA63-013A-0131BB90A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9B59F-F426-F9E2-B682-8A3783848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preprocessor directive is used </a:t>
            </a:r>
            <a:r>
              <a:rPr lang="en-US" sz="2400" b="1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define constant or macro </a:t>
            </a:r>
            <a:r>
              <a:rPr lang="en-US" sz="2400" b="1" i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substitution</a:t>
            </a:r>
            <a:r>
              <a:rPr lang="en-US" sz="2400" b="0" i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0" i="0" dirty="0">
              <a:solidFill>
                <a:srgbClr val="20212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solidFill>
                <a:srgbClr val="2021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Syntax: 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en-US" sz="2400" b="1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macro_name</a:t>
            </a:r>
            <a:r>
              <a:rPr lang="en-US" sz="2400" b="1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macro_expansion</a:t>
            </a:r>
            <a:endParaRPr lang="en-US" sz="2400" b="1" dirty="0">
              <a:solidFill>
                <a:srgbClr val="2021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b="1" dirty="0">
              <a:solidFill>
                <a:srgbClr val="2021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Macros may use in place of functions</a:t>
            </a:r>
          </a:p>
          <a:p>
            <a:pPr lvl="1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small codes</a:t>
            </a:r>
          </a:p>
          <a:p>
            <a:pPr lvl="1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using recursion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959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01D43-B396-6B9D-CB0C-7EBAF190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45C5E-58B9-53B4-7567-DF0C11AF8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Macros?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Looks like function, but replaces code (execution time less)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Looks like variable, behaves as constant 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Pre-processors arrangement makes application executes faster</a:t>
            </a:r>
          </a:p>
        </p:txBody>
      </p:sp>
    </p:spTree>
    <p:extLst>
      <p:ext uri="{BB962C8B-B14F-4D97-AF65-F5344CB8AC3E}">
        <p14:creationId xmlns:p14="http://schemas.microsoft.com/office/powerpoint/2010/main" val="3577204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9B8A1-77F3-913B-8233-F091DBA6D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Pre-defined Macros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0FDF4-FD09-3645-2A3F-848E8A14E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nt main()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("line no : %d\</a:t>
            </a:r>
            <a:r>
              <a:rPr lang="en-IN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n",__LINE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__); //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current line number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("file name : %s\</a:t>
            </a:r>
            <a:r>
              <a:rPr lang="en-IN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n",__FILE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__); //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current file name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("time : %s\</a:t>
            </a:r>
            <a:r>
              <a:rPr lang="en-IN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n",__TIME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__); //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compile time in "HH:MM:SS" format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("date : %s\</a:t>
            </a:r>
            <a:r>
              <a:rPr lang="en-IN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n",__DATE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__); //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compile date in "MMM DD YYYY" format</a:t>
            </a:r>
          </a:p>
          <a:p>
            <a:pPr marL="0" indent="0">
              <a:buNone/>
            </a:pPr>
            <a:r>
              <a:rPr lang="en-IN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("%d\n",(int)NULL);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("%d\</a:t>
            </a:r>
            <a:r>
              <a:rPr lang="en-IN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n",EOF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891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13FE-2F5E-3948-C4D2-55D8004FF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defined macros without arguments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1178F-C1D3-905A-BBF7-895C48ED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419600" cy="4525963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TRUE 1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FALSE 0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PI 3.14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MAX 100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MIN 0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AGE 50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AND &amp;&amp;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OR ||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superloop_starts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while(1)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PRINT_ERROR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(“Error”);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NEW_LINE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(“\n”);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8D8419-8C0F-1DB4-1041-F6BC70BD59A1}"/>
              </a:ext>
            </a:extLst>
          </p:cNvPr>
          <p:cNvSpPr txBox="1"/>
          <p:nvPr/>
        </p:nvSpPr>
        <p:spPr>
          <a:xfrm>
            <a:off x="5562600" y="1600200"/>
            <a:ext cx="2895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LED_AH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LED_AL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SW1_AH 10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SW2_AL 1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LCD_DATA P0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225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FE76E-9015-1ABC-FB15-45CA3A7F8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defined macros without arguments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A0930-28FA-1656-22AD-9ADB8D221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macro without body allowed?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Yes. It is possible to define macro with out any macro expansion/body.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TEST</a:t>
            </a: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use of macro without body?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conditional compilation.</a:t>
            </a:r>
          </a:p>
          <a:p>
            <a:pPr marL="400050" lvl="1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#ifdef</a:t>
            </a:r>
          </a:p>
          <a:p>
            <a:pPr marL="400050" lvl="1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#else</a:t>
            </a:r>
          </a:p>
          <a:p>
            <a:pPr marL="400050" lvl="1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#endif</a:t>
            </a:r>
          </a:p>
          <a:p>
            <a:pPr marL="400050" lvl="1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#if</a:t>
            </a:r>
          </a:p>
          <a:p>
            <a:pPr marL="400050" lvl="1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#elif</a:t>
            </a:r>
          </a:p>
          <a:p>
            <a:pPr marL="400050" lvl="1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#ifndef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67147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F89F1-E580-C9F8-C582-F0159FB3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defined macros with arguments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DE622-FD83-4261-B481-4D7B72B6B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SUM(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MAX(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((x)&gt;(y) ? (x) : (y))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MIN(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((x)&lt;(y) ? (x) : (y))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SQUARE(x) ((x)*(x))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ISUPPER(x) (x&gt;=65 &amp;&amp; x&lt;=90)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ISLOWER(x) (x&gt;=97 &amp;&amp; x&lt;=122)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PRINT_NEWLINES(n) {int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for(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=0;i&lt;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(“\n”); }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112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5AB01-773F-2C7D-9557-4B6946F3A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defined macros with arguments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0CD90-5404-B8C6-B978-E702F950D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SETBIT(DATA,BITPOS) (DATA |= 1&lt;&lt;BITPOS)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CLRBIT(DATA,BITPOS) (DATA &amp;= ~(1&lt;&lt;BITPOS))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CPLBIT(DATA,BITPOS) (DATA ^= 1&lt;&lt;BITPOS)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TESTBIT (DATA,BITPOS)  ((DATA&gt;&gt;BITPOS)&amp;1)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equivalent of given integer: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bitpos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=31;bitpos&gt;=0;bitpos--)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(“%d ”,(data&gt;&gt;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bitpos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)&amp;1);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bitpos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=31;bitpos&gt;=0;bitpos--)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(“%d ”,TESTBIT(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data,bitpos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1948F1-ECB1-53B2-DD35-B5F47D29BD7E}"/>
              </a:ext>
            </a:extLst>
          </p:cNvPr>
          <p:cNvSpPr txBox="1"/>
          <p:nvPr/>
        </p:nvSpPr>
        <p:spPr>
          <a:xfrm>
            <a:off x="4585996" y="3810000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testbit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data,int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bitpos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((data&gt;&gt;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bitpos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)&amp;1);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bitpos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=31;bitpos&gt;=0;bitpos--)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(“%d ”,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testbit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data,bitpos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506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269FF-913F-FF6B-981F-8EE2CEDF6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to be noted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E8C5D-3DFA-CF77-0BC3-9D0FCC760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If macro is accepting arguments, it is better to put parentheses around entire macro expansion and also around each argument.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No space between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macro_name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left parenthesis.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 Macro expansion starts from the left parenthesis.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Don’t try to write recursive macros.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 if macro name appears inside its own expansion, then it is not expanded.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#define FACT(x) x==0 ? 1 : FACT(x-1)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If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macro_name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appears inside a character constant, string constant or a comment then it is not replaced …. Left as it is.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#define Hello 2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#define World! 3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(“Hello World!”);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796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68E2-3FA4-B6CF-26F4-6325CCBEF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 vs Function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F3FC0-AFF4-A17C-C453-C4630F919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886201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#include&lt;stdio.h&gt;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SQUARE(x) ((x)*(x))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k=5,s;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s=SQUARE(k++);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(“s=%d k=%d\n”,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0;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SQUARE(k++) … is expanded as ((k++)*(k++))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s=30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k=7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A4A5E2-6B3D-8A05-F9E7-F855EE946202}"/>
              </a:ext>
            </a:extLst>
          </p:cNvPr>
          <p:cNvSpPr txBox="1"/>
          <p:nvPr/>
        </p:nvSpPr>
        <p:spPr>
          <a:xfrm>
            <a:off x="4800600" y="1600200"/>
            <a:ext cx="40386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#include&lt;stdio.h&gt;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SQUARE(int x)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(x*x);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k=5,s;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s=SQUARE(k++);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(“s=%d k=%d\n”,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0;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s=25 k=6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32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32C2E-A1C8-6F0A-5B28-72A258784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Nested Macros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87A8A-303B-91FB-0DE0-AF5E3F9D0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#include&lt;stdio.h&gt;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SQUARE(x) ((x)*(x))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CUBE(x) (SQUARE(x)*x)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a=10;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(“%d %d\n”, SQUARE(a),CUBE(a));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0;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PI 3.14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PISQUARE PI*PI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238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C9734-FE65-3DCE-9432-8DA347AD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13BCF-EC94-9626-7358-3B753836B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 vs Variable</a:t>
            </a:r>
          </a:p>
          <a:p>
            <a:pPr marL="0" indent="0">
              <a:buNone/>
            </a:pP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638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B5277-28CB-2666-76B0-C3234594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Compilation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8DA52-FB3D-FF7A-8DE7-E2067DAB1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Compilation of a part of code based on condition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 are checked during the pre-processing phase.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Directives used: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#ifdef, #ifndef, #if, #else, #elif, #endif, #undef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Every #if directive should end with #endif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457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D84E5-20D0-224C-DBE4-F723B9027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Compilation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E02A4-F4C6-4AB7-070E-AEB15C14B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124200" cy="4525963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#if </a:t>
            </a:r>
            <a:r>
              <a:rPr lang="en-I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constant-expression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statements / logic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#endif</a:t>
            </a:r>
          </a:p>
          <a:p>
            <a:pPr marL="0" indent="0">
              <a:buNone/>
            </a:pPr>
            <a:endParaRPr lang="en-IN" sz="20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#if </a:t>
            </a:r>
            <a:r>
              <a:rPr lang="en-I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constant-expression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statements / logic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#else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statements / logic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#endif</a:t>
            </a:r>
          </a:p>
          <a:p>
            <a:pPr marL="0" indent="0">
              <a:buNone/>
            </a:pPr>
            <a:endParaRPr lang="en-IN" sz="20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82552-F072-6750-FECB-A2144186F7A2}"/>
              </a:ext>
            </a:extLst>
          </p:cNvPr>
          <p:cNvSpPr txBox="1"/>
          <p:nvPr/>
        </p:nvSpPr>
        <p:spPr>
          <a:xfrm>
            <a:off x="5257800" y="1981200"/>
            <a:ext cx="3276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#if </a:t>
            </a:r>
            <a:r>
              <a:rPr lang="en-I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constant-expression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statements / logic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#elif </a:t>
            </a:r>
            <a:r>
              <a:rPr lang="en-I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constant-expression</a:t>
            </a:r>
            <a:endParaRPr lang="en-IN" sz="20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statements / logic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#elif </a:t>
            </a:r>
            <a:r>
              <a:rPr lang="en-I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constant-expression</a:t>
            </a:r>
            <a:endParaRPr lang="en-IN" sz="20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statements / logic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#else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statements / logic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#endif</a:t>
            </a:r>
          </a:p>
        </p:txBody>
      </p:sp>
    </p:spTree>
    <p:extLst>
      <p:ext uri="{BB962C8B-B14F-4D97-AF65-F5344CB8AC3E}">
        <p14:creationId xmlns:p14="http://schemas.microsoft.com/office/powerpoint/2010/main" val="197724834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8774</TotalTime>
  <Words>1442</Words>
  <Application>Microsoft Office PowerPoint</Application>
  <PresentationFormat>On-screen Show (4:3)</PresentationFormat>
  <Paragraphs>195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Tahoma</vt:lpstr>
      <vt:lpstr>Times New Roman</vt:lpstr>
      <vt:lpstr>Wingdings</vt:lpstr>
      <vt:lpstr>Default Design</vt:lpstr>
      <vt:lpstr>Pre-processor</vt:lpstr>
      <vt:lpstr>Pre-processor</vt:lpstr>
      <vt:lpstr>Pre-processor</vt:lpstr>
      <vt:lpstr>Pre-processor</vt:lpstr>
      <vt:lpstr>header file inclusion</vt:lpstr>
      <vt:lpstr>Macros</vt:lpstr>
      <vt:lpstr>Macros</vt:lpstr>
      <vt:lpstr>Macros</vt:lpstr>
      <vt:lpstr>Pre-defined Macros</vt:lpstr>
      <vt:lpstr>User defined macros without arguments</vt:lpstr>
      <vt:lpstr>User defined macros without arguments</vt:lpstr>
      <vt:lpstr>User defined macros with arguments</vt:lpstr>
      <vt:lpstr>User defined macros with arguments</vt:lpstr>
      <vt:lpstr>Points to be noted</vt:lpstr>
      <vt:lpstr>Macro vs Function</vt:lpstr>
      <vt:lpstr>Nested Macros</vt:lpstr>
      <vt:lpstr>Macros</vt:lpstr>
      <vt:lpstr>Conditional Compilation</vt:lpstr>
      <vt:lpstr>Conditional Compilation</vt:lpstr>
    </vt:vector>
  </TitlesOfParts>
  <Company>eclaimonline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 S R A Raju</dc:creator>
  <cp:lastModifiedBy>Chandramouli</cp:lastModifiedBy>
  <cp:revision>902</cp:revision>
  <dcterms:created xsi:type="dcterms:W3CDTF">2006-01-11T14:24:03Z</dcterms:created>
  <dcterms:modified xsi:type="dcterms:W3CDTF">2023-08-30T07:16:50Z</dcterms:modified>
</cp:coreProperties>
</file>