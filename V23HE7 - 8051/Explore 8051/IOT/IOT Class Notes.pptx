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6" r:id="rId2"/>
    <p:sldId id="329" r:id="rId3"/>
    <p:sldId id="257" r:id="rId4"/>
    <p:sldId id="265" r:id="rId5"/>
    <p:sldId id="268" r:id="rId6"/>
    <p:sldId id="267" r:id="rId7"/>
    <p:sldId id="266" r:id="rId8"/>
    <p:sldId id="264" r:id="rId9"/>
    <p:sldId id="293" r:id="rId10"/>
    <p:sldId id="272" r:id="rId11"/>
    <p:sldId id="276" r:id="rId12"/>
    <p:sldId id="275" r:id="rId13"/>
    <p:sldId id="277" r:id="rId14"/>
    <p:sldId id="278" r:id="rId15"/>
    <p:sldId id="274" r:id="rId16"/>
    <p:sldId id="280" r:id="rId17"/>
    <p:sldId id="309" r:id="rId18"/>
    <p:sldId id="271" r:id="rId19"/>
    <p:sldId id="263" r:id="rId20"/>
    <p:sldId id="292" r:id="rId21"/>
    <p:sldId id="269" r:id="rId22"/>
    <p:sldId id="270" r:id="rId23"/>
    <p:sldId id="262" r:id="rId24"/>
    <p:sldId id="261" r:id="rId25"/>
    <p:sldId id="291" r:id="rId26"/>
    <p:sldId id="326" r:id="rId27"/>
    <p:sldId id="327" r:id="rId28"/>
    <p:sldId id="290" r:id="rId29"/>
    <p:sldId id="260" r:id="rId30"/>
    <p:sldId id="281" r:id="rId31"/>
    <p:sldId id="328" r:id="rId32"/>
    <p:sldId id="259" r:id="rId33"/>
    <p:sldId id="258" r:id="rId34"/>
    <p:sldId id="282" r:id="rId35"/>
    <p:sldId id="285" r:id="rId36"/>
    <p:sldId id="284" r:id="rId37"/>
    <p:sldId id="283" r:id="rId38"/>
    <p:sldId id="289" r:id="rId39"/>
    <p:sldId id="308" r:id="rId40"/>
    <p:sldId id="288" r:id="rId41"/>
    <p:sldId id="314" r:id="rId42"/>
    <p:sldId id="286" r:id="rId43"/>
    <p:sldId id="287" r:id="rId44"/>
    <p:sldId id="297" r:id="rId45"/>
    <p:sldId id="296" r:id="rId46"/>
    <p:sldId id="295" r:id="rId47"/>
    <p:sldId id="294" r:id="rId48"/>
    <p:sldId id="298" r:id="rId49"/>
    <p:sldId id="300" r:id="rId50"/>
    <p:sldId id="299" r:id="rId51"/>
    <p:sldId id="302" r:id="rId52"/>
    <p:sldId id="301" r:id="rId53"/>
    <p:sldId id="303" r:id="rId54"/>
    <p:sldId id="305" r:id="rId55"/>
    <p:sldId id="304" r:id="rId56"/>
    <p:sldId id="306" r:id="rId57"/>
    <p:sldId id="307" r:id="rId58"/>
    <p:sldId id="313" r:id="rId59"/>
    <p:sldId id="312" r:id="rId60"/>
    <p:sldId id="311" r:id="rId61"/>
    <p:sldId id="317" r:id="rId62"/>
    <p:sldId id="310" r:id="rId63"/>
    <p:sldId id="316" r:id="rId64"/>
    <p:sldId id="315" r:id="rId65"/>
    <p:sldId id="319" r:id="rId66"/>
    <p:sldId id="318" r:id="rId67"/>
    <p:sldId id="320" r:id="rId68"/>
    <p:sldId id="322" r:id="rId69"/>
    <p:sldId id="321" r:id="rId70"/>
    <p:sldId id="324" r:id="rId71"/>
    <p:sldId id="323"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67" autoAdjust="0"/>
    <p:restoredTop sz="95256" autoAdjust="0"/>
  </p:normalViewPr>
  <p:slideViewPr>
    <p:cSldViewPr snapToGrid="0">
      <p:cViewPr>
        <p:scale>
          <a:sx n="94" d="100"/>
          <a:sy n="94" d="100"/>
        </p:scale>
        <p:origin x="10" y="-13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28156B-71F2-4BA2-A704-E17CBC46DFC8}" type="datetimeFigureOut">
              <a:rPr lang="en-IN" smtClean="0"/>
              <a:t>10-01-2024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CE255-4E0B-4810-81A9-C79CF9C40338}" type="slidenum">
              <a:rPr lang="en-IN" smtClean="0"/>
              <a:t>‹#›</a:t>
            </a:fld>
            <a:endParaRPr lang="en-IN"/>
          </a:p>
        </p:txBody>
      </p:sp>
    </p:spTree>
    <p:extLst>
      <p:ext uri="{BB962C8B-B14F-4D97-AF65-F5344CB8AC3E}">
        <p14:creationId xmlns:p14="http://schemas.microsoft.com/office/powerpoint/2010/main" val="1160021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BCE255-4E0B-4810-81A9-C79CF9C40338}" type="slidenum">
              <a:rPr lang="en-IN" smtClean="0"/>
              <a:t>1</a:t>
            </a:fld>
            <a:endParaRPr lang="en-IN"/>
          </a:p>
        </p:txBody>
      </p:sp>
    </p:spTree>
    <p:extLst>
      <p:ext uri="{BB962C8B-B14F-4D97-AF65-F5344CB8AC3E}">
        <p14:creationId xmlns:p14="http://schemas.microsoft.com/office/powerpoint/2010/main" val="4161403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6BCE255-4E0B-4810-81A9-C79CF9C40338}" type="slidenum">
              <a:rPr lang="en-IN" smtClean="0"/>
              <a:t>2</a:t>
            </a:fld>
            <a:endParaRPr lang="en-IN"/>
          </a:p>
        </p:txBody>
      </p:sp>
    </p:spTree>
    <p:extLst>
      <p:ext uri="{BB962C8B-B14F-4D97-AF65-F5344CB8AC3E}">
        <p14:creationId xmlns:p14="http://schemas.microsoft.com/office/powerpoint/2010/main" val="2923587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57BC-C8A1-7E3E-2A33-E8AEA52A38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45FBC3-D39B-60A8-8CF9-3B10D46C5C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C67075-848D-E151-250B-A12EB9B49DDA}"/>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5" name="Footer Placeholder 4">
            <a:extLst>
              <a:ext uri="{FF2B5EF4-FFF2-40B4-BE49-F238E27FC236}">
                <a16:creationId xmlns:a16="http://schemas.microsoft.com/office/drawing/2014/main" id="{0147F928-4ABD-C150-D0D7-77B000CC36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BB158-ABAE-92A4-ACA3-D76384393AC4}"/>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1845725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BCD6A-0F9F-9EB2-1932-4C58BE55D3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940B04-BCDC-5C6A-1F8F-A033F1B433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8417F1-7CA3-E10E-681A-B2B2330E2588}"/>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5" name="Footer Placeholder 4">
            <a:extLst>
              <a:ext uri="{FF2B5EF4-FFF2-40B4-BE49-F238E27FC236}">
                <a16:creationId xmlns:a16="http://schemas.microsoft.com/office/drawing/2014/main" id="{50E0D1DB-625B-C94A-BAC8-7F12B11BC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3C117-8783-E929-2899-1AC09B1E773E}"/>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35887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0AE69-A69C-9E41-368C-16FDCFD0C4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80718B-F9B2-A875-6A8A-2CB964A30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BED4C6-4942-7BDF-7283-AB390C34B445}"/>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5" name="Footer Placeholder 4">
            <a:extLst>
              <a:ext uri="{FF2B5EF4-FFF2-40B4-BE49-F238E27FC236}">
                <a16:creationId xmlns:a16="http://schemas.microsoft.com/office/drawing/2014/main" id="{5626AB8C-DA65-0316-AC35-CBF5D6370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D5F768-2116-3028-CCD9-DC3F8FD8C80A}"/>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1507501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B0EF0-16F0-5F08-E79C-3A0D8F49CA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E4CDDB-522B-5874-6D47-5E33C5237D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C2703B-CF89-9ECA-9FCD-9EEC71BE87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4264A8-ECD7-FB30-64B2-3C2145B77354}"/>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6" name="Footer Placeholder 5">
            <a:extLst>
              <a:ext uri="{FF2B5EF4-FFF2-40B4-BE49-F238E27FC236}">
                <a16:creationId xmlns:a16="http://schemas.microsoft.com/office/drawing/2014/main" id="{51893512-48CF-6008-647A-3A6657FC2F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EC615E-18ED-1648-55A9-F3A59D5005F2}"/>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2131442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055F-256D-8EC7-26F8-D665B298F1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195E3D-4BC7-FCA0-55FE-292A0CBD08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750391-0755-A8F7-42EF-103C57DB48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761FA3-F56C-FB97-8AFF-82C498603F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B0C271-0F6B-A466-1851-524FE935C9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C0F22B-D5A3-0593-AD17-95E05292F2E6}"/>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8" name="Footer Placeholder 7">
            <a:extLst>
              <a:ext uri="{FF2B5EF4-FFF2-40B4-BE49-F238E27FC236}">
                <a16:creationId xmlns:a16="http://schemas.microsoft.com/office/drawing/2014/main" id="{86939BD9-51E0-C393-0AE4-C9A3A455E9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68E07A-195D-8A49-FC43-7765FEA6F12D}"/>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4174413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48A80-1846-8F85-A80E-BB5335A262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5A285D-B97D-6EA2-C02F-2731C45547B9}"/>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4" name="Footer Placeholder 3">
            <a:extLst>
              <a:ext uri="{FF2B5EF4-FFF2-40B4-BE49-F238E27FC236}">
                <a16:creationId xmlns:a16="http://schemas.microsoft.com/office/drawing/2014/main" id="{9E7EF472-8B27-B424-3B59-844620AC79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743792-3EBC-05B6-1444-8FFC784914F3}"/>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2068940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11E892-A465-2CDA-45CB-8DBA7BC47C25}"/>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3" name="Footer Placeholder 2">
            <a:extLst>
              <a:ext uri="{FF2B5EF4-FFF2-40B4-BE49-F238E27FC236}">
                <a16:creationId xmlns:a16="http://schemas.microsoft.com/office/drawing/2014/main" id="{174CED75-FC1D-E773-4C11-BF98DB7B2F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92A029-70CB-13CD-33DA-CC9F8B52F0DB}"/>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220403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7E6F8-00F9-8777-5AC3-2AF116B547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40743E-2979-69E1-CE89-062AF1EF01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5836BD-1A8F-BA38-B489-853B9F225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042155-4234-98CB-DD86-2D5E34185463}"/>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6" name="Footer Placeholder 5">
            <a:extLst>
              <a:ext uri="{FF2B5EF4-FFF2-40B4-BE49-F238E27FC236}">
                <a16:creationId xmlns:a16="http://schemas.microsoft.com/office/drawing/2014/main" id="{6B572357-108E-A950-7588-8DD03A0496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DA3FCF-7C7A-4F9B-2857-6B26A415DE23}"/>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2218912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D13DA-E33E-4B66-6B37-C743DA9B04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D42BED-1501-30CE-2499-25AE5FF6A6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507DB0-1858-4260-C5ED-1C047F32A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36B917-4AB7-C9A2-F19C-A19DA7510354}"/>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6" name="Footer Placeholder 5">
            <a:extLst>
              <a:ext uri="{FF2B5EF4-FFF2-40B4-BE49-F238E27FC236}">
                <a16:creationId xmlns:a16="http://schemas.microsoft.com/office/drawing/2014/main" id="{80605230-2B51-6F26-ECC5-E242B3D557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D337EE-9106-8BAF-456E-F2CE6D4A68D2}"/>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1483871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CBB3B-A098-C50F-7D8C-7295988823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BDEDDA-C575-85A1-BEA9-8F3101D23C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0E015-1423-15B8-9566-7368BB1C3743}"/>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5" name="Footer Placeholder 4">
            <a:extLst>
              <a:ext uri="{FF2B5EF4-FFF2-40B4-BE49-F238E27FC236}">
                <a16:creationId xmlns:a16="http://schemas.microsoft.com/office/drawing/2014/main" id="{6C2314B4-1E72-55F1-BD70-37B7FBF647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C3CA43-D560-9675-F740-D79B9AF0AD03}"/>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226483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18D890-D9ED-D0C0-E05E-1BEAC98847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9A89E7-BEFD-D11E-93E4-F3F6A04B71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2D4E5-D801-D98D-B615-8FE59D46FF3A}"/>
              </a:ext>
            </a:extLst>
          </p:cNvPr>
          <p:cNvSpPr>
            <a:spLocks noGrp="1"/>
          </p:cNvSpPr>
          <p:nvPr>
            <p:ph type="dt" sz="half" idx="10"/>
          </p:nvPr>
        </p:nvSpPr>
        <p:spPr/>
        <p:txBody>
          <a:bodyPr/>
          <a:lstStyle/>
          <a:p>
            <a:fld id="{B77AFE21-FEA6-4DE3-9389-BBD34A185C0E}" type="datetimeFigureOut">
              <a:rPr lang="en-US" smtClean="0"/>
              <a:t>1/10/2024</a:t>
            </a:fld>
            <a:endParaRPr lang="en-US"/>
          </a:p>
        </p:txBody>
      </p:sp>
      <p:sp>
        <p:nvSpPr>
          <p:cNvPr id="5" name="Footer Placeholder 4">
            <a:extLst>
              <a:ext uri="{FF2B5EF4-FFF2-40B4-BE49-F238E27FC236}">
                <a16:creationId xmlns:a16="http://schemas.microsoft.com/office/drawing/2014/main" id="{FEFA52CF-ABC9-2A6E-5973-52E4024649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C20C53-7914-71B7-8C6F-FE26E15C5A2F}"/>
              </a:ext>
            </a:extLst>
          </p:cNvPr>
          <p:cNvSpPr>
            <a:spLocks noGrp="1"/>
          </p:cNvSpPr>
          <p:nvPr>
            <p:ph type="sldNum" sz="quarter" idx="12"/>
          </p:nvPr>
        </p:nvSpPr>
        <p:spPr/>
        <p:txBody>
          <a:bodyPr/>
          <a:lstStyle/>
          <a:p>
            <a:fld id="{C4AF01B7-9F73-4030-BA00-830C6DE8E31E}" type="slidenum">
              <a:rPr lang="en-US" smtClean="0"/>
              <a:t>‹#›</a:t>
            </a:fld>
            <a:endParaRPr lang="en-US"/>
          </a:p>
        </p:txBody>
      </p:sp>
    </p:spTree>
    <p:extLst>
      <p:ext uri="{BB962C8B-B14F-4D97-AF65-F5344CB8AC3E}">
        <p14:creationId xmlns:p14="http://schemas.microsoft.com/office/powerpoint/2010/main" val="3533060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155428-3A85-EFF4-6F4A-CC0E033C6A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A8944B-1FC9-42AB-43D8-4978D466F5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EE8A7-6754-F2D1-03EC-2736B8E1F0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7AFE21-FEA6-4DE3-9389-BBD34A185C0E}" type="datetimeFigureOut">
              <a:rPr lang="en-US" smtClean="0"/>
              <a:t>1/10/2024</a:t>
            </a:fld>
            <a:endParaRPr lang="en-US"/>
          </a:p>
        </p:txBody>
      </p:sp>
      <p:sp>
        <p:nvSpPr>
          <p:cNvPr id="5" name="Footer Placeholder 4">
            <a:extLst>
              <a:ext uri="{FF2B5EF4-FFF2-40B4-BE49-F238E27FC236}">
                <a16:creationId xmlns:a16="http://schemas.microsoft.com/office/drawing/2014/main" id="{F0D801E1-640D-4D50-CEBC-E86BC21F56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E54F02F-657F-FE41-0063-489716F1B9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AF01B7-9F73-4030-BA00-830C6DE8E31E}" type="slidenum">
              <a:rPr lang="en-US" smtClean="0"/>
              <a:t>‹#›</a:t>
            </a:fld>
            <a:endParaRPr lang="en-US"/>
          </a:p>
        </p:txBody>
      </p:sp>
    </p:spTree>
    <p:extLst>
      <p:ext uri="{BB962C8B-B14F-4D97-AF65-F5344CB8AC3E}">
        <p14:creationId xmlns:p14="http://schemas.microsoft.com/office/powerpoint/2010/main" val="1643672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A02AA4DA-8222-F00B-149C-E7F86076EF47}"/>
              </a:ext>
            </a:extLst>
          </p:cNvPr>
          <p:cNvSpPr txBox="1"/>
          <p:nvPr/>
        </p:nvSpPr>
        <p:spPr>
          <a:xfrm>
            <a:off x="2297467" y="2700576"/>
            <a:ext cx="7597066" cy="1938992"/>
          </a:xfrm>
          <a:prstGeom prst="rect">
            <a:avLst/>
          </a:prstGeom>
          <a:noFill/>
        </p:spPr>
        <p:txBody>
          <a:bodyPr wrap="square">
            <a:spAutoFit/>
          </a:bodyPr>
          <a:lstStyle/>
          <a:p>
            <a:pPr algn="ctr"/>
            <a:r>
              <a:rPr lang="en-IN" sz="6000" b="1" dirty="0">
                <a:solidFill>
                  <a:srgbClr val="C00000"/>
                </a:solidFill>
                <a:latin typeface="Times New Roman" panose="02020603050405020304" pitchFamily="18" charset="0"/>
                <a:cs typeface="Times New Roman" panose="02020603050405020304" pitchFamily="18" charset="0"/>
              </a:rPr>
              <a:t>IoT</a:t>
            </a:r>
          </a:p>
          <a:p>
            <a:pPr algn="ctr"/>
            <a:r>
              <a:rPr lang="en-IN" sz="6000" b="1" dirty="0">
                <a:solidFill>
                  <a:srgbClr val="C00000"/>
                </a:solidFill>
                <a:latin typeface="Times New Roman" panose="02020603050405020304" pitchFamily="18" charset="0"/>
                <a:cs typeface="Times New Roman" panose="02020603050405020304" pitchFamily="18" charset="0"/>
              </a:rPr>
              <a:t>(Internet Of Things)</a:t>
            </a:r>
            <a:endParaRPr lang="en-IN" sz="6000" dirty="0">
              <a:solidFill>
                <a:srgbClr val="C00000"/>
              </a:solidFill>
            </a:endParaRPr>
          </a:p>
        </p:txBody>
      </p:sp>
    </p:spTree>
    <p:extLst>
      <p:ext uri="{BB962C8B-B14F-4D97-AF65-F5344CB8AC3E}">
        <p14:creationId xmlns:p14="http://schemas.microsoft.com/office/powerpoint/2010/main" val="766253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A02AA4DA-8222-F00B-149C-E7F86076EF47}"/>
              </a:ext>
            </a:extLst>
          </p:cNvPr>
          <p:cNvSpPr txBox="1"/>
          <p:nvPr/>
        </p:nvSpPr>
        <p:spPr>
          <a:xfrm>
            <a:off x="1048331" y="1443841"/>
            <a:ext cx="9393789" cy="397031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What is IoT?</a:t>
            </a:r>
          </a:p>
          <a:p>
            <a:r>
              <a:rPr lang="en-US" b="1" i="0" dirty="0">
                <a:effectLst/>
                <a:latin typeface="Times New Roman" panose="02020603050405020304" pitchFamily="18" charset="0"/>
                <a:cs typeface="Times New Roman" panose="02020603050405020304" pitchFamily="18" charset="0"/>
              </a:rPr>
              <a:t>How does the IoT (Internet of Things) affect our everyday lives?</a:t>
            </a:r>
          </a:p>
          <a:p>
            <a:r>
              <a:rPr lang="en-IN" b="1" dirty="0">
                <a:latin typeface="Times New Roman" panose="02020603050405020304" pitchFamily="18" charset="0"/>
                <a:cs typeface="Times New Roman" panose="02020603050405020304" pitchFamily="18" charset="0"/>
              </a:rPr>
              <a:t>What are the benefits of IoT?</a:t>
            </a:r>
          </a:p>
          <a:p>
            <a:r>
              <a:rPr lang="en-IN" b="1" kern="0" dirty="0">
                <a:effectLst/>
                <a:latin typeface="Times New Roman" panose="02020603050405020304" pitchFamily="18" charset="0"/>
                <a:ea typeface="Times New Roman" panose="02020603050405020304" pitchFamily="18" charset="0"/>
                <a:cs typeface="Times New Roman" panose="02020603050405020304" pitchFamily="18" charset="0"/>
              </a:rPr>
              <a:t>What are the different types of components used in IoT?</a:t>
            </a:r>
          </a:p>
          <a:p>
            <a:r>
              <a:rPr lang="en-US" b="1" i="0" dirty="0">
                <a:effectLst/>
                <a:latin typeface="Times New Roman" panose="02020603050405020304" pitchFamily="18" charset="0"/>
                <a:cs typeface="Times New Roman" panose="02020603050405020304" pitchFamily="18" charset="0"/>
              </a:rPr>
              <a:t>What is the most common IoT architecture?</a:t>
            </a:r>
          </a:p>
          <a:p>
            <a:r>
              <a:rPr lang="en-IN" b="1" i="0" dirty="0">
                <a:effectLst/>
                <a:latin typeface="Times New Roman" panose="02020603050405020304" pitchFamily="18" charset="0"/>
                <a:cs typeface="Times New Roman" panose="02020603050405020304" pitchFamily="18" charset="0"/>
              </a:rPr>
              <a:t>List out some IoT Development Boards</a:t>
            </a:r>
          </a:p>
          <a:p>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What is the basic difference between an IoT device and a normal sensor device?</a:t>
            </a:r>
          </a:p>
          <a:p>
            <a:pPr algn="just"/>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IN" b="1" dirty="0">
                <a:latin typeface="Times New Roman" panose="02020603050405020304" pitchFamily="18" charset="0"/>
                <a:ea typeface="Times New Roman" panose="02020603050405020304" pitchFamily="18" charset="0"/>
                <a:cs typeface="Times New Roman" panose="02020603050405020304" pitchFamily="18" charset="0"/>
              </a:rPr>
              <a:t>is the full form of </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IIoT</a:t>
            </a:r>
            <a:r>
              <a:rPr lang="en-IN" b="1" dirty="0">
                <a:latin typeface="Times New Roman" panose="02020603050405020304" pitchFamily="18" charset="0"/>
                <a:ea typeface="Times New Roman" panose="02020603050405020304" pitchFamily="18" charset="0"/>
                <a:cs typeface="Times New Roman" panose="02020603050405020304" pitchFamily="18" charset="0"/>
              </a:rPr>
              <a:t>?</a:t>
            </a:r>
            <a:endParaRPr lang="en-IN"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IN" b="1" dirty="0">
                <a:latin typeface="Times New Roman" panose="02020603050405020304" pitchFamily="18" charset="0"/>
                <a:ea typeface="Times New Roman" panose="02020603050405020304" pitchFamily="18" charset="0"/>
                <a:cs typeface="Times New Roman" panose="02020603050405020304" pitchFamily="18" charset="0"/>
              </a:rPr>
              <a:t>is the full form of IoMT?</a:t>
            </a:r>
            <a:endParaRPr lang="en-IN"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IN" b="1" dirty="0">
                <a:latin typeface="Times New Roman" panose="02020603050405020304" pitchFamily="18" charset="0"/>
                <a:ea typeface="Times New Roman" panose="02020603050405020304" pitchFamily="18" charset="0"/>
                <a:cs typeface="Times New Roman" panose="02020603050405020304" pitchFamily="18" charset="0"/>
              </a:rPr>
              <a:t>is the full form of </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IoV</a:t>
            </a:r>
            <a:r>
              <a:rPr lang="en-IN" b="1" dirty="0">
                <a:latin typeface="Times New Roman" panose="02020603050405020304" pitchFamily="18" charset="0"/>
                <a:ea typeface="Times New Roman" panose="02020603050405020304" pitchFamily="18" charset="0"/>
                <a:cs typeface="Times New Roman" panose="02020603050405020304" pitchFamily="18" charset="0"/>
              </a:rPr>
              <a:t>?</a:t>
            </a:r>
          </a:p>
          <a:p>
            <a:pPr algn="just"/>
            <a:r>
              <a:rPr lang="en-IN" b="1" dirty="0">
                <a:latin typeface="Times New Roman" panose="02020603050405020304" pitchFamily="18" charset="0"/>
                <a:cs typeface="Times New Roman" panose="02020603050405020304" pitchFamily="18" charset="0"/>
              </a:rPr>
              <a:t>What are the different types of communication models used in IoT?</a:t>
            </a:r>
          </a:p>
          <a:p>
            <a:pPr algn="just"/>
            <a:r>
              <a:rPr lang="en-IN" b="1" dirty="0">
                <a:latin typeface="Times New Roman" panose="02020603050405020304" pitchFamily="18" charset="0"/>
                <a:cs typeface="Times New Roman" panose="02020603050405020304" pitchFamily="18" charset="0"/>
              </a:rPr>
              <a:t>What are the different types of sensors used in IoT?</a:t>
            </a:r>
          </a:p>
          <a:p>
            <a:pPr algn="just"/>
            <a:r>
              <a:rPr lang="en-IN" b="1" dirty="0">
                <a:latin typeface="Times New Roman" panose="02020603050405020304" pitchFamily="18" charset="0"/>
                <a:cs typeface="Times New Roman" panose="02020603050405020304" pitchFamily="18" charset="0"/>
              </a:rPr>
              <a:t>What industries can be benefitted from IoT?</a:t>
            </a:r>
          </a:p>
          <a:p>
            <a:pPr algn="just"/>
            <a:r>
              <a:rPr lang="en-US" b="1" kern="0" dirty="0">
                <a:latin typeface="Times New Roman" panose="02020603050405020304" pitchFamily="18" charset="0"/>
                <a:cs typeface="Times New Roman" panose="02020603050405020304" pitchFamily="18" charset="0"/>
              </a:rPr>
              <a:t>U</a:t>
            </a:r>
            <a:r>
              <a:rPr lang="en-IN" b="1" kern="0" dirty="0">
                <a:latin typeface="Times New Roman" panose="02020603050405020304" pitchFamily="18" charset="0"/>
                <a:cs typeface="Times New Roman" panose="02020603050405020304" pitchFamily="18" charset="0"/>
              </a:rPr>
              <a:t>se of Embedded Systems in IoT?</a:t>
            </a:r>
            <a:endParaRPr lang="en-IN" b="1" dirty="0"/>
          </a:p>
        </p:txBody>
      </p:sp>
      <p:sp>
        <p:nvSpPr>
          <p:cNvPr id="4" name="TextBox 3">
            <a:extLst>
              <a:ext uri="{FF2B5EF4-FFF2-40B4-BE49-F238E27FC236}">
                <a16:creationId xmlns:a16="http://schemas.microsoft.com/office/drawing/2014/main" id="{C3A1E3D9-7763-F280-A9BF-C642D44D2EF5}"/>
              </a:ext>
            </a:extLst>
          </p:cNvPr>
          <p:cNvSpPr txBox="1"/>
          <p:nvPr/>
        </p:nvSpPr>
        <p:spPr>
          <a:xfrm>
            <a:off x="4766242" y="454066"/>
            <a:ext cx="2659516"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Few FAQ’S on IoT</a:t>
            </a:r>
          </a:p>
        </p:txBody>
      </p:sp>
    </p:spTree>
    <p:extLst>
      <p:ext uri="{BB962C8B-B14F-4D97-AF65-F5344CB8AC3E}">
        <p14:creationId xmlns:p14="http://schemas.microsoft.com/office/powerpoint/2010/main" val="193158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F0AB145-B076-27A1-BFA0-2806DE0E95A2}"/>
              </a:ext>
            </a:extLst>
          </p:cNvPr>
          <p:cNvSpPr txBox="1"/>
          <p:nvPr/>
        </p:nvSpPr>
        <p:spPr>
          <a:xfrm>
            <a:off x="3013230" y="436770"/>
            <a:ext cx="6165540"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What is IoT?</a:t>
            </a:r>
            <a:endParaRPr lang="en-IN" sz="3200" dirty="0">
              <a:solidFill>
                <a:srgbClr val="FF0000"/>
              </a:solidFill>
            </a:endParaRPr>
          </a:p>
        </p:txBody>
      </p:sp>
      <p:pic>
        <p:nvPicPr>
          <p:cNvPr id="6" name="Picture 5">
            <a:extLst>
              <a:ext uri="{FF2B5EF4-FFF2-40B4-BE49-F238E27FC236}">
                <a16:creationId xmlns:a16="http://schemas.microsoft.com/office/drawing/2014/main" id="{8D74BF9D-E0FE-CC14-955A-6D9761649CB8}"/>
              </a:ext>
            </a:extLst>
          </p:cNvPr>
          <p:cNvPicPr>
            <a:picLocks noChangeAspect="1"/>
          </p:cNvPicPr>
          <p:nvPr/>
        </p:nvPicPr>
        <p:blipFill>
          <a:blip r:embed="rId3"/>
          <a:stretch>
            <a:fillRect/>
          </a:stretch>
        </p:blipFill>
        <p:spPr>
          <a:xfrm>
            <a:off x="2660882" y="1021545"/>
            <a:ext cx="6870236" cy="5157804"/>
          </a:xfrm>
          <a:prstGeom prst="rect">
            <a:avLst/>
          </a:prstGeom>
        </p:spPr>
      </p:pic>
    </p:spTree>
    <p:extLst>
      <p:ext uri="{BB962C8B-B14F-4D97-AF65-F5344CB8AC3E}">
        <p14:creationId xmlns:p14="http://schemas.microsoft.com/office/powerpoint/2010/main" val="112498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A87BBC85-8F8B-4245-B5BC-4FD56C664697}"/>
              </a:ext>
            </a:extLst>
          </p:cNvPr>
          <p:cNvSpPr txBox="1"/>
          <p:nvPr/>
        </p:nvSpPr>
        <p:spPr>
          <a:xfrm>
            <a:off x="938073" y="1604963"/>
            <a:ext cx="10315854" cy="2554545"/>
          </a:xfrm>
          <a:prstGeom prst="rect">
            <a:avLst/>
          </a:prstGeom>
          <a:noFill/>
        </p:spPr>
        <p:txBody>
          <a:bodyPr wrap="square">
            <a:spAutoFit/>
          </a:bodyPr>
          <a:lstStyle/>
          <a:p>
            <a:pPr algn="just"/>
            <a:r>
              <a:rPr lang="en-US" sz="3200" b="0" i="0" dirty="0">
                <a:effectLst/>
                <a:latin typeface="Times New Roman" panose="02020603050405020304" pitchFamily="18" charset="0"/>
                <a:cs typeface="Times New Roman" panose="02020603050405020304" pitchFamily="18" charset="0"/>
              </a:rPr>
              <a:t>"The Internet of Things (IoT) is a network of physical objects that contain embedded technology to communicate and sense or interact with their internal states or the external environment."  </a:t>
            </a:r>
          </a:p>
          <a:p>
            <a:pPr algn="l"/>
            <a:r>
              <a:rPr lang="en-US" sz="3200" dirty="0">
                <a:latin typeface="Times New Roman" panose="02020603050405020304" pitchFamily="18" charset="0"/>
                <a:cs typeface="Times New Roman" panose="02020603050405020304" pitchFamily="18" charset="0"/>
              </a:rPr>
              <a:t>- </a:t>
            </a:r>
            <a:r>
              <a:rPr lang="en-US" sz="3200" b="0" i="0" dirty="0">
                <a:effectLst/>
                <a:latin typeface="Times New Roman" panose="02020603050405020304" pitchFamily="18" charset="0"/>
                <a:cs typeface="Times New Roman" panose="02020603050405020304" pitchFamily="18" charset="0"/>
              </a:rPr>
              <a:t>International Telecommunication Union, ITU</a:t>
            </a:r>
          </a:p>
        </p:txBody>
      </p:sp>
    </p:spTree>
    <p:extLst>
      <p:ext uri="{BB962C8B-B14F-4D97-AF65-F5344CB8AC3E}">
        <p14:creationId xmlns:p14="http://schemas.microsoft.com/office/powerpoint/2010/main" val="2251796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A87BBC85-8F8B-4245-B5BC-4FD56C664697}"/>
              </a:ext>
            </a:extLst>
          </p:cNvPr>
          <p:cNvSpPr txBox="1"/>
          <p:nvPr/>
        </p:nvSpPr>
        <p:spPr>
          <a:xfrm>
            <a:off x="907002" y="1366897"/>
            <a:ext cx="10377996" cy="2062103"/>
          </a:xfrm>
          <a:prstGeom prst="rect">
            <a:avLst/>
          </a:prstGeom>
          <a:noFill/>
        </p:spPr>
        <p:txBody>
          <a:bodyPr wrap="square">
            <a:spAutoFit/>
          </a:bodyPr>
          <a:lstStyle/>
          <a:p>
            <a:pPr algn="just"/>
            <a:r>
              <a:rPr lang="en-US" sz="3200" b="0" i="0" dirty="0">
                <a:effectLst/>
                <a:latin typeface="Times New Roman" panose="02020603050405020304" pitchFamily="18" charset="0"/>
                <a:cs typeface="Times New Roman" panose="02020603050405020304" pitchFamily="18" charset="0"/>
              </a:rPr>
              <a:t>"The Internet of Things (IoT) refers to the concept of connecting various devices to the internet and enabling them to communicate with each other and share data.“ </a:t>
            </a:r>
          </a:p>
          <a:p>
            <a:pPr algn="l"/>
            <a:r>
              <a:rPr lang="en-US" sz="3200" dirty="0">
                <a:latin typeface="Times New Roman" panose="02020603050405020304" pitchFamily="18" charset="0"/>
                <a:cs typeface="Times New Roman" panose="02020603050405020304" pitchFamily="18" charset="0"/>
              </a:rPr>
              <a:t>- </a:t>
            </a:r>
            <a:r>
              <a:rPr lang="en-US" sz="3200" b="0" i="0" dirty="0">
                <a:effectLst/>
                <a:latin typeface="Times New Roman" panose="02020603050405020304" pitchFamily="18" charset="0"/>
                <a:cs typeface="Times New Roman" panose="02020603050405020304" pitchFamily="18" charset="0"/>
              </a:rPr>
              <a:t>OpenAI</a:t>
            </a:r>
          </a:p>
        </p:txBody>
      </p:sp>
    </p:spTree>
    <p:extLst>
      <p:ext uri="{BB962C8B-B14F-4D97-AF65-F5344CB8AC3E}">
        <p14:creationId xmlns:p14="http://schemas.microsoft.com/office/powerpoint/2010/main" val="2438070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A87BBC85-8F8B-4245-B5BC-4FD56C664697}"/>
              </a:ext>
            </a:extLst>
          </p:cNvPr>
          <p:cNvSpPr txBox="1"/>
          <p:nvPr/>
        </p:nvSpPr>
        <p:spPr>
          <a:xfrm>
            <a:off x="1155576" y="1454043"/>
            <a:ext cx="9880847" cy="2554545"/>
          </a:xfrm>
          <a:prstGeom prst="rect">
            <a:avLst/>
          </a:prstGeom>
          <a:noFill/>
        </p:spPr>
        <p:txBody>
          <a:bodyPr wrap="square">
            <a:spAutoFit/>
          </a:bodyPr>
          <a:lstStyle/>
          <a:p>
            <a:pPr algn="just"/>
            <a:r>
              <a:rPr lang="en-US" sz="3200" b="0" i="0" dirty="0">
                <a:effectLst/>
                <a:latin typeface="Times New Roman" panose="02020603050405020304" pitchFamily="18" charset="0"/>
                <a:cs typeface="Times New Roman" panose="02020603050405020304" pitchFamily="18" charset="0"/>
              </a:rPr>
              <a:t>"The Internet of Things (IoT) is a paradigm shift that describes the interconnectivity of everyday objects, enabling them to send and receive data and be remotely monitored and controlled." </a:t>
            </a:r>
          </a:p>
          <a:p>
            <a:pPr algn="just"/>
            <a:r>
              <a:rPr lang="en-US" sz="3200" dirty="0">
                <a:latin typeface="Times New Roman" panose="02020603050405020304" pitchFamily="18" charset="0"/>
                <a:cs typeface="Times New Roman" panose="02020603050405020304" pitchFamily="18" charset="0"/>
              </a:rPr>
              <a:t>- </a:t>
            </a:r>
            <a:r>
              <a:rPr lang="en-US" sz="3200" b="0" i="0" dirty="0">
                <a:effectLst/>
                <a:latin typeface="Times New Roman" panose="02020603050405020304" pitchFamily="18" charset="0"/>
                <a:cs typeface="Times New Roman" panose="02020603050405020304" pitchFamily="18" charset="0"/>
              </a:rPr>
              <a:t>IBM</a:t>
            </a:r>
          </a:p>
        </p:txBody>
      </p:sp>
    </p:spTree>
    <p:extLst>
      <p:ext uri="{BB962C8B-B14F-4D97-AF65-F5344CB8AC3E}">
        <p14:creationId xmlns:p14="http://schemas.microsoft.com/office/powerpoint/2010/main" val="2238626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A87BBC85-8F8B-4245-B5BC-4FD56C664697}"/>
              </a:ext>
            </a:extLst>
          </p:cNvPr>
          <p:cNvSpPr txBox="1"/>
          <p:nvPr/>
        </p:nvSpPr>
        <p:spPr>
          <a:xfrm>
            <a:off x="1004656" y="1525063"/>
            <a:ext cx="10182688" cy="3046988"/>
          </a:xfrm>
          <a:prstGeom prst="rect">
            <a:avLst/>
          </a:prstGeom>
          <a:noFill/>
        </p:spPr>
        <p:txBody>
          <a:bodyPr wrap="square">
            <a:spAutoFit/>
          </a:bodyPr>
          <a:lstStyle/>
          <a:p>
            <a:pPr algn="just"/>
            <a:r>
              <a:rPr lang="en-US" sz="3200" b="0" i="0" dirty="0">
                <a:effectLst/>
                <a:latin typeface="Times New Roman" panose="02020603050405020304" pitchFamily="18" charset="0"/>
                <a:cs typeface="Times New Roman" panose="02020603050405020304" pitchFamily="18" charset="0"/>
              </a:rPr>
              <a:t>"IoT is a system of interrelated computing devices, mechanical and digital machines, objects, animals, or people that are provided with unique identifiers and the ability to transfer data over a network without requiring human-to-human or human-to-computer interaction." </a:t>
            </a:r>
          </a:p>
          <a:p>
            <a:pPr algn="just"/>
            <a:r>
              <a:rPr lang="en-US" sz="3200" dirty="0">
                <a:latin typeface="Times New Roman" panose="02020603050405020304" pitchFamily="18" charset="0"/>
                <a:cs typeface="Times New Roman" panose="02020603050405020304" pitchFamily="18" charset="0"/>
              </a:rPr>
              <a:t>- </a:t>
            </a:r>
            <a:r>
              <a:rPr lang="en-US" sz="3200" b="0" i="0" dirty="0">
                <a:effectLst/>
                <a:latin typeface="Times New Roman" panose="02020603050405020304" pitchFamily="18" charset="0"/>
                <a:cs typeface="Times New Roman" panose="02020603050405020304" pitchFamily="18" charset="0"/>
              </a:rPr>
              <a:t>Wikipedia</a:t>
            </a:r>
          </a:p>
        </p:txBody>
      </p:sp>
    </p:spTree>
    <p:extLst>
      <p:ext uri="{BB962C8B-B14F-4D97-AF65-F5344CB8AC3E}">
        <p14:creationId xmlns:p14="http://schemas.microsoft.com/office/powerpoint/2010/main" val="3627140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8F9BACB-4D3B-8AA4-A09D-A6BA3D670B2C}"/>
              </a:ext>
            </a:extLst>
          </p:cNvPr>
          <p:cNvSpPr txBox="1"/>
          <p:nvPr/>
        </p:nvSpPr>
        <p:spPr>
          <a:xfrm>
            <a:off x="1198485" y="1965296"/>
            <a:ext cx="9795029" cy="2554545"/>
          </a:xfrm>
          <a:prstGeom prst="rect">
            <a:avLst/>
          </a:prstGeom>
          <a:noFill/>
        </p:spPr>
        <p:txBody>
          <a:bodyPr wrap="square">
            <a:spAutoFit/>
          </a:bodyPr>
          <a:lstStyle/>
          <a:p>
            <a:pPr marL="0" indent="0" algn="just">
              <a:buNone/>
            </a:pPr>
            <a:r>
              <a:rPr lang="en-US" sz="3200" b="0" i="0" dirty="0">
                <a:effectLst/>
                <a:latin typeface="Times New Roman" panose="02020603050405020304" pitchFamily="18" charset="0"/>
                <a:cs typeface="Times New Roman" panose="02020603050405020304" pitchFamily="18" charset="0"/>
              </a:rPr>
              <a:t>The Internet of Things (IoT) describes the network of physical objects—“things”—that are embedded with sensors, software, and other technologies for the purpose of connecting and exchanging data with other devices and systems over the internet.</a:t>
            </a:r>
          </a:p>
        </p:txBody>
      </p:sp>
    </p:spTree>
    <p:extLst>
      <p:ext uri="{BB962C8B-B14F-4D97-AF65-F5344CB8AC3E}">
        <p14:creationId xmlns:p14="http://schemas.microsoft.com/office/powerpoint/2010/main" val="138708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928A0417-429C-E608-1AC9-E0F3397D2A72}"/>
              </a:ext>
            </a:extLst>
          </p:cNvPr>
          <p:cNvSpPr txBox="1"/>
          <p:nvPr/>
        </p:nvSpPr>
        <p:spPr>
          <a:xfrm>
            <a:off x="1813560" y="3061454"/>
            <a:ext cx="8564880" cy="1200329"/>
          </a:xfrm>
          <a:prstGeom prst="rect">
            <a:avLst/>
          </a:prstGeom>
          <a:noFill/>
        </p:spPr>
        <p:txBody>
          <a:bodyPr wrap="square">
            <a:spAutoFit/>
          </a:bodyPr>
          <a:lstStyle/>
          <a:p>
            <a:pPr algn="ctr"/>
            <a:r>
              <a:rPr lang="en-US" sz="3600" b="1" i="0" dirty="0">
                <a:solidFill>
                  <a:srgbClr val="C00000"/>
                </a:solidFill>
                <a:effectLst/>
                <a:latin typeface="Times New Roman" panose="02020603050405020304" pitchFamily="18" charset="0"/>
                <a:cs typeface="Times New Roman" panose="02020603050405020304" pitchFamily="18" charset="0"/>
              </a:rPr>
              <a:t>How does the IoT (Internet of Things) affect our everyday lives?</a:t>
            </a:r>
            <a:endParaRPr lang="en-IN" sz="36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000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79D4D283-57A9-83A3-2109-E316A1F24DA5}"/>
              </a:ext>
            </a:extLst>
          </p:cNvPr>
          <p:cNvSpPr txBox="1"/>
          <p:nvPr/>
        </p:nvSpPr>
        <p:spPr>
          <a:xfrm>
            <a:off x="894080" y="1423293"/>
            <a:ext cx="10403840" cy="954107"/>
          </a:xfrm>
          <a:prstGeom prst="rect">
            <a:avLst/>
          </a:prstGeom>
          <a:noFill/>
        </p:spPr>
        <p:txBody>
          <a:bodyPr wrap="square">
            <a:spAutoFit/>
          </a:bodyPr>
          <a:lstStyle/>
          <a:p>
            <a:pPr algn="l"/>
            <a:r>
              <a:rPr lang="en-US" sz="2800" b="0" i="0" dirty="0">
                <a:effectLst/>
                <a:latin typeface="Times New Roman" panose="02020603050405020304" pitchFamily="18" charset="0"/>
                <a:cs typeface="Times New Roman" panose="02020603050405020304" pitchFamily="18" charset="0"/>
              </a:rPr>
              <a:t>Here are some ways in which the IoT affects our everyday lives:</a:t>
            </a:r>
          </a:p>
          <a:p>
            <a:pPr algn="l"/>
            <a:endParaRPr lang="en-US" sz="2800" b="0" i="0" dirty="0">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6E77E78-877A-D991-39FF-0A1FE9114CFB}"/>
              </a:ext>
            </a:extLst>
          </p:cNvPr>
          <p:cNvSpPr txBox="1"/>
          <p:nvPr/>
        </p:nvSpPr>
        <p:spPr>
          <a:xfrm>
            <a:off x="392837" y="2064889"/>
            <a:ext cx="4498759" cy="2862322"/>
          </a:xfrm>
          <a:prstGeom prst="rect">
            <a:avLst/>
          </a:prstGeom>
          <a:noFill/>
        </p:spPr>
        <p:txBody>
          <a:bodyPr wrap="square">
            <a:spAutoFit/>
          </a:bodyPr>
          <a:lstStyle/>
          <a:p>
            <a:pPr algn="just"/>
            <a:r>
              <a:rPr lang="en-US" sz="1800" b="0" i="0" dirty="0">
                <a:effectLst/>
                <a:latin typeface="Times New Roman" panose="02020603050405020304" pitchFamily="18" charset="0"/>
                <a:cs typeface="Times New Roman" panose="02020603050405020304" pitchFamily="18" charset="0"/>
              </a:rPr>
              <a:t>Smart Homes: IoT enables the concept of smart homes, where various devices and appliances are interconnected and can be controlled remotely. We can use voice commands or mobile applications to control lighting, thermostats, security systems, entertainment devices, and more. This automation and remote control enhance convenience, energy efficiency, and home security.</a:t>
            </a:r>
          </a:p>
        </p:txBody>
      </p:sp>
      <p:pic>
        <p:nvPicPr>
          <p:cNvPr id="11" name="Picture 10">
            <a:extLst>
              <a:ext uri="{FF2B5EF4-FFF2-40B4-BE49-F238E27FC236}">
                <a16:creationId xmlns:a16="http://schemas.microsoft.com/office/drawing/2014/main" id="{225539A0-2815-A9A9-68DD-913906749953}"/>
              </a:ext>
            </a:extLst>
          </p:cNvPr>
          <p:cNvPicPr>
            <a:picLocks noChangeAspect="1"/>
          </p:cNvPicPr>
          <p:nvPr/>
        </p:nvPicPr>
        <p:blipFill>
          <a:blip r:embed="rId3"/>
          <a:stretch>
            <a:fillRect/>
          </a:stretch>
        </p:blipFill>
        <p:spPr>
          <a:xfrm>
            <a:off x="5219561" y="2120374"/>
            <a:ext cx="6010692" cy="3378748"/>
          </a:xfrm>
          <a:prstGeom prst="rect">
            <a:avLst/>
          </a:prstGeom>
        </p:spPr>
      </p:pic>
    </p:spTree>
    <p:extLst>
      <p:ext uri="{BB962C8B-B14F-4D97-AF65-F5344CB8AC3E}">
        <p14:creationId xmlns:p14="http://schemas.microsoft.com/office/powerpoint/2010/main" val="2326970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79D4D283-57A9-83A3-2109-E316A1F24DA5}"/>
              </a:ext>
            </a:extLst>
          </p:cNvPr>
          <p:cNvSpPr txBox="1"/>
          <p:nvPr/>
        </p:nvSpPr>
        <p:spPr>
          <a:xfrm>
            <a:off x="650832" y="1206433"/>
            <a:ext cx="5350473" cy="4832092"/>
          </a:xfrm>
          <a:prstGeom prst="rect">
            <a:avLst/>
          </a:prstGeom>
          <a:noFill/>
        </p:spPr>
        <p:txBody>
          <a:bodyPr wrap="square">
            <a:spAutoFit/>
          </a:bodyPr>
          <a:lstStyle/>
          <a:p>
            <a:pPr algn="just"/>
            <a:r>
              <a:rPr lang="en-US" sz="2800" b="0" i="0" dirty="0">
                <a:effectLst/>
                <a:latin typeface="Times New Roman" panose="02020603050405020304" pitchFamily="18" charset="0"/>
                <a:cs typeface="Times New Roman" panose="02020603050405020304" pitchFamily="18" charset="0"/>
              </a:rPr>
              <a:t>Wearable Devices: IoT powers wearable devices such as smartwatches, fitness trackers, and health monitors. These devices collect data about our physical activity, heart rate, sleep patterns, and more. With IoT connectivity, this data can be analyzed and used to monitor our health, track fitness goals, and provide personalized recommendations.</a:t>
            </a:r>
          </a:p>
        </p:txBody>
      </p:sp>
      <p:pic>
        <p:nvPicPr>
          <p:cNvPr id="2" name="Picture 1">
            <a:extLst>
              <a:ext uri="{FF2B5EF4-FFF2-40B4-BE49-F238E27FC236}">
                <a16:creationId xmlns:a16="http://schemas.microsoft.com/office/drawing/2014/main" id="{7A90E8CA-8C41-8BBA-DCD6-F6CC577797F5}"/>
              </a:ext>
            </a:extLst>
          </p:cNvPr>
          <p:cNvPicPr>
            <a:picLocks noChangeAspect="1"/>
          </p:cNvPicPr>
          <p:nvPr/>
        </p:nvPicPr>
        <p:blipFill>
          <a:blip r:embed="rId3"/>
          <a:stretch>
            <a:fillRect/>
          </a:stretch>
        </p:blipFill>
        <p:spPr>
          <a:xfrm>
            <a:off x="6259624" y="1434328"/>
            <a:ext cx="5718491" cy="3989344"/>
          </a:xfrm>
          <a:prstGeom prst="rect">
            <a:avLst/>
          </a:prstGeom>
        </p:spPr>
      </p:pic>
    </p:spTree>
    <p:extLst>
      <p:ext uri="{BB962C8B-B14F-4D97-AF65-F5344CB8AC3E}">
        <p14:creationId xmlns:p14="http://schemas.microsoft.com/office/powerpoint/2010/main" val="1253727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36DBED40-629E-A275-CB77-0B4220A2FA88}"/>
              </a:ext>
            </a:extLst>
          </p:cNvPr>
          <p:cNvSpPr txBox="1"/>
          <p:nvPr/>
        </p:nvSpPr>
        <p:spPr>
          <a:xfrm>
            <a:off x="682297" y="1362077"/>
            <a:ext cx="5413703" cy="4524315"/>
          </a:xfrm>
          <a:prstGeom prst="rect">
            <a:avLst/>
          </a:prstGeom>
          <a:noFill/>
        </p:spPr>
        <p:txBody>
          <a:bodyPr wrap="square">
            <a:spAutoFit/>
          </a:bodyPr>
          <a:lstStyle/>
          <a:p>
            <a:pPr algn="just"/>
            <a:r>
              <a:rPr lang="en-US" sz="2400" b="0" i="0" dirty="0">
                <a:effectLst/>
                <a:latin typeface="Times New Roman" panose="02020603050405020304" pitchFamily="18" charset="0"/>
                <a:cs typeface="Times New Roman" panose="02020603050405020304" pitchFamily="18" charset="0"/>
              </a:rPr>
              <a:t>Transportation and Mobility: IoT is revolutionizing transportation and mobility. Connected cars can communicate with each other and infrastructure to optimize traffic flow, reduce accidents, and enhance navigation. IoT-enabled public transportation systems provide real-time updates on schedules and routes, improving commuting experiences. Additionally, ride-sharing platforms and electric vehicle charging networks rely on IoT connectivity.</a:t>
            </a:r>
          </a:p>
        </p:txBody>
      </p:sp>
      <p:pic>
        <p:nvPicPr>
          <p:cNvPr id="11266" name="Picture 2" descr="IoT and Intelligent Transport Systems">
            <a:extLst>
              <a:ext uri="{FF2B5EF4-FFF2-40B4-BE49-F238E27FC236}">
                <a16:creationId xmlns:a16="http://schemas.microsoft.com/office/drawing/2014/main" id="{5A48DF5A-1D83-D7B5-D719-D29CBF91D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7735" y="1449236"/>
            <a:ext cx="5761608" cy="4309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035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36DBED40-629E-A275-CB77-0B4220A2FA88}"/>
              </a:ext>
            </a:extLst>
          </p:cNvPr>
          <p:cNvSpPr txBox="1"/>
          <p:nvPr/>
        </p:nvSpPr>
        <p:spPr>
          <a:xfrm>
            <a:off x="658773" y="1470977"/>
            <a:ext cx="5209367" cy="3785652"/>
          </a:xfrm>
          <a:prstGeom prst="rect">
            <a:avLst/>
          </a:prstGeom>
          <a:noFill/>
        </p:spPr>
        <p:txBody>
          <a:bodyPr wrap="square">
            <a:spAutoFit/>
          </a:bodyPr>
          <a:lstStyle/>
          <a:p>
            <a:pPr algn="just"/>
            <a:r>
              <a:rPr lang="en-US" sz="2400" b="0" i="0" dirty="0">
                <a:effectLst/>
                <a:latin typeface="Times New Roman" panose="02020603050405020304" pitchFamily="18" charset="0"/>
                <a:cs typeface="Times New Roman" panose="02020603050405020304" pitchFamily="18" charset="0"/>
              </a:rPr>
              <a:t>Personalized Shopping: IoT enhances the shopping experience by enabling personalized recommendations and targeted advertising. Retailers can use IoT data to understand customer preferences, track inventory levels, and offer customized promotions. Smart shelves and digital signage in stores can dynamically display information and engage shoppers.</a:t>
            </a:r>
          </a:p>
        </p:txBody>
      </p:sp>
      <p:pic>
        <p:nvPicPr>
          <p:cNvPr id="4" name="Picture 3">
            <a:extLst>
              <a:ext uri="{FF2B5EF4-FFF2-40B4-BE49-F238E27FC236}">
                <a16:creationId xmlns:a16="http://schemas.microsoft.com/office/drawing/2014/main" id="{3FAC9DB4-D406-EDC1-9F1E-479EB266DFE5}"/>
              </a:ext>
            </a:extLst>
          </p:cNvPr>
          <p:cNvPicPr>
            <a:picLocks noChangeAspect="1"/>
          </p:cNvPicPr>
          <p:nvPr/>
        </p:nvPicPr>
        <p:blipFill>
          <a:blip r:embed="rId3"/>
          <a:stretch>
            <a:fillRect/>
          </a:stretch>
        </p:blipFill>
        <p:spPr>
          <a:xfrm>
            <a:off x="6614998" y="1149973"/>
            <a:ext cx="4690369" cy="4558053"/>
          </a:xfrm>
          <a:prstGeom prst="rect">
            <a:avLst/>
          </a:prstGeom>
        </p:spPr>
      </p:pic>
    </p:spTree>
    <p:extLst>
      <p:ext uri="{BB962C8B-B14F-4D97-AF65-F5344CB8AC3E}">
        <p14:creationId xmlns:p14="http://schemas.microsoft.com/office/powerpoint/2010/main" val="49752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36DBED40-629E-A275-CB77-0B4220A2FA88}"/>
              </a:ext>
            </a:extLst>
          </p:cNvPr>
          <p:cNvSpPr txBox="1"/>
          <p:nvPr/>
        </p:nvSpPr>
        <p:spPr>
          <a:xfrm>
            <a:off x="531427" y="1188174"/>
            <a:ext cx="4715276" cy="4893647"/>
          </a:xfrm>
          <a:prstGeom prst="rect">
            <a:avLst/>
          </a:prstGeom>
          <a:noFill/>
        </p:spPr>
        <p:txBody>
          <a:bodyPr wrap="square">
            <a:spAutoFit/>
          </a:bodyPr>
          <a:lstStyle/>
          <a:p>
            <a:pPr algn="just"/>
            <a:r>
              <a:rPr lang="en-US" sz="2400" b="0" i="0" dirty="0">
                <a:effectLst/>
                <a:latin typeface="Times New Roman" panose="02020603050405020304" pitchFamily="18" charset="0"/>
                <a:cs typeface="Times New Roman" panose="02020603050405020304" pitchFamily="18" charset="0"/>
              </a:rPr>
              <a:t>Healthcare and Remote Monitoring: IoT has a significant impact on healthcare. Remote patient monitoring devices enable healthcare providers to monitor patients' vital signs, medication adherence, and overall well-being from a distance. This allows for proactive care, timely interventions, and reduced hospital visits. IoT also supports telemedicine, enabling virtual consultations and remote diagnosis.</a:t>
            </a:r>
          </a:p>
        </p:txBody>
      </p:sp>
      <p:pic>
        <p:nvPicPr>
          <p:cNvPr id="2" name="Picture 1" descr="Internet-of-Medical-Things (IoMT): An Unexplored Dimension in Healthcare">
            <a:extLst>
              <a:ext uri="{FF2B5EF4-FFF2-40B4-BE49-F238E27FC236}">
                <a16:creationId xmlns:a16="http://schemas.microsoft.com/office/drawing/2014/main" id="{967E11BB-5BB8-542C-60B3-AA3DAC953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8951" y="1337592"/>
            <a:ext cx="5986727" cy="4182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343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ACA16ED-0349-BD79-E2FF-7DCCC1F5E9A1}"/>
              </a:ext>
            </a:extLst>
          </p:cNvPr>
          <p:cNvSpPr txBox="1"/>
          <p:nvPr/>
        </p:nvSpPr>
        <p:spPr>
          <a:xfrm>
            <a:off x="844711" y="1417799"/>
            <a:ext cx="4393115" cy="3785652"/>
          </a:xfrm>
          <a:prstGeom prst="rect">
            <a:avLst/>
          </a:prstGeom>
          <a:noFill/>
        </p:spPr>
        <p:txBody>
          <a:bodyPr wrap="square">
            <a:spAutoFit/>
          </a:bodyPr>
          <a:lstStyle/>
          <a:p>
            <a:pPr algn="just"/>
            <a:r>
              <a:rPr lang="en-US" sz="2400" b="0" i="0" dirty="0">
                <a:effectLst/>
                <a:latin typeface="Times New Roman" panose="02020603050405020304" pitchFamily="18" charset="0"/>
                <a:cs typeface="Times New Roman" panose="02020603050405020304" pitchFamily="18" charset="0"/>
              </a:rPr>
              <a:t>Safety and Security: IoT enhances safety and security in various ways. Connected security systems, video surveillance, and smart locks provide remote monitoring and control of our homes and offices. IoT-enabled fire alarms and carbon monoxide detectors can quickly detect and alert us to potential dangers.</a:t>
            </a:r>
          </a:p>
        </p:txBody>
      </p:sp>
      <p:pic>
        <p:nvPicPr>
          <p:cNvPr id="12290" name="Picture 2" descr="Buy 1080P HD Mini Spy Hidden Camera Smoke Detector, WiFi Wireless Home  Security Video&amp;Photo IP Surveillance Fire Alarm Detector Cam Online at Low  Price in India | YADACAM Camera Reviews &amp; Ratings -">
            <a:extLst>
              <a:ext uri="{FF2B5EF4-FFF2-40B4-BE49-F238E27FC236}">
                <a16:creationId xmlns:a16="http://schemas.microsoft.com/office/drawing/2014/main" id="{A3D52666-C943-B9C9-BFB3-E4DFB418C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1606" y="1198556"/>
            <a:ext cx="3792923" cy="4224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767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C9D9E0A-FAD7-BF59-9671-5FA26ECBAA67}"/>
              </a:ext>
            </a:extLst>
          </p:cNvPr>
          <p:cNvSpPr txBox="1"/>
          <p:nvPr/>
        </p:nvSpPr>
        <p:spPr>
          <a:xfrm>
            <a:off x="463860" y="1672218"/>
            <a:ext cx="4924886" cy="3046988"/>
          </a:xfrm>
          <a:prstGeom prst="rect">
            <a:avLst/>
          </a:prstGeom>
          <a:noFill/>
        </p:spPr>
        <p:txBody>
          <a:bodyPr wrap="square">
            <a:spAutoFit/>
          </a:bodyPr>
          <a:lstStyle/>
          <a:p>
            <a:pPr algn="just"/>
            <a:r>
              <a:rPr lang="en-US" sz="2400" b="0" i="0" dirty="0">
                <a:effectLst/>
                <a:latin typeface="Times New Roman" panose="02020603050405020304" pitchFamily="18" charset="0"/>
                <a:cs typeface="Times New Roman" panose="02020603050405020304" pitchFamily="18" charset="0"/>
              </a:rPr>
              <a:t>Personal Assistants and Voice Control: IoT powers voice-activated personal assistants like Amazon Alexa, Google Assistant, and Apple Siri. These assistants respond to voice commands, allowing us to control devices, access information, set reminders, and perform tasks hands-free.</a:t>
            </a:r>
          </a:p>
        </p:txBody>
      </p:sp>
      <p:pic>
        <p:nvPicPr>
          <p:cNvPr id="13314" name="Picture 2" descr="Amazon Echo vs Apple HomePod vs Google Home | perk-it">
            <a:extLst>
              <a:ext uri="{FF2B5EF4-FFF2-40B4-BE49-F238E27FC236}">
                <a16:creationId xmlns:a16="http://schemas.microsoft.com/office/drawing/2014/main" id="{8AE98813-29DA-45C9-9C5F-AD9A04B4FD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0462" y="1755264"/>
            <a:ext cx="5761792" cy="2880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094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ACA16ED-0349-BD79-E2FF-7DCCC1F5E9A1}"/>
              </a:ext>
            </a:extLst>
          </p:cNvPr>
          <p:cNvSpPr txBox="1"/>
          <p:nvPr/>
        </p:nvSpPr>
        <p:spPr>
          <a:xfrm>
            <a:off x="2230959" y="1443346"/>
            <a:ext cx="8262447" cy="1200329"/>
          </a:xfrm>
          <a:prstGeom prst="rect">
            <a:avLst/>
          </a:prstGeom>
          <a:noFill/>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a:p>
            <a:pPr algn="just"/>
            <a:endParaRPr lang="en-US" sz="2400" b="0" i="0" dirty="0">
              <a:effectLst/>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Like so many ways IoT has been involving in our daily life.</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126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CC9FD96-846B-4A0C-4477-61C49FEB55C9}"/>
              </a:ext>
            </a:extLst>
          </p:cNvPr>
          <p:cNvSpPr txBox="1"/>
          <p:nvPr/>
        </p:nvSpPr>
        <p:spPr>
          <a:xfrm>
            <a:off x="2720735" y="3075057"/>
            <a:ext cx="6750530" cy="707886"/>
          </a:xfrm>
          <a:prstGeom prst="rect">
            <a:avLst/>
          </a:prstGeom>
          <a:noFill/>
        </p:spPr>
        <p:txBody>
          <a:bodyPr wrap="square">
            <a:spAutoFit/>
          </a:bodyPr>
          <a:lstStyle/>
          <a:p>
            <a:pPr algn="ctr"/>
            <a:r>
              <a:rPr lang="en-IN" sz="4000" b="1" dirty="0">
                <a:solidFill>
                  <a:srgbClr val="C00000"/>
                </a:solidFill>
                <a:latin typeface="Times New Roman" panose="02020603050405020304" pitchFamily="18" charset="0"/>
                <a:cs typeface="Times New Roman" panose="02020603050405020304" pitchFamily="18" charset="0"/>
              </a:rPr>
              <a:t>What are the benefits of IoT?</a:t>
            </a:r>
            <a:endParaRPr lang="en-IN" sz="4000" dirty="0">
              <a:solidFill>
                <a:srgbClr val="C00000"/>
              </a:solidFill>
            </a:endParaRPr>
          </a:p>
        </p:txBody>
      </p:sp>
    </p:spTree>
    <p:extLst>
      <p:ext uri="{BB962C8B-B14F-4D97-AF65-F5344CB8AC3E}">
        <p14:creationId xmlns:p14="http://schemas.microsoft.com/office/powerpoint/2010/main" val="2416752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CC9FD96-846B-4A0C-4477-61C49FEB55C9}"/>
              </a:ext>
            </a:extLst>
          </p:cNvPr>
          <p:cNvSpPr txBox="1"/>
          <p:nvPr/>
        </p:nvSpPr>
        <p:spPr>
          <a:xfrm>
            <a:off x="3013230" y="454526"/>
            <a:ext cx="6165540"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benefits of IoT</a:t>
            </a:r>
            <a:endParaRPr lang="en-IN" sz="3200" dirty="0">
              <a:solidFill>
                <a:srgbClr val="FF0000"/>
              </a:solidFill>
            </a:endParaRPr>
          </a:p>
        </p:txBody>
      </p:sp>
      <p:sp>
        <p:nvSpPr>
          <p:cNvPr id="5" name="TextBox 4">
            <a:extLst>
              <a:ext uri="{FF2B5EF4-FFF2-40B4-BE49-F238E27FC236}">
                <a16:creationId xmlns:a16="http://schemas.microsoft.com/office/drawing/2014/main" id="{8CA15322-CEDD-4B6A-5CEB-F7DDE26E6AC2}"/>
              </a:ext>
            </a:extLst>
          </p:cNvPr>
          <p:cNvSpPr txBox="1"/>
          <p:nvPr/>
        </p:nvSpPr>
        <p:spPr>
          <a:xfrm>
            <a:off x="817880" y="1656387"/>
            <a:ext cx="10556239" cy="2800767"/>
          </a:xfrm>
          <a:prstGeom prst="rect">
            <a:avLst/>
          </a:prstGeom>
          <a:noFill/>
        </p:spPr>
        <p:txBody>
          <a:bodyPr wrap="square">
            <a:spAutoFit/>
          </a:bodyPr>
          <a:lstStyle/>
          <a:p>
            <a:pPr algn="just"/>
            <a:r>
              <a:rPr lang="en-US" sz="3200" b="0" i="0" dirty="0">
                <a:effectLst/>
                <a:latin typeface="Times New Roman" panose="02020603050405020304" pitchFamily="18" charset="0"/>
                <a:cs typeface="Times New Roman" panose="02020603050405020304" pitchFamily="18" charset="0"/>
              </a:rPr>
              <a:t>IoT offers a wide range of benefits across various sectors and applications. </a:t>
            </a:r>
          </a:p>
          <a:p>
            <a:pPr algn="just"/>
            <a:endParaRPr lang="en-US" sz="3200" dirty="0">
              <a:latin typeface="Times New Roman" panose="02020603050405020304" pitchFamily="18" charset="0"/>
              <a:cs typeface="Times New Roman" panose="02020603050405020304" pitchFamily="18" charset="0"/>
            </a:endParaRPr>
          </a:p>
          <a:p>
            <a:pPr algn="just"/>
            <a:r>
              <a:rPr lang="en-US" sz="3200" b="0" i="0" dirty="0">
                <a:effectLst/>
                <a:latin typeface="Times New Roman" panose="02020603050405020304" pitchFamily="18" charset="0"/>
                <a:cs typeface="Times New Roman" panose="02020603050405020304" pitchFamily="18" charset="0"/>
              </a:rPr>
              <a:t>Here we will discuss some benefits of IoT</a:t>
            </a:r>
          </a:p>
          <a:p>
            <a:br>
              <a:rPr lang="en-US" sz="2400" b="0" i="0" dirty="0">
                <a:effectLst/>
                <a:latin typeface="Söhne"/>
              </a:rPr>
            </a:b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968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CC9FD96-846B-4A0C-4477-61C49FEB55C9}"/>
              </a:ext>
            </a:extLst>
          </p:cNvPr>
          <p:cNvSpPr txBox="1"/>
          <p:nvPr/>
        </p:nvSpPr>
        <p:spPr>
          <a:xfrm>
            <a:off x="3013230" y="454526"/>
            <a:ext cx="6165540"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benefits of IoT</a:t>
            </a:r>
            <a:endParaRPr lang="en-IN" sz="3200" dirty="0">
              <a:solidFill>
                <a:srgbClr val="FF0000"/>
              </a:solidFill>
            </a:endParaRPr>
          </a:p>
        </p:txBody>
      </p:sp>
      <p:sp>
        <p:nvSpPr>
          <p:cNvPr id="5" name="TextBox 4">
            <a:extLst>
              <a:ext uri="{FF2B5EF4-FFF2-40B4-BE49-F238E27FC236}">
                <a16:creationId xmlns:a16="http://schemas.microsoft.com/office/drawing/2014/main" id="{8CA15322-CEDD-4B6A-5CEB-F7DDE26E6AC2}"/>
              </a:ext>
            </a:extLst>
          </p:cNvPr>
          <p:cNvSpPr txBox="1"/>
          <p:nvPr/>
        </p:nvSpPr>
        <p:spPr>
          <a:xfrm>
            <a:off x="817880" y="1493827"/>
            <a:ext cx="10556239" cy="4154984"/>
          </a:xfrm>
          <a:prstGeom prst="rect">
            <a:avLst/>
          </a:prstGeom>
          <a:noFill/>
        </p:spPr>
        <p:txBody>
          <a:bodyPr wrap="square">
            <a:spAutoFit/>
          </a:bodyPr>
          <a:lstStyle/>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Improved Efficiency and Productivity: IoT enables automation, remote monitoring, and real-time data analysis, leading to increased efficiency and productivity. By connecting devices and systems, IoT streamlines processes, reduces manual intervention, and optimizes resource utilization.</a:t>
            </a:r>
          </a:p>
          <a:p>
            <a:pPr algn="just"/>
            <a:endParaRPr lang="en-US" sz="2400" b="0" i="0" dirty="0">
              <a:effectLst/>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Cost Savings: IoT can help organizations reduce costs in several ways. By monitoring and analyzing data, organizations can identify inefficiencies, minimize waste, and optimize energy consumption. Predictive maintenance enabled by IoT can prevent equipment failures and reduce downtime, resulting in cost savings.</a:t>
            </a:r>
          </a:p>
        </p:txBody>
      </p:sp>
    </p:spTree>
    <p:extLst>
      <p:ext uri="{BB962C8B-B14F-4D97-AF65-F5344CB8AC3E}">
        <p14:creationId xmlns:p14="http://schemas.microsoft.com/office/powerpoint/2010/main" val="2405599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CC9FD96-846B-4A0C-4477-61C49FEB55C9}"/>
              </a:ext>
            </a:extLst>
          </p:cNvPr>
          <p:cNvSpPr txBox="1"/>
          <p:nvPr/>
        </p:nvSpPr>
        <p:spPr>
          <a:xfrm>
            <a:off x="3013230" y="454526"/>
            <a:ext cx="6165540"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benefits of IoT</a:t>
            </a:r>
            <a:endParaRPr lang="en-IN" sz="3200" dirty="0">
              <a:solidFill>
                <a:srgbClr val="FF0000"/>
              </a:solidFill>
            </a:endParaRPr>
          </a:p>
        </p:txBody>
      </p:sp>
      <p:sp>
        <p:nvSpPr>
          <p:cNvPr id="5" name="TextBox 4">
            <a:extLst>
              <a:ext uri="{FF2B5EF4-FFF2-40B4-BE49-F238E27FC236}">
                <a16:creationId xmlns:a16="http://schemas.microsoft.com/office/drawing/2014/main" id="{8CA15322-CEDD-4B6A-5CEB-F7DDE26E6AC2}"/>
              </a:ext>
            </a:extLst>
          </p:cNvPr>
          <p:cNvSpPr txBox="1"/>
          <p:nvPr/>
        </p:nvSpPr>
        <p:spPr>
          <a:xfrm>
            <a:off x="716280" y="1623725"/>
            <a:ext cx="10759439" cy="4154984"/>
          </a:xfrm>
          <a:prstGeom prst="rect">
            <a:avLst/>
          </a:prstGeom>
          <a:noFill/>
        </p:spPr>
        <p:txBody>
          <a:bodyPr wrap="square">
            <a:spAutoFit/>
          </a:bodyPr>
          <a:lstStyle/>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Enhanced Decision-Making: IoT generates vast amounts of data that can be analyzed to gain valuable insights. Real-time data collection and analysis enable informed decision-making, allowing organizations to respond quickly to changing conditions and make data-driven strategic choices.</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Improved Customer Experience: IoT enables the creation of personalized and connected experiences for customers. Smart devices and sensors can collect data about customer preferences, behavior, and usage patterns. This data can be utilized to deliver customized products, services, and recommendations, enhancing customer satisfaction and loyalty.</a:t>
            </a:r>
          </a:p>
        </p:txBody>
      </p:sp>
    </p:spTree>
    <p:extLst>
      <p:ext uri="{BB962C8B-B14F-4D97-AF65-F5344CB8AC3E}">
        <p14:creationId xmlns:p14="http://schemas.microsoft.com/office/powerpoint/2010/main" val="575437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FCC9FD96-846B-4A0C-4477-61C49FEB55C9}"/>
              </a:ext>
            </a:extLst>
          </p:cNvPr>
          <p:cNvSpPr txBox="1"/>
          <p:nvPr/>
        </p:nvSpPr>
        <p:spPr>
          <a:xfrm>
            <a:off x="3013230" y="454526"/>
            <a:ext cx="6165540"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benefits of IoT</a:t>
            </a:r>
            <a:endParaRPr lang="en-IN" sz="3200" dirty="0">
              <a:solidFill>
                <a:srgbClr val="FF0000"/>
              </a:solidFill>
            </a:endParaRPr>
          </a:p>
        </p:txBody>
      </p:sp>
      <p:sp>
        <p:nvSpPr>
          <p:cNvPr id="5" name="TextBox 4">
            <a:extLst>
              <a:ext uri="{FF2B5EF4-FFF2-40B4-BE49-F238E27FC236}">
                <a16:creationId xmlns:a16="http://schemas.microsoft.com/office/drawing/2014/main" id="{8CA15322-CEDD-4B6A-5CEB-F7DDE26E6AC2}"/>
              </a:ext>
            </a:extLst>
          </p:cNvPr>
          <p:cNvSpPr txBox="1"/>
          <p:nvPr/>
        </p:nvSpPr>
        <p:spPr>
          <a:xfrm>
            <a:off x="843281" y="1493827"/>
            <a:ext cx="10667999" cy="4524315"/>
          </a:xfrm>
          <a:prstGeom prst="rect">
            <a:avLst/>
          </a:prstGeom>
          <a:noFill/>
        </p:spPr>
        <p:txBody>
          <a:bodyPr wrap="square">
            <a:spAutoFit/>
          </a:bodyPr>
          <a:lstStyle/>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Safety and Security: IoT plays a crucial role in enhancing safety and security across various domains. Connected surveillance systems, smart home security devices, and industrial monitoring systems can detect threats, monitor critical parameters, and alert stakeholders in real time, enabling timely action and mitigating risks.</a:t>
            </a:r>
          </a:p>
          <a:p>
            <a:pPr marL="342900" indent="-342900" algn="just">
              <a:buFont typeface="Wingdings" panose="05000000000000000000" pitchFamily="2" charset="2"/>
              <a:buChar char="Ø"/>
            </a:pPr>
            <a:endParaRPr lang="en-US" sz="2400" b="0" i="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Healthcare and Well-being: IoT has significant applications in healthcare, enabling remote patient monitoring, wearable health devices, and smart healthcare systems. IoT can improve patient care, enhance health monitoring, and enable timely interventions, leading to better health outcomes.</a:t>
            </a:r>
          </a:p>
          <a:p>
            <a:pPr marL="342900" indent="-342900" algn="just">
              <a:buFont typeface="Wingdings" panose="05000000000000000000" pitchFamily="2" charset="2"/>
              <a:buChar char="Ø"/>
            </a:pP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325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9E75392-C4B9-7939-1781-9F6871DE4A45}"/>
              </a:ext>
            </a:extLst>
          </p:cNvPr>
          <p:cNvSpPr txBox="1"/>
          <p:nvPr/>
        </p:nvSpPr>
        <p:spPr>
          <a:xfrm>
            <a:off x="754380" y="1451829"/>
            <a:ext cx="10683240" cy="4154984"/>
          </a:xfrm>
          <a:prstGeom prst="rect">
            <a:avLst/>
          </a:prstGeom>
          <a:noFill/>
        </p:spPr>
        <p:txBody>
          <a:bodyPr wrap="square">
            <a:spAutoFit/>
          </a:bodyPr>
          <a:lstStyle/>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Enhanced Connectivity and Communication: IoT facilitates seamless connectivity and communication between devices, systems, and people. This connectivity enables efficient collaboration, remote control, and remote access to data and devices, enhancing communication and enabling new services and applications.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Innovation and New Business Opportunities: IoT fosters innovation and creates new business opportunities. By leveraging IoT technologies and data, organizations can develop new products, services, and business models. IoT enables the creation of smart cities, connected transportation systems, smart homes, and various other innovative applications.</a:t>
            </a:r>
          </a:p>
        </p:txBody>
      </p:sp>
      <p:sp>
        <p:nvSpPr>
          <p:cNvPr id="5" name="TextBox 4">
            <a:extLst>
              <a:ext uri="{FF2B5EF4-FFF2-40B4-BE49-F238E27FC236}">
                <a16:creationId xmlns:a16="http://schemas.microsoft.com/office/drawing/2014/main" id="{298A6865-4FB4-9F6A-7825-8B2A53A5AEAB}"/>
              </a:ext>
            </a:extLst>
          </p:cNvPr>
          <p:cNvSpPr txBox="1"/>
          <p:nvPr/>
        </p:nvSpPr>
        <p:spPr>
          <a:xfrm>
            <a:off x="3007360" y="433527"/>
            <a:ext cx="6177280" cy="584775"/>
          </a:xfrm>
          <a:prstGeom prst="rect">
            <a:avLst/>
          </a:prstGeom>
          <a:noFill/>
        </p:spPr>
        <p:txBody>
          <a:bodyPr wrap="square">
            <a:spAutoFit/>
          </a:bodyPr>
          <a:lstStyle/>
          <a:p>
            <a:pPr algn="ctr"/>
            <a:r>
              <a:rPr lang="en-IN" sz="3200" b="1" dirty="0">
                <a:solidFill>
                  <a:srgbClr val="FF0000"/>
                </a:solidFill>
                <a:latin typeface="Times New Roman" panose="02020603050405020304" pitchFamily="18" charset="0"/>
                <a:cs typeface="Times New Roman" panose="02020603050405020304" pitchFamily="18" charset="0"/>
              </a:rPr>
              <a:t>benefits of IoT</a:t>
            </a:r>
            <a:endParaRPr lang="en-IN" sz="3200" dirty="0">
              <a:solidFill>
                <a:srgbClr val="FF0000"/>
              </a:solidFill>
            </a:endParaRPr>
          </a:p>
        </p:txBody>
      </p:sp>
    </p:spTree>
    <p:extLst>
      <p:ext uri="{BB962C8B-B14F-4D97-AF65-F5344CB8AC3E}">
        <p14:creationId xmlns:p14="http://schemas.microsoft.com/office/powerpoint/2010/main" val="2313182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D55DFD9-ECFD-354E-DB8A-4FA905450E97}"/>
              </a:ext>
            </a:extLst>
          </p:cNvPr>
          <p:cNvSpPr txBox="1"/>
          <p:nvPr/>
        </p:nvSpPr>
        <p:spPr>
          <a:xfrm>
            <a:off x="2103120" y="2968105"/>
            <a:ext cx="7985760" cy="1365182"/>
          </a:xfrm>
          <a:prstGeom prst="rect">
            <a:avLst/>
          </a:prstGeom>
          <a:noFill/>
        </p:spPr>
        <p:txBody>
          <a:bodyPr wrap="square">
            <a:spAutoFit/>
          </a:bodyPr>
          <a:lstStyle/>
          <a:p>
            <a:pPr algn="ctr">
              <a:lnSpc>
                <a:spcPct val="107000"/>
              </a:lnSpc>
              <a:spcAft>
                <a:spcPts val="800"/>
              </a:spcAft>
            </a:pPr>
            <a:r>
              <a:rPr lang="en-IN" sz="40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What are the different types of components used in IoT?</a:t>
            </a:r>
            <a:endParaRPr lang="en-IN" sz="40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6055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D55DFD9-ECFD-354E-DB8A-4FA905450E97}"/>
              </a:ext>
            </a:extLst>
          </p:cNvPr>
          <p:cNvSpPr txBox="1"/>
          <p:nvPr/>
        </p:nvSpPr>
        <p:spPr>
          <a:xfrm>
            <a:off x="3078480" y="437962"/>
            <a:ext cx="6238240" cy="460895"/>
          </a:xfrm>
          <a:prstGeom prst="rect">
            <a:avLst/>
          </a:prstGeom>
          <a:noFill/>
        </p:spPr>
        <p:txBody>
          <a:bodyPr wrap="square">
            <a:spAutoFit/>
          </a:bodyPr>
          <a:lstStyle/>
          <a:p>
            <a:pPr algn="ctr">
              <a:lnSpc>
                <a:spcPct val="107000"/>
              </a:lnSpc>
              <a:spcAft>
                <a:spcPts val="800"/>
              </a:spcAft>
            </a:pPr>
            <a:r>
              <a:rPr lang="en-IN"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components used in IoT</a:t>
            </a:r>
            <a:endParaRPr lang="en-IN" sz="2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6DF2505-76B4-6D66-98FE-16B48BAD659C}"/>
              </a:ext>
            </a:extLst>
          </p:cNvPr>
          <p:cNvPicPr>
            <a:picLocks noChangeAspect="1"/>
          </p:cNvPicPr>
          <p:nvPr/>
        </p:nvPicPr>
        <p:blipFill>
          <a:blip r:embed="rId3"/>
          <a:stretch>
            <a:fillRect/>
          </a:stretch>
        </p:blipFill>
        <p:spPr>
          <a:xfrm>
            <a:off x="1087120" y="1768982"/>
            <a:ext cx="9844429" cy="3087498"/>
          </a:xfrm>
          <a:prstGeom prst="rect">
            <a:avLst/>
          </a:prstGeom>
        </p:spPr>
      </p:pic>
    </p:spTree>
    <p:extLst>
      <p:ext uri="{BB962C8B-B14F-4D97-AF65-F5344CB8AC3E}">
        <p14:creationId xmlns:p14="http://schemas.microsoft.com/office/powerpoint/2010/main" val="1524123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D55DFD9-ECFD-354E-DB8A-4FA905450E97}"/>
              </a:ext>
            </a:extLst>
          </p:cNvPr>
          <p:cNvSpPr txBox="1"/>
          <p:nvPr/>
        </p:nvSpPr>
        <p:spPr>
          <a:xfrm>
            <a:off x="3078480" y="437962"/>
            <a:ext cx="6238240" cy="460895"/>
          </a:xfrm>
          <a:prstGeom prst="rect">
            <a:avLst/>
          </a:prstGeom>
          <a:noFill/>
        </p:spPr>
        <p:txBody>
          <a:bodyPr wrap="square">
            <a:spAutoFit/>
          </a:bodyPr>
          <a:lstStyle/>
          <a:p>
            <a:pPr algn="ctr">
              <a:lnSpc>
                <a:spcPct val="107000"/>
              </a:lnSpc>
              <a:spcAft>
                <a:spcPts val="800"/>
              </a:spcAft>
            </a:pPr>
            <a:r>
              <a:rPr lang="en-IN"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components used in IoT</a:t>
            </a:r>
            <a:endParaRPr lang="en-IN" sz="2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3E7E861-8CC7-E7E0-06E0-F00005FE197D}"/>
              </a:ext>
            </a:extLst>
          </p:cNvPr>
          <p:cNvSpPr txBox="1"/>
          <p:nvPr/>
        </p:nvSpPr>
        <p:spPr>
          <a:xfrm>
            <a:off x="594804" y="1336819"/>
            <a:ext cx="10546672" cy="4296754"/>
          </a:xfrm>
          <a:prstGeom prst="rect">
            <a:avLst/>
          </a:prstGeom>
          <a:noFill/>
        </p:spPr>
        <p:txBody>
          <a:bodyPr wrap="square">
            <a:spAutoFit/>
          </a:bodyPr>
          <a:lstStyle/>
          <a:p>
            <a:pPr algn="just">
              <a:lnSpc>
                <a:spcPct val="107000"/>
              </a:lnSpc>
              <a:spcAft>
                <a:spcPts val="800"/>
              </a:spcAft>
            </a:pPr>
            <a:r>
              <a:rPr lang="en-IN" sz="20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Sensors:</a:t>
            </a: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Sensors are the most important part of IoT devices. In IoT devices, a sensor is used as an input device to gather live data from the surrounding environment. It can gather different types of data. For example, your phone has a temperature sensor, a GPS, an accelerometer, or a live video feature on a social media platform. Sensors make it possible for IoT devices to connect to the real world and outside the environment. This is all possible because of sensors.</a:t>
            </a:r>
          </a:p>
          <a:p>
            <a:pPr algn="just">
              <a:lnSpc>
                <a:spcPct val="107000"/>
              </a:lnSpc>
              <a:spcAft>
                <a:spcPts val="800"/>
              </a:spcAft>
            </a:pPr>
            <a:endPar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Aft>
                <a:spcPts val="800"/>
              </a:spcAft>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Connectivity Mediums:</a:t>
            </a: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After gathering data from the sensors, all data is sent to a cloud infrastructure. This is possible because of connecting the sensors to the cloud using a variety of communication mediums such as mobile or satellite networks, Bluetooth, WI-FI, WAN, etc. There are various types of IoT devices, and they use different types of connectivity mediums for communication.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3795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D55DFD9-ECFD-354E-DB8A-4FA905450E97}"/>
              </a:ext>
            </a:extLst>
          </p:cNvPr>
          <p:cNvSpPr txBox="1"/>
          <p:nvPr/>
        </p:nvSpPr>
        <p:spPr>
          <a:xfrm>
            <a:off x="3078480" y="437962"/>
            <a:ext cx="6238240" cy="460895"/>
          </a:xfrm>
          <a:prstGeom prst="rect">
            <a:avLst/>
          </a:prstGeom>
          <a:noFill/>
        </p:spPr>
        <p:txBody>
          <a:bodyPr wrap="square">
            <a:spAutoFit/>
          </a:bodyPr>
          <a:lstStyle/>
          <a:p>
            <a:pPr algn="ctr">
              <a:lnSpc>
                <a:spcPct val="107000"/>
              </a:lnSpc>
              <a:spcAft>
                <a:spcPts val="800"/>
              </a:spcAft>
            </a:pPr>
            <a:r>
              <a:rPr lang="en-IN"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components used in IoT</a:t>
            </a:r>
            <a:endParaRPr lang="en-IN" sz="2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3E7E861-8CC7-E7E0-06E0-F00005FE197D}"/>
              </a:ext>
            </a:extLst>
          </p:cNvPr>
          <p:cNvSpPr txBox="1"/>
          <p:nvPr/>
        </p:nvSpPr>
        <p:spPr>
          <a:xfrm>
            <a:off x="594804" y="1336819"/>
            <a:ext cx="10546672" cy="4296754"/>
          </a:xfrm>
          <a:prstGeom prst="rect">
            <a:avLst/>
          </a:prstGeom>
          <a:noFill/>
        </p:spPr>
        <p:txBody>
          <a:bodyPr wrap="square">
            <a:spAutoFit/>
          </a:bodyPr>
          <a:lstStyle/>
          <a:p>
            <a:pPr algn="just">
              <a:lnSpc>
                <a:spcPct val="107000"/>
              </a:lnSpc>
              <a:spcAft>
                <a:spcPts val="800"/>
              </a:spcAft>
            </a:pPr>
            <a:r>
              <a:rPr lang="en-IN" sz="20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Data Processing:</a:t>
            </a: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Data Processing: The data processing compound comes into play when the data has been collected and has reached the cloud. Now, it is the responsibility of the data processors to process the data for further use. Data processing software is required to enhance IoT devices in several ways. For example, it can adjust the air conditioner's temperature or recognize the faces on mobile phones and so on.</a:t>
            </a:r>
          </a:p>
          <a:p>
            <a:pPr algn="just">
              <a:lnSpc>
                <a:spcPct val="107000"/>
              </a:lnSpc>
              <a:spcAft>
                <a:spcPts val="800"/>
              </a:spcAft>
            </a:pPr>
            <a:endPar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Aft>
                <a:spcPts val="800"/>
              </a:spcAft>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User Interface:</a:t>
            </a: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The IoT devices require a user interface to interact with a user. A user interface is the visible, tangible component of an IoT system that users can access. It makes the information presentable and valuable for the end-user. A well-designed user interface can enrich the experience for users and encourage them to interact more. It makes the information easy and accessible to end-users, like sending alerts via notification, email, or text message.</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72233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BFA0CB7B-8EA3-ACFA-9D30-8C8D91D17884}"/>
              </a:ext>
            </a:extLst>
          </p:cNvPr>
          <p:cNvSpPr txBox="1"/>
          <p:nvPr/>
        </p:nvSpPr>
        <p:spPr>
          <a:xfrm>
            <a:off x="1137920" y="2980174"/>
            <a:ext cx="9916160" cy="707886"/>
          </a:xfrm>
          <a:prstGeom prst="rect">
            <a:avLst/>
          </a:prstGeom>
          <a:noFill/>
        </p:spPr>
        <p:txBody>
          <a:bodyPr wrap="square">
            <a:spAutoFit/>
          </a:bodyPr>
          <a:lstStyle/>
          <a:p>
            <a:r>
              <a:rPr lang="en-US" sz="4000" b="1" i="0" dirty="0">
                <a:solidFill>
                  <a:srgbClr val="FF0000"/>
                </a:solidFill>
                <a:effectLst/>
                <a:latin typeface="Times New Roman" panose="02020603050405020304" pitchFamily="18" charset="0"/>
                <a:cs typeface="Times New Roman" panose="02020603050405020304" pitchFamily="18" charset="0"/>
              </a:rPr>
              <a:t>What is the most common IoT architecture?</a:t>
            </a:r>
            <a:endParaRPr lang="en-IN" sz="4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516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44AA6B54-05BA-7DB4-BA20-12A067D2C0C6}"/>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sp>
        <p:nvSpPr>
          <p:cNvPr id="5" name="TextBox 4">
            <a:extLst>
              <a:ext uri="{FF2B5EF4-FFF2-40B4-BE49-F238E27FC236}">
                <a16:creationId xmlns:a16="http://schemas.microsoft.com/office/drawing/2014/main" id="{1A3C3776-60DD-5A73-A581-AC01BCF94E5E}"/>
              </a:ext>
            </a:extLst>
          </p:cNvPr>
          <p:cNvSpPr txBox="1"/>
          <p:nvPr/>
        </p:nvSpPr>
        <p:spPr>
          <a:xfrm>
            <a:off x="817880" y="1351508"/>
            <a:ext cx="10556240" cy="4154984"/>
          </a:xfrm>
          <a:prstGeom prst="rect">
            <a:avLst/>
          </a:prstGeom>
          <a:noFill/>
        </p:spPr>
        <p:txBody>
          <a:bodyPr wrap="square">
            <a:spAutoFit/>
          </a:bodyPr>
          <a:lstStyle/>
          <a:p>
            <a:pPr marL="0" indent="0" algn="just">
              <a:buNone/>
            </a:pPr>
            <a:r>
              <a:rPr lang="en-US" sz="2400" dirty="0">
                <a:effectLst/>
                <a:latin typeface="Times New Roman" panose="02020603050405020304" pitchFamily="18" charset="0"/>
                <a:cs typeface="Times New Roman" panose="02020603050405020304" pitchFamily="18" charset="0"/>
              </a:rPr>
              <a:t>There is no single and general agreement about the architecture of IoT that is agreed on by the whole world and researchers. Many and different architectures have been proposed by researchers.</a:t>
            </a:r>
          </a:p>
          <a:p>
            <a:pPr marL="0" indent="0" algn="just">
              <a:buNone/>
            </a:pPr>
            <a:br>
              <a:rPr lang="en-US" sz="2400" dirty="0">
                <a:latin typeface="Times New Roman" panose="02020603050405020304" pitchFamily="18" charset="0"/>
                <a:cs typeface="Times New Roman" panose="02020603050405020304" pitchFamily="18" charset="0"/>
              </a:rPr>
            </a:br>
            <a:r>
              <a:rPr lang="en-US" sz="2400" dirty="0">
                <a:effectLst/>
                <a:latin typeface="Times New Roman" panose="02020603050405020304" pitchFamily="18" charset="0"/>
                <a:cs typeface="Times New Roman" panose="02020603050405020304" pitchFamily="18" charset="0"/>
              </a:rPr>
              <a:t>According to some researchers, IoT architecture has three layers, but some researchers support the four-layer architecture. They think that, due to enhancement in IoT, the architecture of three layers cannot fulfill the requirements of applications.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Due to a challenge in IoT regarding security and privacy, the architecture of five layers has also been proposed. It is considered that a recently proposed architecture can fulfill the requirements of IoT regarding security and privacy.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3310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44AA6B54-05BA-7DB4-BA20-12A067D2C0C6}"/>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pic>
        <p:nvPicPr>
          <p:cNvPr id="4" name="Picture 2" descr="Sensors | Free Full-Text | IoT Elements, Layered Architectures and Security  Issues: A Comprehensive Survey | HTML">
            <a:extLst>
              <a:ext uri="{FF2B5EF4-FFF2-40B4-BE49-F238E27FC236}">
                <a16:creationId xmlns:a16="http://schemas.microsoft.com/office/drawing/2014/main" id="{FEE721BB-67DE-DD32-8F26-A6F3F61A12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19387" y="1155140"/>
            <a:ext cx="6753225" cy="5095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655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44AA6B54-05BA-7DB4-BA20-12A067D2C0C6}"/>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pic>
        <p:nvPicPr>
          <p:cNvPr id="2" name="Picture 1">
            <a:extLst>
              <a:ext uri="{FF2B5EF4-FFF2-40B4-BE49-F238E27FC236}">
                <a16:creationId xmlns:a16="http://schemas.microsoft.com/office/drawing/2014/main" id="{25875A1B-622D-AC33-6F69-7F34374A884F}"/>
              </a:ext>
            </a:extLst>
          </p:cNvPr>
          <p:cNvPicPr>
            <a:picLocks noChangeAspect="1"/>
          </p:cNvPicPr>
          <p:nvPr/>
        </p:nvPicPr>
        <p:blipFill>
          <a:blip r:embed="rId3"/>
          <a:stretch>
            <a:fillRect/>
          </a:stretch>
        </p:blipFill>
        <p:spPr>
          <a:xfrm>
            <a:off x="2857500" y="1209379"/>
            <a:ext cx="6477000" cy="5039021"/>
          </a:xfrm>
          <a:prstGeom prst="rect">
            <a:avLst/>
          </a:prstGeom>
        </p:spPr>
      </p:pic>
      <p:sp>
        <p:nvSpPr>
          <p:cNvPr id="6" name="TextBox 5">
            <a:extLst>
              <a:ext uri="{FF2B5EF4-FFF2-40B4-BE49-F238E27FC236}">
                <a16:creationId xmlns:a16="http://schemas.microsoft.com/office/drawing/2014/main" id="{7834B184-599D-F75B-C3F9-219823C2975E}"/>
              </a:ext>
            </a:extLst>
          </p:cNvPr>
          <p:cNvSpPr txBox="1"/>
          <p:nvPr/>
        </p:nvSpPr>
        <p:spPr>
          <a:xfrm>
            <a:off x="4165600" y="865863"/>
            <a:ext cx="4053840" cy="369332"/>
          </a:xfrm>
          <a:prstGeom prst="rect">
            <a:avLst/>
          </a:prstGeom>
          <a:noFill/>
        </p:spPr>
        <p:txBody>
          <a:bodyPr wrap="square">
            <a:spAutoFit/>
          </a:bodyPr>
          <a:lstStyle/>
          <a:p>
            <a:r>
              <a:rPr lang="en-US" b="1" dirty="0">
                <a:effectLst/>
                <a:latin typeface="Times New Roman" panose="02020603050405020304" pitchFamily="18" charset="0"/>
                <a:cs typeface="Times New Roman" panose="02020603050405020304" pitchFamily="18" charset="0"/>
              </a:rPr>
              <a:t>Improved Layered Architecture of IoT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2442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7BCAA135-1B24-6402-9A14-B44D0B8529BF}"/>
              </a:ext>
            </a:extLst>
          </p:cNvPr>
          <p:cNvSpPr txBox="1"/>
          <p:nvPr/>
        </p:nvSpPr>
        <p:spPr>
          <a:xfrm>
            <a:off x="568960" y="1595180"/>
            <a:ext cx="11054080" cy="4154984"/>
          </a:xfrm>
          <a:prstGeom prst="rect">
            <a:avLst/>
          </a:prstGeom>
          <a:noFill/>
        </p:spPr>
        <p:txBody>
          <a:bodyPr wrap="square">
            <a:spAutoFit/>
          </a:bodyPr>
          <a:lstStyle/>
          <a:p>
            <a:pPr marL="0" indent="0" algn="just">
              <a:buNone/>
            </a:pPr>
            <a:r>
              <a:rPr lang="en-US" sz="2400" b="1" dirty="0">
                <a:effectLst/>
                <a:latin typeface="Times New Roman" panose="02020603050405020304" pitchFamily="18" charset="0"/>
                <a:cs typeface="Times New Roman" panose="02020603050405020304" pitchFamily="18" charset="0"/>
              </a:rPr>
              <a:t>Perception Layer:</a:t>
            </a:r>
          </a:p>
          <a:p>
            <a:pPr marL="0" indent="0" algn="just">
              <a:buNone/>
            </a:pPr>
            <a:r>
              <a:rPr lang="en-US" sz="2400" dirty="0">
                <a:effectLst/>
                <a:latin typeface="Times New Roman" panose="02020603050405020304" pitchFamily="18" charset="0"/>
                <a:cs typeface="Times New Roman" panose="02020603050405020304" pitchFamily="18" charset="0"/>
              </a:rPr>
              <a:t>It is also known as a </a:t>
            </a:r>
            <a:r>
              <a:rPr lang="en-US" sz="2400" b="1" dirty="0">
                <a:effectLst/>
                <a:latin typeface="Times New Roman" panose="02020603050405020304" pitchFamily="18" charset="0"/>
                <a:cs typeface="Times New Roman" panose="02020603050405020304" pitchFamily="18" charset="0"/>
              </a:rPr>
              <a:t>sensor</a:t>
            </a:r>
            <a:r>
              <a:rPr lang="en-US" sz="240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layer</a:t>
            </a:r>
            <a:r>
              <a:rPr lang="en-US" sz="2400" dirty="0">
                <a:effectLst/>
                <a:latin typeface="Times New Roman" panose="02020603050405020304" pitchFamily="18" charset="0"/>
                <a:cs typeface="Times New Roman" panose="02020603050405020304" pitchFamily="18" charset="0"/>
              </a:rPr>
              <a:t> or </a:t>
            </a:r>
            <a:r>
              <a:rPr lang="en-US" sz="2400" b="1" dirty="0">
                <a:effectLst/>
                <a:latin typeface="Times New Roman" panose="02020603050405020304" pitchFamily="18" charset="0"/>
                <a:cs typeface="Times New Roman" panose="02020603050405020304" pitchFamily="18" charset="0"/>
              </a:rPr>
              <a:t>physical</a:t>
            </a:r>
            <a:r>
              <a:rPr lang="en-US" sz="240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layer</a:t>
            </a:r>
            <a:r>
              <a:rPr lang="en-US" sz="2400" dirty="0">
                <a:effectLst/>
                <a:latin typeface="Times New Roman" panose="02020603050405020304" pitchFamily="18" charset="0"/>
                <a:cs typeface="Times New Roman" panose="02020603050405020304" pitchFamily="18" charset="0"/>
              </a:rPr>
              <a:t>.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It acts like five organs of IoT. It identifies objects in order to gather information.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For this purpose, different types of sensors are attached to the objects such Radio Frequency Identification (RFID) tags, barcode, Bluetooth, wireless sensors, LTE, etc.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A sensor is chosen according to the needs of users and objects where it is attached. It sends collected information to the observer layer to check the authentication of these sensors and devices.</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EB73AC4-6888-55B9-FDF7-5BD65269F50D}"/>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spTree>
    <p:extLst>
      <p:ext uri="{BB962C8B-B14F-4D97-AF65-F5344CB8AC3E}">
        <p14:creationId xmlns:p14="http://schemas.microsoft.com/office/powerpoint/2010/main" val="601571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EACEB16-B6DB-FA78-EBC7-BF1EC8A659A2}"/>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sp>
        <p:nvSpPr>
          <p:cNvPr id="4" name="TextBox 3">
            <a:extLst>
              <a:ext uri="{FF2B5EF4-FFF2-40B4-BE49-F238E27FC236}">
                <a16:creationId xmlns:a16="http://schemas.microsoft.com/office/drawing/2014/main" id="{1A73E14E-CDA9-BBDE-48B6-29F436F1FADE}"/>
              </a:ext>
            </a:extLst>
          </p:cNvPr>
          <p:cNvSpPr txBox="1"/>
          <p:nvPr/>
        </p:nvSpPr>
        <p:spPr>
          <a:xfrm>
            <a:off x="746760" y="1321693"/>
            <a:ext cx="10698480" cy="4154984"/>
          </a:xfrm>
          <a:prstGeom prst="rect">
            <a:avLst/>
          </a:prstGeom>
          <a:noFill/>
        </p:spPr>
        <p:txBody>
          <a:bodyPr wrap="square">
            <a:spAutoFit/>
          </a:bodyPr>
          <a:lstStyle/>
          <a:p>
            <a:pPr marL="0" indent="0" algn="just">
              <a:buNone/>
            </a:pPr>
            <a:r>
              <a:rPr lang="en-US" sz="2400" b="1" dirty="0">
                <a:effectLst/>
                <a:latin typeface="Times New Roman" panose="02020603050405020304" pitchFamily="18" charset="0"/>
                <a:cs typeface="Times New Roman" panose="02020603050405020304" pitchFamily="18" charset="0"/>
              </a:rPr>
              <a:t>Observer Layer:</a:t>
            </a:r>
          </a:p>
          <a:p>
            <a:pPr marL="0" indent="0" algn="just">
              <a:buNone/>
            </a:pPr>
            <a:r>
              <a:rPr lang="en-US" sz="2400" dirty="0">
                <a:effectLst/>
                <a:latin typeface="Times New Roman" panose="02020603050405020304" pitchFamily="18" charset="0"/>
                <a:cs typeface="Times New Roman" panose="02020603050405020304" pitchFamily="18" charset="0"/>
              </a:rPr>
              <a:t>The observer layer is also known as a </a:t>
            </a:r>
            <a:r>
              <a:rPr lang="en-US" sz="2400" b="1" dirty="0">
                <a:effectLst/>
                <a:latin typeface="Times New Roman" panose="02020603050405020304" pitchFamily="18" charset="0"/>
                <a:cs typeface="Times New Roman" panose="02020603050405020304" pitchFamily="18" charset="0"/>
              </a:rPr>
              <a:t>monitor</a:t>
            </a:r>
            <a:r>
              <a:rPr lang="en-US" sz="240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layer</a:t>
            </a:r>
            <a:r>
              <a:rPr lang="en-US" sz="2400" dirty="0">
                <a:effectLst/>
                <a:latin typeface="Times New Roman" panose="02020603050405020304" pitchFamily="18" charset="0"/>
                <a:cs typeface="Times New Roman" panose="02020603050405020304" pitchFamily="18" charset="0"/>
              </a:rPr>
              <a:t>. The perception layer sends information to the observer layer. It checks information about whether it is protected from intruders and viruses or not.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If there is any attack, it does not pass information to the next layer for further processing. It only passes that information that is protected from intruders and viruses.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Furthermore, it also checks authentication of the objects. There are many ways to prove the identity such as authentication.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859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EACEB16-B6DB-FA78-EBC7-BF1EC8A659A2}"/>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sp>
        <p:nvSpPr>
          <p:cNvPr id="5" name="TextBox 4">
            <a:extLst>
              <a:ext uri="{FF2B5EF4-FFF2-40B4-BE49-F238E27FC236}">
                <a16:creationId xmlns:a16="http://schemas.microsoft.com/office/drawing/2014/main" id="{E75E9034-9BB8-AD98-33E1-0CDA531525EF}"/>
              </a:ext>
            </a:extLst>
          </p:cNvPr>
          <p:cNvSpPr txBox="1"/>
          <p:nvPr/>
        </p:nvSpPr>
        <p:spPr>
          <a:xfrm>
            <a:off x="883920" y="1405880"/>
            <a:ext cx="10668000" cy="3785652"/>
          </a:xfrm>
          <a:prstGeom prst="rect">
            <a:avLst/>
          </a:prstGeom>
          <a:noFill/>
        </p:spPr>
        <p:txBody>
          <a:bodyPr wrap="square">
            <a:spAutoFit/>
          </a:bodyPr>
          <a:lstStyle/>
          <a:p>
            <a:pPr marL="0" indent="0" algn="just">
              <a:buNone/>
            </a:pPr>
            <a:r>
              <a:rPr lang="en-US" sz="2400" b="1" dirty="0">
                <a:effectLst/>
                <a:latin typeface="Times New Roman" panose="02020603050405020304" pitchFamily="18" charset="0"/>
                <a:cs typeface="Times New Roman" panose="02020603050405020304" pitchFamily="18" charset="0"/>
              </a:rPr>
              <a:t>Processing Layer:</a:t>
            </a:r>
          </a:p>
          <a:p>
            <a:pPr marL="0" indent="0" algn="just">
              <a:buNone/>
            </a:pPr>
            <a:r>
              <a:rPr lang="en-US" sz="2400" dirty="0">
                <a:effectLst/>
                <a:latin typeface="Times New Roman" panose="02020603050405020304" pitchFamily="18" charset="0"/>
                <a:cs typeface="Times New Roman" panose="02020603050405020304" pitchFamily="18" charset="0"/>
              </a:rPr>
              <a:t>It collects information from the observer layer. It trusts that the information provided by the observer layer is protected from every type of attack. This layer is designed to eliminate unnecessary information.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It stores, analyzes and processes a huge amount of information that comes from the observer layer. It uses various technologies to extract useful information such as databases, cloud computing and data processing modules. The reason of removing unnecessary information is to save the network from heavy traffic. It also saves storage devices so that they cannot cross their limits.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0754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EACEB16-B6DB-FA78-EBC7-BF1EC8A659A2}"/>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sp>
        <p:nvSpPr>
          <p:cNvPr id="4" name="TextBox 3">
            <a:extLst>
              <a:ext uri="{FF2B5EF4-FFF2-40B4-BE49-F238E27FC236}">
                <a16:creationId xmlns:a16="http://schemas.microsoft.com/office/drawing/2014/main" id="{1C2321EB-9E81-7008-3811-E8400AAC60EE}"/>
              </a:ext>
            </a:extLst>
          </p:cNvPr>
          <p:cNvSpPr txBox="1"/>
          <p:nvPr/>
        </p:nvSpPr>
        <p:spPr>
          <a:xfrm>
            <a:off x="655320" y="1103451"/>
            <a:ext cx="10881360" cy="5324535"/>
          </a:xfrm>
          <a:prstGeom prst="rect">
            <a:avLst/>
          </a:prstGeom>
          <a:noFill/>
        </p:spPr>
        <p:txBody>
          <a:bodyPr wrap="square">
            <a:spAutoFit/>
          </a:bodyPr>
          <a:lstStyle/>
          <a:p>
            <a:pPr marL="0" indent="0" algn="just">
              <a:buNone/>
            </a:pPr>
            <a:r>
              <a:rPr lang="en-US" sz="2000" b="1" dirty="0">
                <a:effectLst/>
                <a:latin typeface="Times New Roman" panose="02020603050405020304" pitchFamily="18" charset="0"/>
                <a:cs typeface="Times New Roman" panose="02020603050405020304" pitchFamily="18" charset="0"/>
              </a:rPr>
              <a:t>Security Layer:</a:t>
            </a:r>
          </a:p>
          <a:p>
            <a:pPr marL="0" indent="0" algn="just">
              <a:buNone/>
            </a:pPr>
            <a:r>
              <a:rPr lang="en-US" sz="2000" dirty="0">
                <a:effectLst/>
                <a:latin typeface="Times New Roman" panose="02020603050405020304" pitchFamily="18" charset="0"/>
                <a:cs typeface="Times New Roman" panose="02020603050405020304" pitchFamily="18" charset="0"/>
              </a:rPr>
              <a:t>There are many proposed architectures of IoT, but they do not have a layer regarding security. It is designed to make the architecture of IoT secure. </a:t>
            </a:r>
          </a:p>
          <a:p>
            <a:pPr marL="0" indent="0" algn="just">
              <a:buNone/>
            </a:pPr>
            <a:endParaRPr lang="en-US" sz="2000" dirty="0">
              <a:effectLst/>
              <a:latin typeface="Times New Roman" panose="02020603050405020304" pitchFamily="18" charset="0"/>
              <a:cs typeface="Times New Roman" panose="02020603050405020304" pitchFamily="18" charset="0"/>
            </a:endParaRPr>
          </a:p>
          <a:p>
            <a:pPr marL="0" indent="0" algn="just">
              <a:buNone/>
            </a:pPr>
            <a:r>
              <a:rPr lang="en-US" sz="2000" dirty="0">
                <a:effectLst/>
                <a:latin typeface="Times New Roman" panose="02020603050405020304" pitchFamily="18" charset="0"/>
                <a:cs typeface="Times New Roman" panose="02020603050405020304" pitchFamily="18" charset="0"/>
              </a:rPr>
              <a:t>There are many attacks on the network layer trying to get information from the users. Therefore, it makes secure information before sending to the network layer. </a:t>
            </a:r>
          </a:p>
          <a:p>
            <a:pPr marL="0" indent="0" algn="just">
              <a:buNone/>
            </a:pPr>
            <a:endParaRPr lang="en-US" sz="2000" dirty="0">
              <a:effectLst/>
              <a:latin typeface="Times New Roman" panose="02020603050405020304" pitchFamily="18" charset="0"/>
              <a:cs typeface="Times New Roman" panose="02020603050405020304" pitchFamily="18" charset="0"/>
            </a:endParaRPr>
          </a:p>
          <a:p>
            <a:pPr marL="0" indent="0" algn="just">
              <a:buNone/>
            </a:pPr>
            <a:r>
              <a:rPr lang="en-US" sz="2000" dirty="0">
                <a:effectLst/>
                <a:latin typeface="Times New Roman" panose="02020603050405020304" pitchFamily="18" charset="0"/>
                <a:cs typeface="Times New Roman" panose="02020603050405020304" pitchFamily="18" charset="0"/>
              </a:rPr>
              <a:t>It receives information from the processing layer. It performs encryption through converting all information collected from the processing layer into unknown form, called cipher text. </a:t>
            </a:r>
          </a:p>
          <a:p>
            <a:pPr marL="0" indent="0" algn="just">
              <a:buNone/>
            </a:pPr>
            <a:endParaRPr lang="en-US" sz="2000" dirty="0">
              <a:effectLst/>
              <a:latin typeface="Times New Roman" panose="02020603050405020304" pitchFamily="18" charset="0"/>
              <a:cs typeface="Times New Roman" panose="02020603050405020304" pitchFamily="18" charset="0"/>
            </a:endParaRPr>
          </a:p>
          <a:p>
            <a:pPr marL="0" indent="0" algn="just">
              <a:buNone/>
            </a:pPr>
            <a:r>
              <a:rPr lang="en-US" sz="2000" dirty="0">
                <a:effectLst/>
                <a:latin typeface="Times New Roman" panose="02020603050405020304" pitchFamily="18" charset="0"/>
                <a:cs typeface="Times New Roman" panose="02020603050405020304" pitchFamily="18" charset="0"/>
              </a:rPr>
              <a:t>The process of encryption is performed by using keys. It sends encrypted information to the network so that could not be understood by anyone other than the authentic users. It also sends a key to the receiver to convert the cipher text into original text. Thus, this layer protects the information of users from the attackers and risks existing on the network layer. </a:t>
            </a:r>
          </a:p>
          <a:p>
            <a:pPr marL="0" indent="0" algn="just">
              <a:buNone/>
            </a:pPr>
            <a:endParaRPr lang="en-US" sz="2000" dirty="0">
              <a:effectLst/>
              <a:latin typeface="Times New Roman" panose="02020603050405020304" pitchFamily="18" charset="0"/>
              <a:cs typeface="Times New Roman" panose="02020603050405020304" pitchFamily="18" charset="0"/>
            </a:endParaRPr>
          </a:p>
          <a:p>
            <a:pPr marL="0" indent="0" algn="just">
              <a:buNone/>
            </a:pPr>
            <a:r>
              <a:rPr lang="en-US" sz="2000" dirty="0">
                <a:effectLst/>
                <a:latin typeface="Times New Roman" panose="02020603050405020304" pitchFamily="18" charset="0"/>
                <a:cs typeface="Times New Roman" panose="02020603050405020304" pitchFamily="18" charset="0"/>
              </a:rPr>
              <a:t>There are many ways to encrypt and decrypt the information such as Advanced Encryption System (AES) and Data Encryption System (DES).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9519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EACEB16-B6DB-FA78-EBC7-BF1EC8A659A2}"/>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sp>
        <p:nvSpPr>
          <p:cNvPr id="4" name="TextBox 3">
            <a:extLst>
              <a:ext uri="{FF2B5EF4-FFF2-40B4-BE49-F238E27FC236}">
                <a16:creationId xmlns:a16="http://schemas.microsoft.com/office/drawing/2014/main" id="{2C03ECB1-21FD-DFE7-5B09-CB0292FAF745}"/>
              </a:ext>
            </a:extLst>
          </p:cNvPr>
          <p:cNvSpPr txBox="1"/>
          <p:nvPr/>
        </p:nvSpPr>
        <p:spPr>
          <a:xfrm>
            <a:off x="828040" y="1321693"/>
            <a:ext cx="10535920" cy="4154984"/>
          </a:xfrm>
          <a:prstGeom prst="rect">
            <a:avLst/>
          </a:prstGeom>
          <a:noFill/>
        </p:spPr>
        <p:txBody>
          <a:bodyPr wrap="square">
            <a:spAutoFit/>
          </a:bodyPr>
          <a:lstStyle/>
          <a:p>
            <a:pPr marL="0" indent="0" algn="just">
              <a:buNone/>
            </a:pPr>
            <a:r>
              <a:rPr lang="en-US" sz="2400" b="1" dirty="0">
                <a:effectLst/>
                <a:latin typeface="Times New Roman" panose="02020603050405020304" pitchFamily="18" charset="0"/>
                <a:cs typeface="Times New Roman" panose="02020603050405020304" pitchFamily="18" charset="0"/>
              </a:rPr>
              <a:t>Network Layer:</a:t>
            </a:r>
          </a:p>
          <a:p>
            <a:pPr marL="0" indent="0" algn="just">
              <a:buNone/>
            </a:pPr>
            <a:r>
              <a:rPr lang="en-US" sz="2400" dirty="0">
                <a:effectLst/>
                <a:latin typeface="Times New Roman" panose="02020603050405020304" pitchFamily="18" charset="0"/>
                <a:cs typeface="Times New Roman" panose="02020603050405020304" pitchFamily="18" charset="0"/>
              </a:rPr>
              <a:t>Network layer is also known as </a:t>
            </a:r>
            <a:r>
              <a:rPr lang="en-US" sz="2400" b="1" dirty="0">
                <a:effectLst/>
                <a:latin typeface="Times New Roman" panose="02020603050405020304" pitchFamily="18" charset="0"/>
                <a:cs typeface="Times New Roman" panose="02020603050405020304" pitchFamily="18" charset="0"/>
              </a:rPr>
              <a:t>transmission</a:t>
            </a:r>
            <a:r>
              <a:rPr lang="en-US" sz="2400" dirty="0">
                <a:effectLst/>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layer</a:t>
            </a:r>
            <a:r>
              <a:rPr lang="en-US" sz="2400" dirty="0">
                <a:effectLst/>
                <a:latin typeface="Times New Roman" panose="02020603050405020304" pitchFamily="18" charset="0"/>
                <a:cs typeface="Times New Roman" panose="02020603050405020304" pitchFamily="18" charset="0"/>
              </a:rPr>
              <a:t>.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The role of it is to connect all things together and permit the sharing of information to other connected things.</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It receives information from the security layer in the form of cipher text. The reason for receiving information in cipher text is to protect from attackers and risks.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The medium of transmission can be both wireless media and wired. The medium is selected according to the needs of users and also communication technologies.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5924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EACEB16-B6DB-FA78-EBC7-BF1EC8A659A2}"/>
              </a:ext>
            </a:extLst>
          </p:cNvPr>
          <p:cNvSpPr txBox="1"/>
          <p:nvPr/>
        </p:nvSpPr>
        <p:spPr>
          <a:xfrm>
            <a:off x="4907280" y="430014"/>
            <a:ext cx="2377440" cy="461665"/>
          </a:xfrm>
          <a:prstGeom prst="rect">
            <a:avLst/>
          </a:prstGeom>
          <a:noFill/>
        </p:spPr>
        <p:txBody>
          <a:bodyPr wrap="square">
            <a:spAutoFit/>
          </a:bodyPr>
          <a:lstStyle/>
          <a:p>
            <a:r>
              <a:rPr lang="en-IN" sz="2400" b="1" dirty="0">
                <a:solidFill>
                  <a:srgbClr val="FF0000"/>
                </a:solidFill>
                <a:latin typeface="Times New Roman" panose="02020603050405020304" pitchFamily="18" charset="0"/>
                <a:cs typeface="Times New Roman" panose="02020603050405020304" pitchFamily="18" charset="0"/>
              </a:rPr>
              <a:t>IoT Architecture</a:t>
            </a:r>
            <a:endParaRPr lang="en-IN" sz="2400" dirty="0">
              <a:solidFill>
                <a:srgbClr val="FF0000"/>
              </a:solidFill>
            </a:endParaRPr>
          </a:p>
        </p:txBody>
      </p:sp>
      <p:sp>
        <p:nvSpPr>
          <p:cNvPr id="4" name="TextBox 3">
            <a:extLst>
              <a:ext uri="{FF2B5EF4-FFF2-40B4-BE49-F238E27FC236}">
                <a16:creationId xmlns:a16="http://schemas.microsoft.com/office/drawing/2014/main" id="{A47B18AF-8227-0F8F-FB2F-7CBCFC93F2C5}"/>
              </a:ext>
            </a:extLst>
          </p:cNvPr>
          <p:cNvSpPr txBox="1"/>
          <p:nvPr/>
        </p:nvSpPr>
        <p:spPr>
          <a:xfrm>
            <a:off x="635000" y="1286669"/>
            <a:ext cx="10922000" cy="4893647"/>
          </a:xfrm>
          <a:prstGeom prst="rect">
            <a:avLst/>
          </a:prstGeom>
          <a:noFill/>
        </p:spPr>
        <p:txBody>
          <a:bodyPr wrap="square">
            <a:spAutoFit/>
          </a:bodyPr>
          <a:lstStyle/>
          <a:p>
            <a:pPr marL="0" indent="0" algn="just">
              <a:buNone/>
            </a:pPr>
            <a:r>
              <a:rPr lang="en-US" sz="2400" b="1" dirty="0">
                <a:effectLst/>
                <a:latin typeface="Times New Roman" panose="02020603050405020304" pitchFamily="18" charset="0"/>
                <a:cs typeface="Times New Roman" panose="02020603050405020304" pitchFamily="18" charset="0"/>
              </a:rPr>
              <a:t>Application Layer:</a:t>
            </a:r>
          </a:p>
          <a:p>
            <a:pPr marL="0" indent="0" algn="just">
              <a:buNone/>
            </a:pPr>
            <a:r>
              <a:rPr lang="en-US" sz="2400" dirty="0">
                <a:effectLst/>
                <a:latin typeface="Times New Roman" panose="02020603050405020304" pitchFamily="18" charset="0"/>
                <a:cs typeface="Times New Roman" panose="02020603050405020304" pitchFamily="18" charset="0"/>
              </a:rPr>
              <a:t>Application layer is the last layer of the newly proposed layered architecture.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It is responsible for data formatting and presentation</a:t>
            </a:r>
          </a:p>
          <a:p>
            <a:pPr marL="0" indent="0" algn="just">
              <a:buNone/>
            </a:pPr>
            <a:r>
              <a:rPr lang="en-US" sz="2400" dirty="0">
                <a:effectLst/>
                <a:latin typeface="Times New Roman" panose="02020603050405020304" pitchFamily="18" charset="0"/>
                <a:cs typeface="Times New Roman" panose="02020603050405020304" pitchFamily="18" charset="0"/>
              </a:rPr>
              <a:t>. </a:t>
            </a:r>
          </a:p>
          <a:p>
            <a:pPr marL="0" indent="0" algn="just">
              <a:buNone/>
            </a:pPr>
            <a:r>
              <a:rPr lang="en-US" sz="2400" dirty="0">
                <a:effectLst/>
                <a:latin typeface="Times New Roman" panose="02020603050405020304" pitchFamily="18" charset="0"/>
                <a:cs typeface="Times New Roman" panose="02020603050405020304" pitchFamily="18" charset="0"/>
              </a:rPr>
              <a:t>It is also responsible for delivery of numerous applications to different users.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It defines several applications in which IoT can be used, such as smart home, smart transport, smart cities, smart health, animals and agriculture. </a:t>
            </a:r>
          </a:p>
          <a:p>
            <a:pPr marL="0" indent="0" algn="just">
              <a:buNone/>
            </a:pPr>
            <a:endParaRPr lang="en-US" sz="2400" dirty="0">
              <a:effectLst/>
              <a:latin typeface="Times New Roman" panose="02020603050405020304" pitchFamily="18" charset="0"/>
              <a:cs typeface="Times New Roman" panose="02020603050405020304" pitchFamily="18" charset="0"/>
            </a:endParaRPr>
          </a:p>
          <a:p>
            <a:pPr marL="0" indent="0" algn="just">
              <a:buNone/>
            </a:pPr>
            <a:r>
              <a:rPr lang="en-US" sz="2400" dirty="0">
                <a:effectLst/>
                <a:latin typeface="Times New Roman" panose="02020603050405020304" pitchFamily="18" charset="0"/>
                <a:cs typeface="Times New Roman" panose="02020603050405020304" pitchFamily="18" charset="0"/>
              </a:rPr>
              <a:t>It has a responsibility for providing the application specific service to the users. </a:t>
            </a:r>
          </a:p>
          <a:p>
            <a:pPr marL="0" indent="0" algn="just">
              <a:buNone/>
            </a:pPr>
            <a:r>
              <a:rPr lang="en-US" sz="2400" dirty="0">
                <a:effectLst/>
                <a:latin typeface="Times New Roman" panose="02020603050405020304" pitchFamily="18" charset="0"/>
                <a:cs typeface="Times New Roman" panose="02020603050405020304" pitchFamily="18" charset="0"/>
              </a:rPr>
              <a:t>The service is chosen according to the information that is collected by the sensors from objects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461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EACEB16-B6DB-FA78-EBC7-BF1EC8A659A2}"/>
              </a:ext>
            </a:extLst>
          </p:cNvPr>
          <p:cNvSpPr txBox="1"/>
          <p:nvPr/>
        </p:nvSpPr>
        <p:spPr>
          <a:xfrm>
            <a:off x="2956560" y="2767280"/>
            <a:ext cx="6278880" cy="1323439"/>
          </a:xfrm>
          <a:prstGeom prst="rect">
            <a:avLst/>
          </a:prstGeom>
          <a:noFill/>
        </p:spPr>
        <p:txBody>
          <a:bodyPr wrap="square">
            <a:spAutoFit/>
          </a:bodyPr>
          <a:lstStyle/>
          <a:p>
            <a:pPr algn="ctr"/>
            <a:r>
              <a:rPr lang="en-IN" sz="4000" b="1" i="0" dirty="0">
                <a:solidFill>
                  <a:srgbClr val="FF0000"/>
                </a:solidFill>
                <a:effectLst/>
                <a:latin typeface="Times New Roman" panose="02020603050405020304" pitchFamily="18" charset="0"/>
                <a:cs typeface="Times New Roman" panose="02020603050405020304" pitchFamily="18" charset="0"/>
              </a:rPr>
              <a:t>List out some IoT Development Boards</a:t>
            </a:r>
          </a:p>
        </p:txBody>
      </p:sp>
    </p:spTree>
    <p:extLst>
      <p:ext uri="{BB962C8B-B14F-4D97-AF65-F5344CB8AC3E}">
        <p14:creationId xmlns:p14="http://schemas.microsoft.com/office/powerpoint/2010/main" val="280128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7D96E4D-D9B4-E977-FB28-269C06646A08}"/>
              </a:ext>
            </a:extLst>
          </p:cNvPr>
          <p:cNvSpPr txBox="1"/>
          <p:nvPr/>
        </p:nvSpPr>
        <p:spPr>
          <a:xfrm>
            <a:off x="526002" y="1088384"/>
            <a:ext cx="10775271" cy="369332"/>
          </a:xfrm>
          <a:prstGeom prst="rect">
            <a:avLst/>
          </a:prstGeom>
          <a:noFill/>
        </p:spPr>
        <p:txBody>
          <a:bodyPr wrap="square">
            <a:spAutoFit/>
          </a:bodyPr>
          <a:lstStyle/>
          <a:p>
            <a:pPr algn="just"/>
            <a:r>
              <a:rPr lang="en-US" sz="1800" b="0" i="0" dirty="0">
                <a:solidFill>
                  <a:srgbClr val="000000"/>
                </a:solidFill>
                <a:effectLst/>
                <a:latin typeface="Times New Roman" panose="02020603050405020304" pitchFamily="18" charset="0"/>
                <a:cs typeface="Times New Roman" panose="02020603050405020304" pitchFamily="18" charset="0"/>
              </a:rPr>
              <a:t>Any development board you consider for an IoT project must include a few important features. Those are:</a:t>
            </a:r>
          </a:p>
        </p:txBody>
      </p:sp>
      <p:sp>
        <p:nvSpPr>
          <p:cNvPr id="5" name="TextBox 4">
            <a:extLst>
              <a:ext uri="{FF2B5EF4-FFF2-40B4-BE49-F238E27FC236}">
                <a16:creationId xmlns:a16="http://schemas.microsoft.com/office/drawing/2014/main" id="{AFDF25EC-8FCE-D093-86AB-3ADC923E4A74}"/>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8194" name="Picture 2" descr="Features For Your Development Board">
            <a:extLst>
              <a:ext uri="{FF2B5EF4-FFF2-40B4-BE49-F238E27FC236}">
                <a16:creationId xmlns:a16="http://schemas.microsoft.com/office/drawing/2014/main" id="{83BBDD92-E59A-681F-B855-A0F1F3F51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309" y="1674741"/>
            <a:ext cx="4150465" cy="4108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297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521A071-B560-E080-E329-D294DD54F4E5}"/>
              </a:ext>
            </a:extLst>
          </p:cNvPr>
          <p:cNvSpPr txBox="1"/>
          <p:nvPr/>
        </p:nvSpPr>
        <p:spPr>
          <a:xfrm>
            <a:off x="889000" y="1411744"/>
            <a:ext cx="10414000" cy="4401205"/>
          </a:xfrm>
          <a:prstGeom prst="rect">
            <a:avLst/>
          </a:prstGeom>
          <a:noFill/>
        </p:spPr>
        <p:txBody>
          <a:bodyPr wrap="square">
            <a:spAutoFit/>
          </a:bodyPr>
          <a:lstStyle/>
          <a:p>
            <a:pPr algn="just"/>
            <a:r>
              <a:rPr lang="en-US" sz="2000" b="1" i="0" dirty="0">
                <a:solidFill>
                  <a:srgbClr val="000000"/>
                </a:solidFill>
                <a:effectLst/>
                <a:latin typeface="Times New Roman" panose="02020603050405020304" pitchFamily="18" charset="0"/>
                <a:cs typeface="Times New Roman" panose="02020603050405020304" pitchFamily="18" charset="0"/>
              </a:rPr>
              <a:t>Processing power.</a:t>
            </a:r>
            <a:r>
              <a:rPr lang="en-US" sz="2000" b="0" i="0" dirty="0">
                <a:solidFill>
                  <a:srgbClr val="000000"/>
                </a:solidFill>
                <a:effectLst/>
                <a:latin typeface="Times New Roman" panose="02020603050405020304" pitchFamily="18" charset="0"/>
                <a:cs typeface="Times New Roman" panose="02020603050405020304" pitchFamily="18" charset="0"/>
              </a:rPr>
              <a:t> This could be in the form of a CPU, microcontroller, FPGA (</a:t>
            </a:r>
            <a:r>
              <a:rPr lang="en-IN" sz="2000" dirty="0">
                <a:solidFill>
                  <a:srgbClr val="000000"/>
                </a:solidFill>
                <a:latin typeface="Times New Roman" panose="02020603050405020304" pitchFamily="18" charset="0"/>
                <a:cs typeface="Times New Roman" panose="02020603050405020304" pitchFamily="18" charset="0"/>
              </a:rPr>
              <a:t>Field Programmable Gate Array</a:t>
            </a:r>
            <a:r>
              <a:rPr lang="en-US" sz="2000" b="0" i="0" dirty="0">
                <a:solidFill>
                  <a:srgbClr val="000000"/>
                </a:solidFill>
                <a:effectLst/>
                <a:latin typeface="Times New Roman" panose="02020603050405020304" pitchFamily="18" charset="0"/>
                <a:cs typeface="Times New Roman" panose="02020603050405020304" pitchFamily="18" charset="0"/>
              </a:rPr>
              <a:t>), or other CPLD (</a:t>
            </a:r>
            <a:r>
              <a:rPr lang="en-IN" sz="2000" dirty="0">
                <a:solidFill>
                  <a:srgbClr val="000000"/>
                </a:solidFill>
                <a:latin typeface="Times New Roman" panose="02020603050405020304" pitchFamily="18" charset="0"/>
                <a:cs typeface="Times New Roman" panose="02020603050405020304" pitchFamily="18" charset="0"/>
              </a:rPr>
              <a:t>Complex Programmable Logic Device</a:t>
            </a:r>
            <a:r>
              <a:rPr lang="en-US" sz="2000" b="0" i="0" dirty="0">
                <a:solidFill>
                  <a:srgbClr val="000000"/>
                </a:solidFill>
                <a:effectLst/>
                <a:latin typeface="Times New Roman" panose="02020603050405020304" pitchFamily="18" charset="0"/>
                <a:cs typeface="Times New Roman" panose="02020603050405020304" pitchFamily="18" charset="0"/>
              </a:rPr>
              <a:t>). A microcontroller comes in handy for programming your device as many manufacturers provide the IDE you need. </a:t>
            </a:r>
          </a:p>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just"/>
            <a:r>
              <a:rPr lang="en-US" sz="2000" b="1" i="0" dirty="0">
                <a:solidFill>
                  <a:srgbClr val="000000"/>
                </a:solidFill>
                <a:effectLst/>
                <a:latin typeface="Times New Roman" panose="02020603050405020304" pitchFamily="18" charset="0"/>
                <a:cs typeface="Times New Roman" panose="02020603050405020304" pitchFamily="18" charset="0"/>
              </a:rPr>
              <a:t>Wireless capabilities.</a:t>
            </a:r>
            <a:r>
              <a:rPr lang="en-US" sz="2000" b="0" i="0" dirty="0">
                <a:solidFill>
                  <a:srgbClr val="000000"/>
                </a:solidFill>
                <a:effectLst/>
                <a:latin typeface="Times New Roman" panose="02020603050405020304" pitchFamily="18" charset="0"/>
                <a:cs typeface="Times New Roman" panose="02020603050405020304" pitchFamily="18" charset="0"/>
              </a:rPr>
              <a:t> This feature provides wireless communication without including an external transceiver module. Some of the common protocols include Bluetooth, Zigbee, </a:t>
            </a:r>
            <a:r>
              <a:rPr lang="en-US" sz="2000" b="0" i="0" dirty="0" err="1">
                <a:solidFill>
                  <a:srgbClr val="000000"/>
                </a:solidFill>
                <a:effectLst/>
                <a:latin typeface="Times New Roman" panose="02020603050405020304" pitchFamily="18" charset="0"/>
                <a:cs typeface="Times New Roman" panose="02020603050405020304" pitchFamily="18" charset="0"/>
              </a:rPr>
              <a:t>WiFi</a:t>
            </a:r>
            <a:r>
              <a:rPr lang="en-US" sz="2000" b="0" i="0" dirty="0">
                <a:solidFill>
                  <a:srgbClr val="000000"/>
                </a:solidFill>
                <a:effectLst/>
                <a:latin typeface="Times New Roman" panose="02020603050405020304" pitchFamily="18" charset="0"/>
                <a:cs typeface="Times New Roman" panose="02020603050405020304" pitchFamily="18" charset="0"/>
              </a:rPr>
              <a:t>, and others. </a:t>
            </a:r>
          </a:p>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just"/>
            <a:r>
              <a:rPr lang="en-US" sz="2000" b="1" i="0" dirty="0">
                <a:solidFill>
                  <a:srgbClr val="000000"/>
                </a:solidFill>
                <a:effectLst/>
                <a:latin typeface="Times New Roman" panose="02020603050405020304" pitchFamily="18" charset="0"/>
                <a:cs typeface="Times New Roman" panose="02020603050405020304" pitchFamily="18" charset="0"/>
              </a:rPr>
              <a:t>Scalability.</a:t>
            </a:r>
            <a:r>
              <a:rPr lang="en-US" sz="2000" b="0" i="0" dirty="0">
                <a:solidFill>
                  <a:srgbClr val="000000"/>
                </a:solidFill>
                <a:effectLst/>
                <a:latin typeface="Times New Roman" panose="02020603050405020304" pitchFamily="18" charset="0"/>
                <a:cs typeface="Times New Roman" panose="02020603050405020304" pitchFamily="18" charset="0"/>
              </a:rPr>
              <a:t> This particular feature allows one to add more functionality to the development board? You may verify if the board communicates via GPIO, UART, SPI, or some other protocol; As this will determine how the board interacts with other devices.</a:t>
            </a:r>
          </a:p>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just"/>
            <a:r>
              <a:rPr lang="en-US" sz="2000" b="1" i="0" dirty="0">
                <a:solidFill>
                  <a:srgbClr val="000000"/>
                </a:solidFill>
                <a:effectLst/>
                <a:latin typeface="Times New Roman" panose="02020603050405020304" pitchFamily="18" charset="0"/>
                <a:cs typeface="Times New Roman" panose="02020603050405020304" pitchFamily="18" charset="0"/>
              </a:rPr>
              <a:t>Memory.</a:t>
            </a:r>
            <a:r>
              <a:rPr lang="en-US" sz="2000" b="0" i="0" dirty="0">
                <a:solidFill>
                  <a:srgbClr val="000000"/>
                </a:solidFill>
                <a:effectLst/>
                <a:latin typeface="Times New Roman" panose="02020603050405020304" pitchFamily="18" charset="0"/>
                <a:cs typeface="Times New Roman" panose="02020603050405020304" pitchFamily="18" charset="0"/>
              </a:rPr>
              <a:t> Board memory is important. To store much data, you need built-in Flash memory. A decent board allows connecting a </a:t>
            </a:r>
            <a:r>
              <a:rPr lang="en-US" sz="2000" b="0" i="0" dirty="0" err="1">
                <a:solidFill>
                  <a:srgbClr val="000000"/>
                </a:solidFill>
                <a:effectLst/>
                <a:latin typeface="Times New Roman" panose="02020603050405020304" pitchFamily="18" charset="0"/>
                <a:cs typeface="Times New Roman" panose="02020603050405020304" pitchFamily="18" charset="0"/>
              </a:rPr>
              <a:t>MiniSD</a:t>
            </a:r>
            <a:r>
              <a:rPr lang="en-US" sz="2000" b="0" i="0" dirty="0">
                <a:solidFill>
                  <a:srgbClr val="000000"/>
                </a:solidFill>
                <a:effectLst/>
                <a:latin typeface="Times New Roman" panose="02020603050405020304" pitchFamily="18" charset="0"/>
                <a:cs typeface="Times New Roman" panose="02020603050405020304" pitchFamily="18" charset="0"/>
              </a:rPr>
              <a:t> or MicroSD card to enhance data storage.</a:t>
            </a:r>
          </a:p>
        </p:txBody>
      </p:sp>
      <p:sp>
        <p:nvSpPr>
          <p:cNvPr id="4" name="TextBox 3">
            <a:extLst>
              <a:ext uri="{FF2B5EF4-FFF2-40B4-BE49-F238E27FC236}">
                <a16:creationId xmlns:a16="http://schemas.microsoft.com/office/drawing/2014/main" id="{AC95C27E-4669-B8CE-5D7B-25DEF5DC1DD8}"/>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spTree>
    <p:extLst>
      <p:ext uri="{BB962C8B-B14F-4D97-AF65-F5344CB8AC3E}">
        <p14:creationId xmlns:p14="http://schemas.microsoft.com/office/powerpoint/2010/main" val="890827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521A071-B560-E080-E329-D294DD54F4E5}"/>
              </a:ext>
            </a:extLst>
          </p:cNvPr>
          <p:cNvSpPr txBox="1"/>
          <p:nvPr/>
        </p:nvSpPr>
        <p:spPr>
          <a:xfrm>
            <a:off x="782468" y="1216435"/>
            <a:ext cx="10414000" cy="400110"/>
          </a:xfrm>
          <a:prstGeom prst="rect">
            <a:avLst/>
          </a:prstGeom>
          <a:noFill/>
        </p:spPr>
        <p:txBody>
          <a:bodyPr wrap="square">
            <a:spAutoFit/>
          </a:bodyPr>
          <a:lstStyle/>
          <a:p>
            <a:pPr algn="just"/>
            <a:r>
              <a:rPr lang="en-US" sz="2000" b="1" i="0" dirty="0">
                <a:effectLst/>
                <a:latin typeface="Times New Roman" panose="02020603050405020304" pitchFamily="18" charset="0"/>
                <a:cs typeface="Times New Roman" panose="02020603050405020304" pitchFamily="18" charset="0"/>
              </a:rPr>
              <a:t>IoT board are categorized into three types. Those are</a:t>
            </a:r>
          </a:p>
        </p:txBody>
      </p:sp>
      <p:sp>
        <p:nvSpPr>
          <p:cNvPr id="4" name="TextBox 3">
            <a:extLst>
              <a:ext uri="{FF2B5EF4-FFF2-40B4-BE49-F238E27FC236}">
                <a16:creationId xmlns:a16="http://schemas.microsoft.com/office/drawing/2014/main" id="{AC95C27E-4669-B8CE-5D7B-25DEF5DC1DD8}"/>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5" name="Picture 4">
            <a:extLst>
              <a:ext uri="{FF2B5EF4-FFF2-40B4-BE49-F238E27FC236}">
                <a16:creationId xmlns:a16="http://schemas.microsoft.com/office/drawing/2014/main" id="{788F5D9B-FDA3-DE30-9FE8-EDC2C9512F49}"/>
              </a:ext>
            </a:extLst>
          </p:cNvPr>
          <p:cNvPicPr>
            <a:picLocks noChangeAspect="1"/>
          </p:cNvPicPr>
          <p:nvPr/>
        </p:nvPicPr>
        <p:blipFill>
          <a:blip r:embed="rId3"/>
          <a:stretch>
            <a:fillRect/>
          </a:stretch>
        </p:blipFill>
        <p:spPr>
          <a:xfrm>
            <a:off x="3776339" y="1616545"/>
            <a:ext cx="4639322" cy="4639322"/>
          </a:xfrm>
          <a:prstGeom prst="rect">
            <a:avLst/>
          </a:prstGeom>
        </p:spPr>
      </p:pic>
    </p:spTree>
    <p:extLst>
      <p:ext uri="{BB962C8B-B14F-4D97-AF65-F5344CB8AC3E}">
        <p14:creationId xmlns:p14="http://schemas.microsoft.com/office/powerpoint/2010/main" val="26932632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6FD4A458-6DEC-F226-7A45-3A4E0B55264D}"/>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6" name="Picture 5">
            <a:extLst>
              <a:ext uri="{FF2B5EF4-FFF2-40B4-BE49-F238E27FC236}">
                <a16:creationId xmlns:a16="http://schemas.microsoft.com/office/drawing/2014/main" id="{C8C47226-F20B-AAF0-4B17-125B6EF232BD}"/>
              </a:ext>
            </a:extLst>
          </p:cNvPr>
          <p:cNvPicPr>
            <a:picLocks noChangeAspect="1"/>
          </p:cNvPicPr>
          <p:nvPr/>
        </p:nvPicPr>
        <p:blipFill>
          <a:blip r:embed="rId3"/>
          <a:stretch>
            <a:fillRect/>
          </a:stretch>
        </p:blipFill>
        <p:spPr>
          <a:xfrm>
            <a:off x="1428750" y="1114703"/>
            <a:ext cx="9334500" cy="5143500"/>
          </a:xfrm>
          <a:prstGeom prst="rect">
            <a:avLst/>
          </a:prstGeom>
        </p:spPr>
      </p:pic>
    </p:spTree>
    <p:extLst>
      <p:ext uri="{BB962C8B-B14F-4D97-AF65-F5344CB8AC3E}">
        <p14:creationId xmlns:p14="http://schemas.microsoft.com/office/powerpoint/2010/main" val="36024929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2050" name="Picture 2" descr="IoT Development Boards">
            <a:extLst>
              <a:ext uri="{FF2B5EF4-FFF2-40B4-BE49-F238E27FC236}">
                <a16:creationId xmlns:a16="http://schemas.microsoft.com/office/drawing/2014/main" id="{0EF79BA3-0929-1F09-A721-FDA9B8CF2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990" y="2949534"/>
            <a:ext cx="4490570" cy="28562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9B13861-0951-CCE8-E363-3F80F7AE880C}"/>
              </a:ext>
            </a:extLst>
          </p:cNvPr>
          <p:cNvSpPr txBox="1"/>
          <p:nvPr/>
        </p:nvSpPr>
        <p:spPr>
          <a:xfrm>
            <a:off x="837005" y="1310282"/>
            <a:ext cx="10517990" cy="1200329"/>
          </a:xfrm>
          <a:prstGeom prst="rect">
            <a:avLst/>
          </a:prstGeom>
          <a:noFill/>
        </p:spPr>
        <p:txBody>
          <a:bodyPr wrap="square">
            <a:spAutoFit/>
          </a:bodyPr>
          <a:lstStyle/>
          <a:p>
            <a:pPr algn="just"/>
            <a:r>
              <a:rPr lang="en-IN" b="0" i="0" dirty="0">
                <a:solidFill>
                  <a:srgbClr val="000000"/>
                </a:solidFill>
                <a:effectLst/>
                <a:latin typeface="Times New Roman" panose="02020603050405020304" pitchFamily="18" charset="0"/>
                <a:cs typeface="Times New Roman" panose="02020603050405020304" pitchFamily="18" charset="0"/>
              </a:rPr>
              <a:t>The raspberry pi Development Board is a small credit </a:t>
            </a:r>
            <a:r>
              <a:rPr lang="en-IN" b="1" i="0" dirty="0">
                <a:solidFill>
                  <a:srgbClr val="000000"/>
                </a:solidFill>
                <a:effectLst/>
                <a:latin typeface="Times New Roman" panose="02020603050405020304" pitchFamily="18" charset="0"/>
                <a:cs typeface="Times New Roman" panose="02020603050405020304" pitchFamily="18" charset="0"/>
              </a:rPr>
              <a:t>card size computer</a:t>
            </a:r>
            <a:r>
              <a:rPr lang="en-IN" b="0" i="0" dirty="0">
                <a:solidFill>
                  <a:srgbClr val="000000"/>
                </a:solidFill>
                <a:effectLst/>
                <a:latin typeface="Times New Roman" panose="02020603050405020304" pitchFamily="18" charset="0"/>
                <a:cs typeface="Times New Roman" panose="02020603050405020304" pitchFamily="18" charset="0"/>
              </a:rPr>
              <a:t>. That works on Linux based operating systems and is good for embedded projects. Raspberry boards can be easily plugged in to your monitor, computer or TV. It uses a standard keyboard and mouse. Even amateur users depend on it for configuring their digital media systems and surveillance cameras.</a:t>
            </a:r>
          </a:p>
        </p:txBody>
      </p:sp>
      <p:sp>
        <p:nvSpPr>
          <p:cNvPr id="6" name="TextBox 5">
            <a:extLst>
              <a:ext uri="{FF2B5EF4-FFF2-40B4-BE49-F238E27FC236}">
                <a16:creationId xmlns:a16="http://schemas.microsoft.com/office/drawing/2014/main" id="{6F8BC97F-3C70-BB14-E061-0602B91B0367}"/>
              </a:ext>
            </a:extLst>
          </p:cNvPr>
          <p:cNvSpPr txBox="1"/>
          <p:nvPr/>
        </p:nvSpPr>
        <p:spPr>
          <a:xfrm>
            <a:off x="5530140" y="2722600"/>
            <a:ext cx="6177280" cy="3970318"/>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Features : </a:t>
            </a:r>
            <a:endParaRPr lang="en-IN"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Processor: 1.2GHz, 64-bit quad-core ARMv8 CPU</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802.11n Wireless LAN</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Bluetooth 4.1</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Bluetooth Low Energy (BLE)</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1GB RAM</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4 USB ports</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40 GPIO pins</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Full HDMI port</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Combined 3.5mm audio jack and composite video</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Camera interface (CSI)</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Display interface (DSI)</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Micro SD card slot</a:t>
            </a:r>
          </a:p>
          <a:p>
            <a:pPr algn="l">
              <a:buFont typeface="Arial" panose="020B0604020202020204" pitchFamily="34" charset="0"/>
              <a:buChar char="•"/>
            </a:pPr>
            <a:r>
              <a:rPr lang="en-IN" b="0" i="0" dirty="0" err="1">
                <a:solidFill>
                  <a:srgbClr val="000000"/>
                </a:solidFill>
                <a:effectLst/>
                <a:latin typeface="Times New Roman" panose="02020603050405020304" pitchFamily="18" charset="0"/>
                <a:cs typeface="Times New Roman" panose="02020603050405020304" pitchFamily="18" charset="0"/>
              </a:rPr>
              <a:t>videoCore</a:t>
            </a:r>
            <a:r>
              <a:rPr lang="en-IN" b="0" i="0" dirty="0">
                <a:solidFill>
                  <a:srgbClr val="000000"/>
                </a:solidFill>
                <a:effectLst/>
                <a:latin typeface="Times New Roman" panose="02020603050405020304" pitchFamily="18" charset="0"/>
                <a:cs typeface="Times New Roman" panose="02020603050405020304" pitchFamily="18" charset="0"/>
              </a:rPr>
              <a:t> IV 3D graphics core</a:t>
            </a:r>
          </a:p>
        </p:txBody>
      </p:sp>
      <p:sp>
        <p:nvSpPr>
          <p:cNvPr id="9" name="TextBox 8">
            <a:extLst>
              <a:ext uri="{FF2B5EF4-FFF2-40B4-BE49-F238E27FC236}">
                <a16:creationId xmlns:a16="http://schemas.microsoft.com/office/drawing/2014/main" id="{B7B57B05-A72C-AC13-95F4-01FD0E0C1D18}"/>
              </a:ext>
            </a:extLst>
          </p:cNvPr>
          <p:cNvSpPr txBox="1"/>
          <p:nvPr/>
        </p:nvSpPr>
        <p:spPr>
          <a:xfrm>
            <a:off x="1870990" y="5875417"/>
            <a:ext cx="1788160"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Raspberry Pi</a:t>
            </a:r>
          </a:p>
        </p:txBody>
      </p:sp>
    </p:spTree>
    <p:extLst>
      <p:ext uri="{BB962C8B-B14F-4D97-AF65-F5344CB8AC3E}">
        <p14:creationId xmlns:p14="http://schemas.microsoft.com/office/powerpoint/2010/main" val="7730411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4098" name="Picture 2" descr="IoT Development Omega">
            <a:extLst>
              <a:ext uri="{FF2B5EF4-FFF2-40B4-BE49-F238E27FC236}">
                <a16:creationId xmlns:a16="http://schemas.microsoft.com/office/drawing/2014/main" id="{2202A7FB-9142-5FEC-F64E-763BAC95A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190" y="3202623"/>
            <a:ext cx="4495580" cy="25276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F95683-4B00-32D5-E709-5A5235C57A41}"/>
              </a:ext>
            </a:extLst>
          </p:cNvPr>
          <p:cNvSpPr txBox="1"/>
          <p:nvPr/>
        </p:nvSpPr>
        <p:spPr>
          <a:xfrm>
            <a:off x="2106820" y="5722303"/>
            <a:ext cx="1290320"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Omega 2</a:t>
            </a:r>
          </a:p>
        </p:txBody>
      </p:sp>
      <p:sp>
        <p:nvSpPr>
          <p:cNvPr id="6" name="TextBox 5">
            <a:extLst>
              <a:ext uri="{FF2B5EF4-FFF2-40B4-BE49-F238E27FC236}">
                <a16:creationId xmlns:a16="http://schemas.microsoft.com/office/drawing/2014/main" id="{0C24A083-E548-8BB7-24DE-4327E1BFD723}"/>
              </a:ext>
            </a:extLst>
          </p:cNvPr>
          <p:cNvSpPr txBox="1"/>
          <p:nvPr/>
        </p:nvSpPr>
        <p:spPr>
          <a:xfrm>
            <a:off x="609600" y="1342619"/>
            <a:ext cx="10800080" cy="1323439"/>
          </a:xfrm>
          <a:prstGeom prst="rect">
            <a:avLst/>
          </a:prstGeom>
          <a:noFill/>
        </p:spPr>
        <p:txBody>
          <a:bodyPr wrap="square">
            <a:spAutoFit/>
          </a:bodyPr>
          <a:lstStyle/>
          <a:p>
            <a:pPr algn="just"/>
            <a:r>
              <a:rPr lang="en-US" sz="2000" b="0" i="0" dirty="0">
                <a:solidFill>
                  <a:srgbClr val="000000"/>
                </a:solidFill>
                <a:effectLst/>
                <a:latin typeface="Times New Roman" panose="02020603050405020304" pitchFamily="18" charset="0"/>
                <a:cs typeface="Times New Roman" panose="02020603050405020304" pitchFamily="18" charset="0"/>
              </a:rPr>
              <a:t>Omega 2 is one of Onion’s Linux-based </a:t>
            </a:r>
            <a:r>
              <a:rPr lang="en-US" sz="2000" b="0" i="0" dirty="0" err="1">
                <a:solidFill>
                  <a:srgbClr val="000000"/>
                </a:solidFill>
                <a:effectLst/>
                <a:latin typeface="Times New Roman" panose="02020603050405020304" pitchFamily="18" charset="0"/>
                <a:cs typeface="Times New Roman" panose="02020603050405020304" pitchFamily="18" charset="0"/>
              </a:rPr>
              <a:t>WiFi</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1" dirty="0">
                <a:solidFill>
                  <a:srgbClr val="000000"/>
                </a:solidFill>
                <a:effectLst/>
                <a:latin typeface="Times New Roman" panose="02020603050405020304" pitchFamily="18" charset="0"/>
                <a:cs typeface="Times New Roman" panose="02020603050405020304" pitchFamily="18" charset="0"/>
              </a:rPr>
              <a:t>development boards</a:t>
            </a:r>
            <a:r>
              <a:rPr lang="en-US" sz="2000" b="0" i="0" dirty="0">
                <a:solidFill>
                  <a:srgbClr val="000000"/>
                </a:solidFill>
                <a:effectLst/>
                <a:latin typeface="Times New Roman" panose="02020603050405020304" pitchFamily="18" charset="0"/>
                <a:cs typeface="Times New Roman" panose="02020603050405020304" pitchFamily="18" charset="0"/>
              </a:rPr>
              <a:t> that allow makers of all skill levels to build connected hardware. This highly integrated </a:t>
            </a:r>
            <a:r>
              <a:rPr lang="en-US" sz="2000" b="1" i="0" dirty="0">
                <a:solidFill>
                  <a:srgbClr val="000000"/>
                </a:solidFill>
                <a:effectLst/>
                <a:latin typeface="Times New Roman" panose="02020603050405020304" pitchFamily="18" charset="0"/>
                <a:cs typeface="Times New Roman" panose="02020603050405020304" pitchFamily="18" charset="0"/>
              </a:rPr>
              <a:t>board</a:t>
            </a:r>
            <a:r>
              <a:rPr lang="en-US" sz="2000" b="0" i="0" dirty="0">
                <a:solidFill>
                  <a:srgbClr val="000000"/>
                </a:solidFill>
                <a:effectLst/>
                <a:latin typeface="Times New Roman" panose="02020603050405020304" pitchFamily="18" charset="0"/>
                <a:cs typeface="Times New Roman" panose="02020603050405020304" pitchFamily="18" charset="0"/>
              </a:rPr>
              <a:t> comes with a powerful processor and flexible GPIOs. The Platform lets you prototype hardware devices using familiar tools like Git, </a:t>
            </a:r>
            <a:r>
              <a:rPr lang="en-US" sz="2000" b="0" i="0" dirty="0" err="1">
                <a:solidFill>
                  <a:srgbClr val="000000"/>
                </a:solidFill>
                <a:effectLst/>
                <a:latin typeface="Times New Roman" panose="02020603050405020304" pitchFamily="18" charset="0"/>
                <a:cs typeface="Times New Roman" panose="02020603050405020304" pitchFamily="18" charset="0"/>
              </a:rPr>
              <a:t>npm</a:t>
            </a:r>
            <a:r>
              <a:rPr lang="en-US" sz="2000" b="0" i="0" dirty="0">
                <a:solidFill>
                  <a:srgbClr val="000000"/>
                </a:solidFill>
                <a:effectLst/>
                <a:latin typeface="Times New Roman" panose="02020603050405020304" pitchFamily="18" charset="0"/>
                <a:cs typeface="Times New Roman" panose="02020603050405020304" pitchFamily="18" charset="0"/>
              </a:rPr>
              <a:t>, pip, as well as high-level programming languages like Python, </a:t>
            </a:r>
            <a:r>
              <a:rPr lang="en-US" sz="2000" b="0" i="0" dirty="0" err="1">
                <a:solidFill>
                  <a:srgbClr val="000000"/>
                </a:solidFill>
                <a:effectLst/>
                <a:latin typeface="Times New Roman" panose="02020603050405020304" pitchFamily="18" charset="0"/>
                <a:cs typeface="Times New Roman" panose="02020603050405020304" pitchFamily="18" charset="0"/>
              </a:rPr>
              <a:t>Javascript</a:t>
            </a:r>
            <a:r>
              <a:rPr lang="en-US" sz="2000" b="0" i="0" dirty="0">
                <a:solidFill>
                  <a:srgbClr val="000000"/>
                </a:solidFill>
                <a:effectLst/>
                <a:latin typeface="Times New Roman" panose="02020603050405020304" pitchFamily="18" charset="0"/>
                <a:cs typeface="Times New Roman" panose="02020603050405020304" pitchFamily="18" charset="0"/>
              </a:rPr>
              <a:t>, and PHP.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3341EEB-4DB6-4BE2-7728-0C261D609B07}"/>
              </a:ext>
            </a:extLst>
          </p:cNvPr>
          <p:cNvSpPr txBox="1"/>
          <p:nvPr/>
        </p:nvSpPr>
        <p:spPr>
          <a:xfrm>
            <a:off x="5510530" y="3017472"/>
            <a:ext cx="6177280" cy="3139321"/>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Features</a:t>
            </a:r>
            <a:r>
              <a:rPr lang="en-IN" b="0" i="0" dirty="0">
                <a:solidFill>
                  <a:srgbClr val="000000"/>
                </a:solidFill>
                <a:effectLst/>
                <a:latin typeface="Times New Roman" panose="02020603050405020304" pitchFamily="18" charset="0"/>
                <a:cs typeface="Times New Roman" panose="02020603050405020304" pitchFamily="18" charset="0"/>
              </a:rPr>
              <a:t> :</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Linux Operating System, powerful processor, and flexible GPIOs.</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Compact size that easily fits into any project design.</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Modular design for a vast range of flexibility.</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Arduino compatible.</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Integrated Wi-Fi;</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Connectivity is expandable with 2G, 3G, Ethernet, Bluetooth®, Bluetooth Low Energy (BLE), GPS.</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U.FL Connector for external Wi-Fi antenna attachment.</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FCC and CE Certified.</a:t>
            </a:r>
          </a:p>
        </p:txBody>
      </p:sp>
    </p:spTree>
    <p:extLst>
      <p:ext uri="{BB962C8B-B14F-4D97-AF65-F5344CB8AC3E}">
        <p14:creationId xmlns:p14="http://schemas.microsoft.com/office/powerpoint/2010/main" val="14689597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5122" name="Picture 2" descr="IoT Development Particle Photon">
            <a:extLst>
              <a:ext uri="{FF2B5EF4-FFF2-40B4-BE49-F238E27FC236}">
                <a16:creationId xmlns:a16="http://schemas.microsoft.com/office/drawing/2014/main" id="{4A55A3F9-D168-09EC-3859-A8CD4AB306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10" y="3040063"/>
            <a:ext cx="4838918" cy="272065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021B959-9936-CB52-132E-15681D557966}"/>
              </a:ext>
            </a:extLst>
          </p:cNvPr>
          <p:cNvSpPr txBox="1"/>
          <p:nvPr/>
        </p:nvSpPr>
        <p:spPr>
          <a:xfrm>
            <a:off x="1658729" y="5803583"/>
            <a:ext cx="1960880"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Particle Photon</a:t>
            </a:r>
          </a:p>
        </p:txBody>
      </p:sp>
      <p:sp>
        <p:nvSpPr>
          <p:cNvPr id="6" name="TextBox 5">
            <a:extLst>
              <a:ext uri="{FF2B5EF4-FFF2-40B4-BE49-F238E27FC236}">
                <a16:creationId xmlns:a16="http://schemas.microsoft.com/office/drawing/2014/main" id="{D275A59E-9E2F-0825-EC2D-4F269FB9B19C}"/>
              </a:ext>
            </a:extLst>
          </p:cNvPr>
          <p:cNvSpPr txBox="1"/>
          <p:nvPr/>
        </p:nvSpPr>
        <p:spPr>
          <a:xfrm>
            <a:off x="675640" y="1339315"/>
            <a:ext cx="10840720" cy="1015663"/>
          </a:xfrm>
          <a:prstGeom prst="rect">
            <a:avLst/>
          </a:prstGeom>
          <a:noFill/>
        </p:spPr>
        <p:txBody>
          <a:bodyPr wrap="square">
            <a:spAutoFit/>
          </a:bodyPr>
          <a:lstStyle/>
          <a:p>
            <a:pPr algn="just"/>
            <a:r>
              <a:rPr lang="en-US" sz="2000" b="0" i="0" dirty="0">
                <a:solidFill>
                  <a:srgbClr val="000000"/>
                </a:solidFill>
                <a:effectLst/>
                <a:latin typeface="Times New Roman" panose="02020603050405020304" pitchFamily="18" charset="0"/>
                <a:cs typeface="Times New Roman" panose="02020603050405020304" pitchFamily="18" charset="0"/>
              </a:rPr>
              <a:t>Particle Photon Board consists of an STM32 </a:t>
            </a:r>
            <a:r>
              <a:rPr lang="en-US" sz="2000" b="1" i="0" dirty="0">
                <a:solidFill>
                  <a:srgbClr val="000000"/>
                </a:solidFill>
                <a:effectLst/>
                <a:latin typeface="Times New Roman" panose="02020603050405020304" pitchFamily="18" charset="0"/>
                <a:cs typeface="Times New Roman" panose="02020603050405020304" pitchFamily="18" charset="0"/>
              </a:rPr>
              <a:t>microcontroller</a:t>
            </a:r>
            <a:r>
              <a:rPr lang="en-US" sz="2000" b="0" i="0" dirty="0">
                <a:solidFill>
                  <a:srgbClr val="000000"/>
                </a:solidFill>
                <a:effectLst/>
                <a:latin typeface="Times New Roman" panose="02020603050405020304" pitchFamily="18" charset="0"/>
                <a:cs typeface="Times New Roman" panose="02020603050405020304" pitchFamily="18" charset="0"/>
              </a:rPr>
              <a:t>, Wi-Fi, Switches, and LEDs. Simple to use, powerful, and connected to the cloud. Powered by a Cypress Wi-Fi chip alongside a powerful STM32 ARM Cortex M3 microcontroller, it is ideal for prototyping IoT projects.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B6F4593-D7CE-1DE3-7D44-F12ED0C7D0F6}"/>
              </a:ext>
            </a:extLst>
          </p:cNvPr>
          <p:cNvSpPr txBox="1"/>
          <p:nvPr/>
        </p:nvSpPr>
        <p:spPr>
          <a:xfrm>
            <a:off x="5572760" y="2822934"/>
            <a:ext cx="6177280" cy="3139321"/>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Features</a:t>
            </a:r>
            <a:r>
              <a:rPr lang="en-IN" b="0" i="0" dirty="0">
                <a:solidFill>
                  <a:srgbClr val="000000"/>
                </a:solidFill>
                <a:effectLst/>
                <a:latin typeface="Times New Roman" panose="02020603050405020304" pitchFamily="18" charset="0"/>
                <a:cs typeface="Times New Roman" panose="02020603050405020304" pitchFamily="18" charset="0"/>
              </a:rPr>
              <a:t> :</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Processor: STM32F205 120Mhz ARM Cortex M3</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Real-time operating system (Free RTOS)</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Memory: 1MB flash, 128KB RAM</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Open source design</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On-board Wi-Fi module</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On-board RGB status LED.</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18 Mixed-signal GPIO and advanced peripherals</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Soft AP setup</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B802.11b/g/n Wi-Fi</a:t>
            </a:r>
          </a:p>
          <a:p>
            <a:pPr algn="l">
              <a:buFont typeface="Arial" panose="020B0604020202020204" pitchFamily="34" charset="0"/>
              <a:buChar char="•"/>
            </a:pPr>
            <a:r>
              <a:rPr lang="en-IN" b="0" i="0" dirty="0" err="1">
                <a:solidFill>
                  <a:srgbClr val="000000"/>
                </a:solidFill>
                <a:effectLst/>
                <a:latin typeface="Times New Roman" panose="02020603050405020304" pitchFamily="18" charset="0"/>
                <a:cs typeface="Times New Roman" panose="02020603050405020304" pitchFamily="18" charset="0"/>
              </a:rPr>
              <a:t>roadcom</a:t>
            </a:r>
            <a:r>
              <a:rPr lang="en-IN" b="0" i="0" dirty="0">
                <a:solidFill>
                  <a:srgbClr val="000000"/>
                </a:solidFill>
                <a:effectLst/>
                <a:latin typeface="Times New Roman" panose="02020603050405020304" pitchFamily="18" charset="0"/>
                <a:cs typeface="Times New Roman" panose="02020603050405020304" pitchFamily="18" charset="0"/>
              </a:rPr>
              <a:t> BCM43362 Wi-Fi chip</a:t>
            </a:r>
          </a:p>
        </p:txBody>
      </p:sp>
    </p:spTree>
    <p:extLst>
      <p:ext uri="{BB962C8B-B14F-4D97-AF65-F5344CB8AC3E}">
        <p14:creationId xmlns:p14="http://schemas.microsoft.com/office/powerpoint/2010/main" val="3736949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1026" name="Picture 2" descr="IoT Development Beagle Bone">
            <a:extLst>
              <a:ext uri="{FF2B5EF4-FFF2-40B4-BE49-F238E27FC236}">
                <a16:creationId xmlns:a16="http://schemas.microsoft.com/office/drawing/2014/main" id="{1C58D46D-B212-B52C-5FE5-B21EE1252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142" y="3020165"/>
            <a:ext cx="4979663" cy="27947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ABA0B35-8619-1BA7-6C3F-C51B7FCC7CF7}"/>
              </a:ext>
            </a:extLst>
          </p:cNvPr>
          <p:cNvSpPr txBox="1"/>
          <p:nvPr/>
        </p:nvSpPr>
        <p:spPr>
          <a:xfrm>
            <a:off x="1759998" y="5843264"/>
            <a:ext cx="1613516"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Beagle Bone</a:t>
            </a:r>
          </a:p>
        </p:txBody>
      </p:sp>
      <p:sp>
        <p:nvSpPr>
          <p:cNvPr id="6" name="TextBox 5">
            <a:extLst>
              <a:ext uri="{FF2B5EF4-FFF2-40B4-BE49-F238E27FC236}">
                <a16:creationId xmlns:a16="http://schemas.microsoft.com/office/drawing/2014/main" id="{6AA8972C-40C8-FCBF-0488-7617CA5AAC27}"/>
              </a:ext>
            </a:extLst>
          </p:cNvPr>
          <p:cNvSpPr txBox="1"/>
          <p:nvPr/>
        </p:nvSpPr>
        <p:spPr>
          <a:xfrm>
            <a:off x="390617" y="951559"/>
            <a:ext cx="11562241" cy="2031325"/>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The Beagle bone is a low power open-source </a:t>
            </a:r>
            <a:r>
              <a:rPr lang="en-US" b="1" i="0" dirty="0">
                <a:solidFill>
                  <a:srgbClr val="000000"/>
                </a:solidFill>
                <a:effectLst/>
                <a:latin typeface="Times New Roman" panose="02020603050405020304" pitchFamily="18" charset="0"/>
                <a:cs typeface="Times New Roman" panose="02020603050405020304" pitchFamily="18" charset="0"/>
              </a:rPr>
              <a:t>single-board computer </a:t>
            </a:r>
            <a:r>
              <a:rPr lang="en-US" b="0" i="0" dirty="0">
                <a:solidFill>
                  <a:srgbClr val="000000"/>
                </a:solidFill>
                <a:effectLst/>
                <a:latin typeface="Times New Roman" panose="02020603050405020304" pitchFamily="18" charset="0"/>
                <a:cs typeface="Times New Roman" panose="02020603050405020304" pitchFamily="18" charset="0"/>
              </a:rPr>
              <a:t>produced by Texas instruments. The board can boot Linux in under 10 seconds also you can start developing in less than 5 minutes with just a single USB cable.</a:t>
            </a:r>
          </a:p>
          <a:p>
            <a:pPr algn="just"/>
            <a:r>
              <a:rPr lang="en-US" b="0" i="0" dirty="0">
                <a:solidFill>
                  <a:srgbClr val="000000"/>
                </a:solidFill>
                <a:effectLst/>
                <a:latin typeface="Times New Roman" panose="02020603050405020304" pitchFamily="18" charset="0"/>
                <a:cs typeface="Times New Roman" panose="02020603050405020304" pitchFamily="18" charset="0"/>
              </a:rPr>
              <a:t>It is a computer installed inside of a larger electronics project. The beagle board carries two rows of GPIO (general purpose Input/Output) pins mounted along each side of the board. That allow it to communicate with a wide range of servos, sensors, outputs and other hardware, making it act as the brain of large &amp; complex projects.</a:t>
            </a:r>
          </a:p>
          <a:p>
            <a:pPr algn="just"/>
            <a:r>
              <a:rPr lang="en-US" b="0" i="0" dirty="0">
                <a:solidFill>
                  <a:srgbClr val="000000"/>
                </a:solidFill>
                <a:effectLst/>
                <a:latin typeface="Times New Roman" panose="02020603050405020304" pitchFamily="18" charset="0"/>
                <a:cs typeface="Times New Roman" panose="02020603050405020304" pitchFamily="18" charset="0"/>
              </a:rPr>
              <a:t>Its capabilities can be extended using plug-in boards referred to as “capes”. that are easily available for LCD, motor control, VGA, prototyping, battery power, and other functionalities.</a:t>
            </a:r>
          </a:p>
        </p:txBody>
      </p:sp>
      <p:sp>
        <p:nvSpPr>
          <p:cNvPr id="9" name="TextBox 8">
            <a:extLst>
              <a:ext uri="{FF2B5EF4-FFF2-40B4-BE49-F238E27FC236}">
                <a16:creationId xmlns:a16="http://schemas.microsoft.com/office/drawing/2014/main" id="{3333BFD8-BBD7-79DC-272A-EAD8864BD940}"/>
              </a:ext>
            </a:extLst>
          </p:cNvPr>
          <p:cNvSpPr txBox="1"/>
          <p:nvPr/>
        </p:nvSpPr>
        <p:spPr>
          <a:xfrm>
            <a:off x="5457946" y="3165608"/>
            <a:ext cx="6494911" cy="286232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Features</a:t>
            </a:r>
            <a:r>
              <a:rPr lang="en-IN" b="0" i="0" dirty="0">
                <a:solidFill>
                  <a:srgbClr val="000000"/>
                </a:solidFill>
                <a:effectLst/>
                <a:latin typeface="Times New Roman" panose="02020603050405020304" pitchFamily="18" charset="0"/>
                <a:cs typeface="Times New Roman" panose="02020603050405020304" pitchFamily="18" charset="0"/>
              </a:rPr>
              <a:t> </a:t>
            </a:r>
            <a:r>
              <a:rPr lang="en-IN" b="1" i="0" dirty="0">
                <a:solidFill>
                  <a:srgbClr val="000000"/>
                </a:solidFill>
                <a:effectLst/>
                <a:latin typeface="Times New Roman" panose="02020603050405020304" pitchFamily="18" charset="0"/>
                <a:cs typeface="Times New Roman" panose="02020603050405020304" pitchFamily="18" charset="0"/>
              </a:rPr>
              <a:t>:</a:t>
            </a:r>
            <a:endParaRPr lang="en-IN"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DDR memory: 512 MB</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Ability to run Ruby, Python, and INO Sketches directly in the </a:t>
            </a:r>
            <a:r>
              <a:rPr lang="en-IN" dirty="0">
                <a:solidFill>
                  <a:srgbClr val="000000"/>
                </a:solidFill>
                <a:latin typeface="Times New Roman" panose="02020603050405020304" pitchFamily="18" charset="0"/>
                <a:cs typeface="Times New Roman" panose="02020603050405020304" pitchFamily="18" charset="0"/>
              </a:rPr>
              <a:t>Cloud9 IDE</a:t>
            </a:r>
            <a:r>
              <a:rPr lang="en-IN" b="0" i="0" dirty="0">
                <a:solidFill>
                  <a:srgbClr val="000000"/>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Ethernet: On-chip 10/100 Ethernet</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JTAG: Optional</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Memory: 4GB eMMC memory </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Power Options: Via USB or 5V DC input</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Price (USD) Per Unit: $55.00 (Suggested Retail Price)</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Processor: 1GHz AM3359 Sitara ARM Cortex-A8</a:t>
            </a:r>
          </a:p>
        </p:txBody>
      </p:sp>
    </p:spTree>
    <p:extLst>
      <p:ext uri="{BB962C8B-B14F-4D97-AF65-F5344CB8AC3E}">
        <p14:creationId xmlns:p14="http://schemas.microsoft.com/office/powerpoint/2010/main" val="27689841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2050" name="Picture 2" descr="Jetson Nano">
            <a:extLst>
              <a:ext uri="{FF2B5EF4-FFF2-40B4-BE49-F238E27FC236}">
                <a16:creationId xmlns:a16="http://schemas.microsoft.com/office/drawing/2014/main" id="{D505EC43-6C0B-403F-379E-0E5B94F7C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53" y="2940266"/>
            <a:ext cx="5153665" cy="28923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F94832B-A4C8-03DB-6D14-518F592BE092}"/>
              </a:ext>
            </a:extLst>
          </p:cNvPr>
          <p:cNvSpPr txBox="1"/>
          <p:nvPr/>
        </p:nvSpPr>
        <p:spPr>
          <a:xfrm>
            <a:off x="2031410" y="5832629"/>
            <a:ext cx="1640149"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Jetson Nano</a:t>
            </a:r>
          </a:p>
        </p:txBody>
      </p:sp>
      <p:sp>
        <p:nvSpPr>
          <p:cNvPr id="6" name="TextBox 5">
            <a:extLst>
              <a:ext uri="{FF2B5EF4-FFF2-40B4-BE49-F238E27FC236}">
                <a16:creationId xmlns:a16="http://schemas.microsoft.com/office/drawing/2014/main" id="{6C2D863F-FC71-8B96-5483-F81F88E92599}"/>
              </a:ext>
            </a:extLst>
          </p:cNvPr>
          <p:cNvSpPr txBox="1"/>
          <p:nvPr/>
        </p:nvSpPr>
        <p:spPr>
          <a:xfrm>
            <a:off x="499368" y="1194877"/>
            <a:ext cx="11157013" cy="1200329"/>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Jetson Nano is a power-efficient and low-cost development board. Provides total performance to run modern AI workloads in a small form factor. Additionally, It has the ability for heavy workload applications like image classification, object detection, segmentation, and speech processing. It is capable to run multiple </a:t>
            </a:r>
            <a:r>
              <a:rPr lang="en-US" b="1" i="0" dirty="0">
                <a:solidFill>
                  <a:srgbClr val="000000"/>
                </a:solidFill>
                <a:effectLst/>
                <a:latin typeface="Times New Roman" panose="02020603050405020304" pitchFamily="18" charset="0"/>
                <a:cs typeface="Times New Roman" panose="02020603050405020304" pitchFamily="18" charset="0"/>
              </a:rPr>
              <a:t>neural network apps</a:t>
            </a:r>
            <a:r>
              <a:rPr lang="en-US" b="0" i="0" dirty="0">
                <a:solidFill>
                  <a:srgbClr val="000000"/>
                </a:solidFill>
                <a:effectLst/>
                <a:latin typeface="Times New Roman" panose="02020603050405020304" pitchFamily="18" charset="0"/>
                <a:cs typeface="Times New Roman" panose="02020603050405020304" pitchFamily="18" charset="0"/>
              </a:rPr>
              <a:t> at the same time.</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BB53D13-C970-D144-250C-3CE53265F9CD}"/>
              </a:ext>
            </a:extLst>
          </p:cNvPr>
          <p:cNvSpPr txBox="1"/>
          <p:nvPr/>
        </p:nvSpPr>
        <p:spPr>
          <a:xfrm>
            <a:off x="5702971" y="2940266"/>
            <a:ext cx="6165540" cy="2308324"/>
          </a:xfrm>
          <a:prstGeom prst="rect">
            <a:avLst/>
          </a:prstGeom>
          <a:noFill/>
        </p:spPr>
        <p:txBody>
          <a:bodyPr wrap="square">
            <a:spAutoFit/>
          </a:bodyPr>
          <a:lstStyle/>
          <a:p>
            <a:pPr algn="just"/>
            <a:r>
              <a:rPr lang="en-IN" b="1" i="0" dirty="0">
                <a:solidFill>
                  <a:srgbClr val="000000"/>
                </a:solidFill>
                <a:effectLst/>
                <a:latin typeface="Times New Roman" panose="02020603050405020304" pitchFamily="18" charset="0"/>
                <a:cs typeface="Times New Roman" panose="02020603050405020304" pitchFamily="18" charset="0"/>
              </a:rPr>
              <a:t>Features:</a:t>
            </a:r>
            <a:endParaRPr lang="en-IN"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GPU: 128-core NVIDIA Maxwell™ architecture-based GPU.</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CPU: Quad-core ARM® A57.</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Video: 4K @ 30 fps</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Camera: 1/3″ AR0330 CMOS Image sensor with 2.2 µm pixel.</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Memory: 4 GB 64-bit LPDDR4; 25.6 gigabytes/second.</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Connectivity: Gigabit Ethernet.</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OS Support: Linux for Tegra®.</a:t>
            </a:r>
          </a:p>
        </p:txBody>
      </p:sp>
    </p:spTree>
    <p:extLst>
      <p:ext uri="{BB962C8B-B14F-4D97-AF65-F5344CB8AC3E}">
        <p14:creationId xmlns:p14="http://schemas.microsoft.com/office/powerpoint/2010/main" val="16405732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3074" name="Picture 2" descr="ESP 32">
            <a:extLst>
              <a:ext uri="{FF2B5EF4-FFF2-40B4-BE49-F238E27FC236}">
                <a16:creationId xmlns:a16="http://schemas.microsoft.com/office/drawing/2014/main" id="{57EF9256-45A4-56D8-EB8C-BB37C821DE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430" y="3020164"/>
            <a:ext cx="5058755" cy="28390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E836B81-0B6C-921D-B3C7-10554F30802F}"/>
              </a:ext>
            </a:extLst>
          </p:cNvPr>
          <p:cNvSpPr txBox="1"/>
          <p:nvPr/>
        </p:nvSpPr>
        <p:spPr>
          <a:xfrm>
            <a:off x="2370134" y="5804632"/>
            <a:ext cx="1045345"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ESP 32</a:t>
            </a:r>
          </a:p>
        </p:txBody>
      </p:sp>
      <p:sp>
        <p:nvSpPr>
          <p:cNvPr id="10" name="TextBox 9">
            <a:extLst>
              <a:ext uri="{FF2B5EF4-FFF2-40B4-BE49-F238E27FC236}">
                <a16:creationId xmlns:a16="http://schemas.microsoft.com/office/drawing/2014/main" id="{30B45133-3FAE-7C70-5801-30AECBAC7893}"/>
              </a:ext>
            </a:extLst>
          </p:cNvPr>
          <p:cNvSpPr txBox="1"/>
          <p:nvPr/>
        </p:nvSpPr>
        <p:spPr>
          <a:xfrm>
            <a:off x="604277" y="1209369"/>
            <a:ext cx="10830162" cy="1200329"/>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ESP32 is a dual core low-footprint system </a:t>
            </a:r>
            <a:r>
              <a:rPr lang="en-US" b="1" i="0" dirty="0">
                <a:solidFill>
                  <a:srgbClr val="000000"/>
                </a:solidFill>
                <a:effectLst/>
                <a:latin typeface="Times New Roman" panose="02020603050405020304" pitchFamily="18" charset="0"/>
                <a:cs typeface="Times New Roman" panose="02020603050405020304" pitchFamily="18" charset="0"/>
              </a:rPr>
              <a:t>development board</a:t>
            </a:r>
            <a:r>
              <a:rPr lang="en-US" b="0" i="0" dirty="0">
                <a:solidFill>
                  <a:srgbClr val="000000"/>
                </a:solidFill>
                <a:effectLst/>
                <a:latin typeface="Times New Roman" panose="02020603050405020304" pitchFamily="18" charset="0"/>
                <a:cs typeface="Times New Roman" panose="02020603050405020304" pitchFamily="18" charset="0"/>
              </a:rPr>
              <a:t> powered by the latest ESP-WROOM-32 module that can be easily placed into a solderless breadboard. It has a pre-integrated antenna, power amplifier, low-noise amplifiers, filters, and power management module. Because of this, it’s easy to build and test circuits as well as making projects related to IoT integrating with the cloud platform.</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5276879-00AB-9670-A2B6-0A165FFD50DD}"/>
              </a:ext>
            </a:extLst>
          </p:cNvPr>
          <p:cNvSpPr txBox="1"/>
          <p:nvPr/>
        </p:nvSpPr>
        <p:spPr>
          <a:xfrm>
            <a:off x="5724322" y="3017142"/>
            <a:ext cx="6165540" cy="2862322"/>
          </a:xfrm>
          <a:prstGeom prst="rect">
            <a:avLst/>
          </a:prstGeom>
          <a:noFill/>
        </p:spPr>
        <p:txBody>
          <a:bodyPr wrap="square">
            <a:spAutoFit/>
          </a:bodyPr>
          <a:lstStyle/>
          <a:p>
            <a:pPr algn="just"/>
            <a:r>
              <a:rPr lang="en-IN" b="1" i="0" dirty="0">
                <a:solidFill>
                  <a:srgbClr val="000000"/>
                </a:solidFill>
                <a:effectLst/>
                <a:latin typeface="Times New Roman" panose="02020603050405020304" pitchFamily="18" charset="0"/>
                <a:cs typeface="Times New Roman" panose="02020603050405020304" pitchFamily="18" charset="0"/>
              </a:rPr>
              <a:t>Features :</a:t>
            </a:r>
            <a:endParaRPr lang="en-IN"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2.4 GHz dual-mode Wi-Fi. </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Programmable with Arduino open-source IDE.</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8 independent LED.</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Bluetooth chips by TSMC.</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40nm low power technology, power, and RF.</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Easily embedded with other products. </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Strong function with support LWIP protocol. </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Supports three modes: AP, STA, and AP+STA. </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Supporting the Lua program, easily to develop.</a:t>
            </a:r>
          </a:p>
        </p:txBody>
      </p:sp>
    </p:spTree>
    <p:extLst>
      <p:ext uri="{BB962C8B-B14F-4D97-AF65-F5344CB8AC3E}">
        <p14:creationId xmlns:p14="http://schemas.microsoft.com/office/powerpoint/2010/main" val="39151666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4098" name="Picture 2" descr="Banana Pi ">
            <a:extLst>
              <a:ext uri="{FF2B5EF4-FFF2-40B4-BE49-F238E27FC236}">
                <a16:creationId xmlns:a16="http://schemas.microsoft.com/office/drawing/2014/main" id="{F591828E-88DB-D827-8573-E1284B8FFE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228" y="3429000"/>
            <a:ext cx="4110662" cy="23111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A8F7E7A-C5AF-B253-6280-AF45B7397101}"/>
              </a:ext>
            </a:extLst>
          </p:cNvPr>
          <p:cNvSpPr txBox="1"/>
          <p:nvPr/>
        </p:nvSpPr>
        <p:spPr>
          <a:xfrm>
            <a:off x="1767489" y="5740199"/>
            <a:ext cx="1622140"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Banana Pi </a:t>
            </a:r>
          </a:p>
        </p:txBody>
      </p:sp>
      <p:sp>
        <p:nvSpPr>
          <p:cNvPr id="6" name="TextBox 5">
            <a:extLst>
              <a:ext uri="{FF2B5EF4-FFF2-40B4-BE49-F238E27FC236}">
                <a16:creationId xmlns:a16="http://schemas.microsoft.com/office/drawing/2014/main" id="{AA8AEF8F-A44B-A09E-7EDA-C93852B89285}"/>
              </a:ext>
            </a:extLst>
          </p:cNvPr>
          <p:cNvSpPr txBox="1"/>
          <p:nvPr/>
        </p:nvSpPr>
        <p:spPr>
          <a:xfrm>
            <a:off x="587129" y="1281053"/>
            <a:ext cx="11017742" cy="1200329"/>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Banana Pi is a line of low-cost credit card-sized single-board computers(SBC). IT is a router-based development board, which efficiently runs on various open-source operating systems including </a:t>
            </a:r>
            <a:r>
              <a:rPr lang="en-US" b="0" i="0" dirty="0" err="1">
                <a:solidFill>
                  <a:srgbClr val="000000"/>
                </a:solidFill>
                <a:effectLst/>
                <a:latin typeface="Times New Roman" panose="02020603050405020304" pitchFamily="18" charset="0"/>
                <a:cs typeface="Times New Roman" panose="02020603050405020304" pitchFamily="18" charset="0"/>
              </a:rPr>
              <a:t>OpenWRT</a:t>
            </a:r>
            <a:r>
              <a:rPr lang="en-US" b="0" i="0" dirty="0">
                <a:solidFill>
                  <a:srgbClr val="000000"/>
                </a:solidFill>
                <a:effectLst/>
                <a:latin typeface="Times New Roman" panose="02020603050405020304" pitchFamily="18" charset="0"/>
                <a:cs typeface="Times New Roman" panose="02020603050405020304" pitchFamily="18" charset="0"/>
              </a:rPr>
              <a:t> and Android, Lubuntu, Ubuntu, Debian, and Raspbian. Well, the hardware design of banana pi was influenced by the Raspberry Pi and it is compatible with Raspberry Pi boards.</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2DE3F0F-3F4D-B126-3ABE-C391D09096CA}"/>
              </a:ext>
            </a:extLst>
          </p:cNvPr>
          <p:cNvSpPr txBox="1"/>
          <p:nvPr/>
        </p:nvSpPr>
        <p:spPr>
          <a:xfrm>
            <a:off x="5330175" y="2891076"/>
            <a:ext cx="6165540" cy="3693319"/>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Features :</a:t>
            </a:r>
            <a:endParaRPr lang="en-IN" b="0" i="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All winner A20 Dual-core 1.0 GHz CPU</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Mali-400 MP2 with Open GL ES 2.0/1.1.</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 GB DDR3 memory.</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1x Gigabit LAN</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1x SATA interface.</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1X MIC</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1x USB </a:t>
            </a:r>
            <a:r>
              <a:rPr lang="en-IN" b="0" i="0" dirty="0" err="1">
                <a:solidFill>
                  <a:srgbClr val="000000"/>
                </a:solidFill>
                <a:effectLst/>
                <a:latin typeface="Times New Roman" panose="02020603050405020304" pitchFamily="18" charset="0"/>
                <a:cs typeface="Times New Roman" panose="02020603050405020304" pitchFamily="18" charset="0"/>
              </a:rPr>
              <a:t>otg</a:t>
            </a:r>
            <a:r>
              <a:rPr lang="en-IN" b="0" i="0" dirty="0">
                <a:solidFill>
                  <a:srgbClr val="000000"/>
                </a:solidFill>
                <a:effectLst/>
                <a:latin typeface="Times New Roman" panose="02020603050405020304" pitchFamily="18" charset="0"/>
                <a:cs typeface="Times New Roman" panose="02020603050405020304" pitchFamily="18" charset="0"/>
              </a:rPr>
              <a:t> and 2x USB 2.0</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HDMI out</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Composite video out</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CSI camera interface</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DSI display interface</a:t>
            </a:r>
          </a:p>
          <a:p>
            <a:pPr algn="l">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26 PIN GPIO</a:t>
            </a:r>
          </a:p>
        </p:txBody>
      </p:sp>
    </p:spTree>
    <p:extLst>
      <p:ext uri="{BB962C8B-B14F-4D97-AF65-F5344CB8AC3E}">
        <p14:creationId xmlns:p14="http://schemas.microsoft.com/office/powerpoint/2010/main" val="609381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5122" name="Picture 2" descr="Arduino Nano 33 IoT">
            <a:extLst>
              <a:ext uri="{FF2B5EF4-FFF2-40B4-BE49-F238E27FC236}">
                <a16:creationId xmlns:a16="http://schemas.microsoft.com/office/drawing/2014/main" id="{FA1A714F-BFB7-C0D0-E487-46F85C5541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919" y="2895878"/>
            <a:ext cx="5074574" cy="28479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530E045-155E-6607-50A0-8B64BEBD3501}"/>
              </a:ext>
            </a:extLst>
          </p:cNvPr>
          <p:cNvSpPr txBox="1"/>
          <p:nvPr/>
        </p:nvSpPr>
        <p:spPr>
          <a:xfrm>
            <a:off x="1565737" y="5746928"/>
            <a:ext cx="2598937"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Arduino Nano 33 IoT</a:t>
            </a:r>
          </a:p>
        </p:txBody>
      </p:sp>
      <p:sp>
        <p:nvSpPr>
          <p:cNvPr id="6" name="TextBox 5">
            <a:extLst>
              <a:ext uri="{FF2B5EF4-FFF2-40B4-BE49-F238E27FC236}">
                <a16:creationId xmlns:a16="http://schemas.microsoft.com/office/drawing/2014/main" id="{13369DE3-267B-1DE4-7E3E-FFBBB7DC5692}"/>
              </a:ext>
            </a:extLst>
          </p:cNvPr>
          <p:cNvSpPr txBox="1"/>
          <p:nvPr/>
        </p:nvSpPr>
        <p:spPr>
          <a:xfrm>
            <a:off x="587406" y="1281053"/>
            <a:ext cx="11017188" cy="1754326"/>
          </a:xfrm>
          <a:prstGeom prst="rect">
            <a:avLst/>
          </a:prstGeom>
          <a:noFill/>
        </p:spPr>
        <p:txBody>
          <a:bodyPr wrap="square">
            <a:spAutoFit/>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The Arduino </a:t>
            </a:r>
            <a:r>
              <a:rPr lang="en-US" b="1" i="0" dirty="0">
                <a:solidFill>
                  <a:srgbClr val="000000"/>
                </a:solidFill>
                <a:effectLst/>
                <a:latin typeface="Times New Roman" panose="02020603050405020304" pitchFamily="18" charset="0"/>
                <a:cs typeface="Times New Roman" panose="02020603050405020304" pitchFamily="18" charset="0"/>
              </a:rPr>
              <a:t>Nano 33 IoT</a:t>
            </a:r>
            <a:r>
              <a:rPr lang="en-US" b="0" i="0" dirty="0">
                <a:solidFill>
                  <a:srgbClr val="000000"/>
                </a:solidFill>
                <a:effectLst/>
                <a:latin typeface="Times New Roman" panose="02020603050405020304" pitchFamily="18" charset="0"/>
                <a:cs typeface="Times New Roman" panose="02020603050405020304" pitchFamily="18" charset="0"/>
              </a:rPr>
              <a:t> is a dual-processor device that is perfect for experimentation. It offers a practical and low-cost solution for inventors seeking to add Wi-Fi connectivity to their projects with minimal previous experience in networking. The board is compatible with the </a:t>
            </a:r>
            <a:r>
              <a:rPr lang="en-US" dirty="0">
                <a:solidFill>
                  <a:srgbClr val="000000"/>
                </a:solidFill>
                <a:latin typeface="Times New Roman" panose="02020603050405020304" pitchFamily="18" charset="0"/>
                <a:cs typeface="Times New Roman" panose="02020603050405020304" pitchFamily="18" charset="0"/>
              </a:rPr>
              <a:t>Arduino IoT Cloud</a:t>
            </a:r>
            <a:r>
              <a:rPr lang="en-US" b="0" i="0" dirty="0">
                <a:solidFill>
                  <a:srgbClr val="000000"/>
                </a:solidFill>
                <a:effectLst/>
                <a:latin typeface="Times New Roman" panose="02020603050405020304" pitchFamily="18" charset="0"/>
                <a:cs typeface="Times New Roman" panose="02020603050405020304" pitchFamily="18" charset="0"/>
              </a:rPr>
              <a:t>, where you can create IoT applications in a few simple steps</a:t>
            </a: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85A2CE1-0C7D-161F-8FF7-DBFFACDEFF95}"/>
              </a:ext>
            </a:extLst>
          </p:cNvPr>
          <p:cNvSpPr txBox="1"/>
          <p:nvPr/>
        </p:nvSpPr>
        <p:spPr>
          <a:xfrm>
            <a:off x="5732757" y="2895878"/>
            <a:ext cx="5871837" cy="2862322"/>
          </a:xfrm>
          <a:prstGeom prst="rect">
            <a:avLst/>
          </a:prstGeom>
          <a:noFill/>
        </p:spPr>
        <p:txBody>
          <a:bodyPr wrap="square">
            <a:spAutoFit/>
          </a:bodyPr>
          <a:lstStyle/>
          <a:p>
            <a:pPr algn="just"/>
            <a:r>
              <a:rPr lang="en-IN" b="1" i="0" dirty="0">
                <a:solidFill>
                  <a:srgbClr val="000000"/>
                </a:solidFill>
                <a:effectLst/>
                <a:latin typeface="Times New Roman" panose="02020603050405020304" pitchFamily="18" charset="0"/>
                <a:cs typeface="Times New Roman" panose="02020603050405020304" pitchFamily="18" charset="0"/>
              </a:rPr>
              <a:t>Features :</a:t>
            </a:r>
            <a:endParaRPr lang="en-IN"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ARM Cortex-M0 32-bit SAMD21 processor</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14 digital I/O pins and 8 </a:t>
            </a:r>
            <a:r>
              <a:rPr lang="en-IN" b="0" i="0" dirty="0" err="1">
                <a:solidFill>
                  <a:srgbClr val="000000"/>
                </a:solidFill>
                <a:effectLst/>
                <a:latin typeface="Times New Roman" panose="02020603050405020304" pitchFamily="18" charset="0"/>
                <a:cs typeface="Times New Roman" panose="02020603050405020304" pitchFamily="18" charset="0"/>
              </a:rPr>
              <a:t>analog</a:t>
            </a:r>
            <a:r>
              <a:rPr lang="en-IN" b="0" i="0" dirty="0">
                <a:solidFill>
                  <a:srgbClr val="000000"/>
                </a:solidFill>
                <a:effectLst/>
                <a:latin typeface="Times New Roman" panose="02020603050405020304" pitchFamily="18" charset="0"/>
                <a:cs typeface="Times New Roman" panose="02020603050405020304" pitchFamily="18" charset="0"/>
              </a:rPr>
              <a:t> input pins</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Support up to 12-bit ADC/PWM and 10-bit DAC resolutions.</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Can operate as a few different USB devices: (asynchronous serial, keyboard or mouse) also referred as HID, and USB MIDI.</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Can communicate via Synchronous serial communications.</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Inbuilt real-time clock module.</a:t>
            </a:r>
          </a:p>
        </p:txBody>
      </p:sp>
    </p:spTree>
    <p:extLst>
      <p:ext uri="{BB962C8B-B14F-4D97-AF65-F5344CB8AC3E}">
        <p14:creationId xmlns:p14="http://schemas.microsoft.com/office/powerpoint/2010/main" val="2297353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6146" name="Picture 2" descr=" Tessel 2">
            <a:extLst>
              <a:ext uri="{FF2B5EF4-FFF2-40B4-BE49-F238E27FC236}">
                <a16:creationId xmlns:a16="http://schemas.microsoft.com/office/drawing/2014/main" id="{F1A02855-FB89-20D3-ADD6-C11D5482A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329" y="3153330"/>
            <a:ext cx="4331110" cy="24307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C0882FE-56E8-AD91-2916-AE3A3079AEEC}"/>
              </a:ext>
            </a:extLst>
          </p:cNvPr>
          <p:cNvSpPr txBox="1"/>
          <p:nvPr/>
        </p:nvSpPr>
        <p:spPr>
          <a:xfrm>
            <a:off x="1961924" y="5611971"/>
            <a:ext cx="1293920"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Tessel 2</a:t>
            </a:r>
          </a:p>
        </p:txBody>
      </p:sp>
      <p:sp>
        <p:nvSpPr>
          <p:cNvPr id="6" name="TextBox 5">
            <a:extLst>
              <a:ext uri="{FF2B5EF4-FFF2-40B4-BE49-F238E27FC236}">
                <a16:creationId xmlns:a16="http://schemas.microsoft.com/office/drawing/2014/main" id="{FDD70207-643C-4872-1816-4AE4D39F62D9}"/>
              </a:ext>
            </a:extLst>
          </p:cNvPr>
          <p:cNvSpPr txBox="1"/>
          <p:nvPr/>
        </p:nvSpPr>
        <p:spPr>
          <a:xfrm>
            <a:off x="511668" y="1281053"/>
            <a:ext cx="11168663" cy="2031325"/>
          </a:xfrm>
          <a:prstGeom prst="rect">
            <a:avLst/>
          </a:prstGeom>
          <a:noFill/>
        </p:spPr>
        <p:txBody>
          <a:bodyPr wrap="square">
            <a:spAutoFit/>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It’s a kind of System on Chipboards. With WIFI capabilities, it allows you to build scripts in Node.js. The board also provides you with a connected hardware prototyping system that can be used in multiple different applications. Loaded with on-board features including two 10-pin module ports to add sensors and other external hardware, a 10/100 supported ethernet port, 2 USB ports for camera peripherals and flash storage, and a </a:t>
            </a:r>
            <a:r>
              <a:rPr lang="en-US" b="0" i="0" dirty="0" err="1">
                <a:solidFill>
                  <a:srgbClr val="000000"/>
                </a:solidFill>
                <a:effectLst/>
                <a:latin typeface="Times New Roman" panose="02020603050405020304" pitchFamily="18" charset="0"/>
                <a:cs typeface="Times New Roman" panose="02020603050405020304" pitchFamily="18" charset="0"/>
              </a:rPr>
              <a:t>microUSB</a:t>
            </a:r>
            <a:r>
              <a:rPr lang="en-US" b="0" i="0" dirty="0">
                <a:solidFill>
                  <a:srgbClr val="000000"/>
                </a:solidFill>
                <a:effectLst/>
                <a:latin typeface="Times New Roman" panose="02020603050405020304" pitchFamily="18" charset="0"/>
                <a:cs typeface="Times New Roman" panose="02020603050405020304" pitchFamily="18" charset="0"/>
              </a:rPr>
              <a:t> connector for power and tethered programming.</a:t>
            </a: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3DFE7F3-8C12-6658-36AF-E6F3D71D09D4}"/>
              </a:ext>
            </a:extLst>
          </p:cNvPr>
          <p:cNvSpPr txBox="1"/>
          <p:nvPr/>
        </p:nvSpPr>
        <p:spPr>
          <a:xfrm>
            <a:off x="5400449" y="3017056"/>
            <a:ext cx="6165540" cy="2862322"/>
          </a:xfrm>
          <a:prstGeom prst="rect">
            <a:avLst/>
          </a:prstGeom>
          <a:noFill/>
        </p:spPr>
        <p:txBody>
          <a:bodyPr wrap="square">
            <a:spAutoFit/>
          </a:bodyPr>
          <a:lstStyle/>
          <a:p>
            <a:pPr algn="just"/>
            <a:r>
              <a:rPr lang="en-US" b="1" i="0" dirty="0">
                <a:solidFill>
                  <a:srgbClr val="000000"/>
                </a:solidFill>
                <a:effectLst/>
                <a:latin typeface="Times New Roman" panose="02020603050405020304" pitchFamily="18" charset="0"/>
                <a:cs typeface="Times New Roman" panose="02020603050405020304" pitchFamily="18" charset="0"/>
              </a:rPr>
              <a:t>Features :</a:t>
            </a:r>
            <a:endParaRPr lang="en-US"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2 USB ports (you can connect cameras or flash storage, for example)</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10/100 ethernet port</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802.11 b/g/n </a:t>
            </a:r>
            <a:r>
              <a:rPr lang="en-US" b="0" i="0" dirty="0" err="1">
                <a:solidFill>
                  <a:srgbClr val="000000"/>
                </a:solidFill>
                <a:effectLst/>
                <a:latin typeface="Times New Roman" panose="02020603050405020304" pitchFamily="18" charset="0"/>
                <a:cs typeface="Times New Roman" panose="02020603050405020304" pitchFamily="18" charset="0"/>
              </a:rPr>
              <a:t>WiFi</a:t>
            </a:r>
            <a:endParaRPr lang="en-US"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580MHz </a:t>
            </a:r>
            <a:r>
              <a:rPr lang="en-US" b="0" i="0" dirty="0" err="1">
                <a:solidFill>
                  <a:srgbClr val="000000"/>
                </a:solidFill>
                <a:effectLst/>
                <a:latin typeface="Times New Roman" panose="02020603050405020304" pitchFamily="18" charset="0"/>
                <a:cs typeface="Times New Roman" panose="02020603050405020304" pitchFamily="18" charset="0"/>
              </a:rPr>
              <a:t>Mediatek</a:t>
            </a:r>
            <a:r>
              <a:rPr lang="en-US" b="0" i="0" dirty="0">
                <a:solidFill>
                  <a:srgbClr val="000000"/>
                </a:solidFill>
                <a:effectLst/>
                <a:latin typeface="Times New Roman" panose="02020603050405020304" pitchFamily="18" charset="0"/>
                <a:cs typeface="Times New Roman" panose="02020603050405020304" pitchFamily="18" charset="0"/>
              </a:rPr>
              <a:t> router-on-a-chip (you can turn your Tessel 2 into an access point!)</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48MHz SAMD21 coprocessor (for making I/O faster)</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64MB DDR2 RAM, 32MB of flash (lots of space for your programs and stuff)</a:t>
            </a:r>
          </a:p>
        </p:txBody>
      </p:sp>
    </p:spTree>
    <p:extLst>
      <p:ext uri="{BB962C8B-B14F-4D97-AF65-F5344CB8AC3E}">
        <p14:creationId xmlns:p14="http://schemas.microsoft.com/office/powerpoint/2010/main" val="465494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301DA90D-F8A2-8BA9-D689-283C92C888CF}"/>
              </a:ext>
            </a:extLst>
          </p:cNvPr>
          <p:cNvSpPr txBox="1"/>
          <p:nvPr/>
        </p:nvSpPr>
        <p:spPr>
          <a:xfrm>
            <a:off x="3530600" y="409694"/>
            <a:ext cx="5130800" cy="461665"/>
          </a:xfrm>
          <a:prstGeom prst="rect">
            <a:avLst/>
          </a:prstGeom>
          <a:noFill/>
        </p:spPr>
        <p:txBody>
          <a:bodyPr wrap="square">
            <a:spAutoFit/>
          </a:bodyPr>
          <a:lstStyle/>
          <a:p>
            <a:pPr algn="ctr"/>
            <a:r>
              <a:rPr lang="en-IN" sz="2400" b="1" i="0" dirty="0">
                <a:solidFill>
                  <a:srgbClr val="FF0000"/>
                </a:solidFill>
                <a:effectLst/>
                <a:latin typeface="Times New Roman" panose="02020603050405020304" pitchFamily="18" charset="0"/>
                <a:cs typeface="Times New Roman" panose="02020603050405020304" pitchFamily="18" charset="0"/>
              </a:rPr>
              <a:t>IoT Development Boards</a:t>
            </a:r>
          </a:p>
        </p:txBody>
      </p:sp>
      <p:pic>
        <p:nvPicPr>
          <p:cNvPr id="7170" name="Picture 2" descr=" i.MX 8">
            <a:extLst>
              <a:ext uri="{FF2B5EF4-FFF2-40B4-BE49-F238E27FC236}">
                <a16:creationId xmlns:a16="http://schemas.microsoft.com/office/drawing/2014/main" id="{7CED80F8-8730-2038-EFEB-AB1D0814EB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451" y="3091186"/>
            <a:ext cx="4426020" cy="24839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2566020-F4A4-C88C-21AB-40359C0B0149}"/>
              </a:ext>
            </a:extLst>
          </p:cNvPr>
          <p:cNvSpPr txBox="1"/>
          <p:nvPr/>
        </p:nvSpPr>
        <p:spPr>
          <a:xfrm>
            <a:off x="2102594" y="5621322"/>
            <a:ext cx="1089734" cy="369332"/>
          </a:xfrm>
          <a:prstGeom prst="rect">
            <a:avLst/>
          </a:prstGeom>
          <a:noFill/>
        </p:spPr>
        <p:txBody>
          <a:bodyPr wrap="square">
            <a:spAutoFit/>
          </a:bodyPr>
          <a:lstStyle/>
          <a:p>
            <a:pPr algn="l"/>
            <a:r>
              <a:rPr lang="en-IN" b="1" i="0" dirty="0">
                <a:solidFill>
                  <a:srgbClr val="000000"/>
                </a:solidFill>
                <a:effectLst/>
                <a:latin typeface="Times New Roman" panose="02020603050405020304" pitchFamily="18" charset="0"/>
                <a:cs typeface="Times New Roman" panose="02020603050405020304" pitchFamily="18" charset="0"/>
              </a:rPr>
              <a:t> i.MX 8</a:t>
            </a:r>
          </a:p>
        </p:txBody>
      </p:sp>
      <p:sp>
        <p:nvSpPr>
          <p:cNvPr id="6" name="TextBox 5">
            <a:extLst>
              <a:ext uri="{FF2B5EF4-FFF2-40B4-BE49-F238E27FC236}">
                <a16:creationId xmlns:a16="http://schemas.microsoft.com/office/drawing/2014/main" id="{964D867C-27C8-F912-14E0-3018DD44336B}"/>
              </a:ext>
            </a:extLst>
          </p:cNvPr>
          <p:cNvSpPr txBox="1"/>
          <p:nvPr/>
        </p:nvSpPr>
        <p:spPr>
          <a:xfrm>
            <a:off x="434451" y="1346677"/>
            <a:ext cx="11150907" cy="1754326"/>
          </a:xfrm>
          <a:prstGeom prst="rect">
            <a:avLst/>
          </a:prstGeom>
          <a:noFill/>
        </p:spPr>
        <p:txBody>
          <a:bodyPr wrap="square">
            <a:spAutoFit/>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i.MX 8 boards offer low power, flexible memory options, a wide range of high-speed interfaces, as well as industry-leading audio and video capabilities. It also comes with a pre-installed boot image flashed on one eMMC memory.</a:t>
            </a:r>
            <a:br>
              <a:rPr lang="en-US" b="0" i="0" dirty="0">
                <a:solidFill>
                  <a:srgbClr val="000000"/>
                </a:solidFill>
                <a:effectLst/>
                <a:latin typeface="Times New Roman" panose="02020603050405020304" pitchFamily="18" charset="0"/>
                <a:cs typeface="Times New Roman" panose="02020603050405020304" pitchFamily="18" charset="0"/>
              </a:rPr>
            </a:br>
            <a:r>
              <a:rPr lang="en-US" b="0" i="0" dirty="0">
                <a:solidFill>
                  <a:srgbClr val="000000"/>
                </a:solidFill>
                <a:effectLst/>
                <a:latin typeface="Times New Roman" panose="02020603050405020304" pitchFamily="18" charset="0"/>
                <a:cs typeface="Times New Roman" panose="02020603050405020304" pitchFamily="18" charset="0"/>
              </a:rPr>
              <a:t>With best-in-class computing power, superior graphics performance, and sophisticated security features, i.MX boards became the next-gen technology for industrial embedded systems.</a:t>
            </a: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1568791-D8BB-9B28-70AE-4D26A8C18835}"/>
              </a:ext>
            </a:extLst>
          </p:cNvPr>
          <p:cNvSpPr txBox="1"/>
          <p:nvPr/>
        </p:nvSpPr>
        <p:spPr>
          <a:xfrm>
            <a:off x="5294922" y="2949073"/>
            <a:ext cx="6165540" cy="3139321"/>
          </a:xfrm>
          <a:prstGeom prst="rect">
            <a:avLst/>
          </a:prstGeom>
          <a:noFill/>
        </p:spPr>
        <p:txBody>
          <a:bodyPr wrap="square">
            <a:spAutoFit/>
          </a:bodyPr>
          <a:lstStyle/>
          <a:p>
            <a:pPr algn="just"/>
            <a:r>
              <a:rPr lang="en-IN" b="1" i="0" dirty="0">
                <a:solidFill>
                  <a:srgbClr val="000000"/>
                </a:solidFill>
                <a:effectLst/>
                <a:latin typeface="Times New Roman" panose="02020603050405020304" pitchFamily="18" charset="0"/>
                <a:cs typeface="Times New Roman" panose="02020603050405020304" pitchFamily="18" charset="0"/>
              </a:rPr>
              <a:t>Features :</a:t>
            </a:r>
            <a:endParaRPr lang="en-IN"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i.MX 8M Quad Applications Processor.</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4x Arm Cortex-A53 @ 1.5GHz.</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NXP PMIC PF4210 power management.</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LPDDR4 x32 @3200MT w/4GB, eMMC 5.0 w/16GB, MicroSD, QSPI w/256Gb memory availability.</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HDMI 2.0a Type-A , MIPI-CSI Camera mini-SAS, MIPI-DSI Display mini-SAS camera connector.</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10/100/1000 Ethernet, USB 3.0 Type-A &amp; C, PCIe M.2 interface, and Infrared connector.</a:t>
            </a:r>
          </a:p>
          <a:p>
            <a:pPr algn="just">
              <a:buFont typeface="Arial" panose="020B0604020202020204" pitchFamily="34" charset="0"/>
              <a:buChar char="•"/>
            </a:pPr>
            <a:r>
              <a:rPr lang="en-IN" b="0" i="0" dirty="0">
                <a:solidFill>
                  <a:srgbClr val="000000"/>
                </a:solidFill>
                <a:effectLst/>
                <a:latin typeface="Times New Roman" panose="02020603050405020304" pitchFamily="18" charset="0"/>
                <a:cs typeface="Times New Roman" panose="02020603050405020304" pitchFamily="18" charset="0"/>
              </a:rPr>
              <a:t>Linux, Android, and </a:t>
            </a:r>
            <a:r>
              <a:rPr lang="en-IN" b="0" i="0" dirty="0" err="1">
                <a:solidFill>
                  <a:srgbClr val="000000"/>
                </a:solidFill>
                <a:effectLst/>
                <a:latin typeface="Times New Roman" panose="02020603050405020304" pitchFamily="18" charset="0"/>
                <a:cs typeface="Times New Roman" panose="02020603050405020304" pitchFamily="18" charset="0"/>
              </a:rPr>
              <a:t>FreeRTOS</a:t>
            </a:r>
            <a:r>
              <a:rPr lang="en-IN" b="0" i="0" dirty="0">
                <a:solidFill>
                  <a:srgbClr val="000000"/>
                </a:solidFill>
                <a:effectLst/>
                <a:latin typeface="Times New Roman" panose="02020603050405020304" pitchFamily="18" charset="0"/>
                <a:cs typeface="Times New Roman" panose="02020603050405020304" pitchFamily="18" charset="0"/>
              </a:rPr>
              <a:t> OS support.</a:t>
            </a:r>
          </a:p>
        </p:txBody>
      </p:sp>
    </p:spTree>
    <p:extLst>
      <p:ext uri="{BB962C8B-B14F-4D97-AF65-F5344CB8AC3E}">
        <p14:creationId xmlns:p14="http://schemas.microsoft.com/office/powerpoint/2010/main" val="13705749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E59B99B4-135C-A23D-67FD-5772C74B81A9}"/>
              </a:ext>
            </a:extLst>
          </p:cNvPr>
          <p:cNvSpPr txBox="1"/>
          <p:nvPr/>
        </p:nvSpPr>
        <p:spPr>
          <a:xfrm>
            <a:off x="887767" y="2668609"/>
            <a:ext cx="10564427" cy="1200329"/>
          </a:xfrm>
          <a:prstGeom prst="rect">
            <a:avLst/>
          </a:prstGeom>
          <a:noFill/>
        </p:spPr>
        <p:txBody>
          <a:bodyPr wrap="square">
            <a:spAutoFit/>
          </a:bodyPr>
          <a:lstStyle/>
          <a:p>
            <a:pPr algn="just"/>
            <a:r>
              <a:rPr lang="en-IN" sz="36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the basic difference between an IoT device and a normal sensor device?</a:t>
            </a:r>
          </a:p>
        </p:txBody>
      </p:sp>
    </p:spTree>
    <p:extLst>
      <p:ext uri="{BB962C8B-B14F-4D97-AF65-F5344CB8AC3E}">
        <p14:creationId xmlns:p14="http://schemas.microsoft.com/office/powerpoint/2010/main" val="31932275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1CAE5AC-1417-F1DC-0F32-F13ACAD0BBA6}"/>
              </a:ext>
            </a:extLst>
          </p:cNvPr>
          <p:cNvSpPr txBox="1"/>
          <p:nvPr/>
        </p:nvSpPr>
        <p:spPr>
          <a:xfrm>
            <a:off x="742765" y="2662379"/>
            <a:ext cx="10706469" cy="646331"/>
          </a:xfrm>
          <a:prstGeom prst="rect">
            <a:avLst/>
          </a:prstGeom>
          <a:noFill/>
        </p:spPr>
        <p:txBody>
          <a:bodyPr wrap="square">
            <a:spAutoFit/>
          </a:bodyPr>
          <a:lstStyle/>
          <a:p>
            <a:pPr algn="just"/>
            <a:r>
              <a:rPr lang="en-IN"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normal sensor device does not need an active internet connection to work properly. On the other hand, IoT devices always require an active internet connection to work properly.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9335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DAEE6E6D-EC83-3B79-8B0D-31E1359EAAEF}"/>
              </a:ext>
            </a:extLst>
          </p:cNvPr>
          <p:cNvSpPr txBox="1"/>
          <p:nvPr/>
        </p:nvSpPr>
        <p:spPr>
          <a:xfrm>
            <a:off x="3517776" y="1638800"/>
            <a:ext cx="6165540" cy="2246769"/>
          </a:xfrm>
          <a:prstGeom prst="rect">
            <a:avLst/>
          </a:prstGeom>
          <a:noFill/>
        </p:spPr>
        <p:txBody>
          <a:bodyPr wrap="square">
            <a:spAutoFit/>
          </a:bodyPr>
          <a:lstStyle/>
          <a:p>
            <a:pPr algn="just"/>
            <a:r>
              <a:rPr lang="en-IN" sz="2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IN" sz="28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is the full form of </a:t>
            </a:r>
            <a:r>
              <a:rPr lang="en-IN" sz="28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IIoT</a:t>
            </a:r>
            <a:r>
              <a:rPr lang="en-IN" sz="28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a:endParaRPr lang="en-IN" sz="2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sz="2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IN" sz="28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is the full form of IoMT?</a:t>
            </a:r>
          </a:p>
          <a:p>
            <a:pPr algn="just"/>
            <a:endParaRPr lang="en-IN" sz="2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sz="28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a:t>
            </a:r>
            <a:r>
              <a:rPr lang="en-IN" sz="28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is the full form of </a:t>
            </a:r>
            <a:r>
              <a:rPr lang="en-IN" sz="28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IoV</a:t>
            </a:r>
            <a:r>
              <a:rPr lang="en-IN" sz="28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279643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7B8BF3F-A919-1690-2EEE-8CF75B534C20}"/>
              </a:ext>
            </a:extLst>
          </p:cNvPr>
          <p:cNvSpPr txBox="1"/>
          <p:nvPr/>
        </p:nvSpPr>
        <p:spPr>
          <a:xfrm>
            <a:off x="3013230" y="2151727"/>
            <a:ext cx="6165540" cy="2554545"/>
          </a:xfrm>
          <a:prstGeom prst="rect">
            <a:avLst/>
          </a:prstGeom>
          <a:noFill/>
        </p:spPr>
        <p:txBody>
          <a:bodyPr wrap="square">
            <a:spAutoFit/>
          </a:bodyPr>
          <a:lstStyle/>
          <a:p>
            <a:pPr algn="just"/>
            <a: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t>Industrial internet of Things</a:t>
            </a:r>
            <a:endParaRPr lang="en-IN" sz="32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t>Internet of Medical Things</a:t>
            </a:r>
          </a:p>
          <a:p>
            <a:pPr algn="just"/>
            <a:endParaRPr lang="en-IN" sz="32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sz="3200" b="1" dirty="0">
                <a:latin typeface="Times New Roman" panose="02020603050405020304" pitchFamily="18" charset="0"/>
                <a:ea typeface="Times New Roman" panose="02020603050405020304" pitchFamily="18" charset="0"/>
                <a:cs typeface="Times New Roman" panose="02020603050405020304" pitchFamily="18" charset="0"/>
              </a:rPr>
              <a:t>Internet of Vehicles</a:t>
            </a:r>
          </a:p>
        </p:txBody>
      </p:sp>
    </p:spTree>
    <p:extLst>
      <p:ext uri="{BB962C8B-B14F-4D97-AF65-F5344CB8AC3E}">
        <p14:creationId xmlns:p14="http://schemas.microsoft.com/office/powerpoint/2010/main" val="36283363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E9A67E5-0198-0C66-E0D0-BEC898CCCC2A}"/>
              </a:ext>
            </a:extLst>
          </p:cNvPr>
          <p:cNvSpPr txBox="1"/>
          <p:nvPr/>
        </p:nvSpPr>
        <p:spPr>
          <a:xfrm>
            <a:off x="2701031" y="3000966"/>
            <a:ext cx="7676965" cy="856068"/>
          </a:xfrm>
          <a:prstGeom prst="rect">
            <a:avLst/>
          </a:prstGeom>
          <a:noFill/>
        </p:spPr>
        <p:txBody>
          <a:bodyPr wrap="square">
            <a:spAutoFit/>
          </a:bodyPr>
          <a:lstStyle/>
          <a:p>
            <a:pPr algn="just">
              <a:lnSpc>
                <a:spcPct val="107000"/>
              </a:lnSpc>
              <a:spcAft>
                <a:spcPts val="800"/>
              </a:spcAft>
            </a:pPr>
            <a:r>
              <a:rPr lang="en-IN" sz="2400" b="1"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are the different types of communication models used in IoT?</a:t>
            </a:r>
            <a:endParaRPr lang="en-IN" sz="24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692026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794DEC5B-8153-9D2A-FCA6-32525C991B36}"/>
              </a:ext>
            </a:extLst>
          </p:cNvPr>
          <p:cNvSpPr txBox="1"/>
          <p:nvPr/>
        </p:nvSpPr>
        <p:spPr>
          <a:xfrm>
            <a:off x="778276" y="1427568"/>
            <a:ext cx="10635447" cy="4447436"/>
          </a:xfrm>
          <a:prstGeom prst="rect">
            <a:avLst/>
          </a:prstGeom>
          <a:noFill/>
        </p:spPr>
        <p:txBody>
          <a:bodyPr wrap="square">
            <a:spAutoFit/>
          </a:bodyPr>
          <a:lstStyle/>
          <a:p>
            <a:pPr algn="just">
              <a:lnSpc>
                <a:spcPct val="107000"/>
              </a:lnSpc>
              <a:spcAft>
                <a:spcPts val="800"/>
              </a:spcAft>
            </a:pP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IoT devices must be connected to the internet to work properly. </a:t>
            </a:r>
          </a:p>
          <a:p>
            <a:pPr algn="just">
              <a:lnSpc>
                <a:spcPct val="107000"/>
              </a:lnSpc>
              <a:spcAft>
                <a:spcPts val="800"/>
              </a:spcAft>
            </a:pP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These devices connect and communicate through their technical communication models. There are several ways to connect them to the internet for communication. </a:t>
            </a:r>
          </a:p>
          <a:p>
            <a:pPr algn="just">
              <a:lnSpc>
                <a:spcPct val="107000"/>
              </a:lnSpc>
              <a:spcAft>
                <a:spcPts val="800"/>
              </a:spcAft>
            </a:pP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An effective communication model is required for proper communication. </a:t>
            </a:r>
          </a:p>
          <a:p>
            <a:pPr algn="just">
              <a:lnSpc>
                <a:spcPct val="107000"/>
              </a:lnSpc>
              <a:spcAft>
                <a:spcPts val="800"/>
              </a:spcAft>
            </a:pP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Following is a list of different types of communication models used in IoT:</a:t>
            </a:r>
          </a:p>
          <a:p>
            <a:pPr lvl="1" algn="just">
              <a:lnSpc>
                <a:spcPct val="107000"/>
              </a:lnSpc>
              <a:spcAft>
                <a:spcPts val="800"/>
              </a:spcAft>
            </a:pPr>
            <a:r>
              <a:rPr lang="en-IN" sz="24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Request-Response Communication Model</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pPr>
            <a:r>
              <a:rPr lang="en-IN" sz="24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Publisher-Subscriber Communication Model</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pPr>
            <a:r>
              <a:rPr lang="en-IN" sz="24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Push-Pull Communication Model</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07000"/>
              </a:lnSpc>
              <a:spcAft>
                <a:spcPts val="800"/>
              </a:spcAft>
            </a:pPr>
            <a:r>
              <a:rPr lang="en-IN" sz="24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Exclusive-Pair Model</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0754757-EA49-F6EC-88DB-C5ABCCEC9FE4}"/>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Tree>
    <p:extLst>
      <p:ext uri="{BB962C8B-B14F-4D97-AF65-F5344CB8AC3E}">
        <p14:creationId xmlns:p14="http://schemas.microsoft.com/office/powerpoint/2010/main" val="38166430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033BBDCB-B2EA-E99F-3D73-5C0705BC2A89}"/>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
        <p:nvSpPr>
          <p:cNvPr id="5" name="TextBox 4">
            <a:extLst>
              <a:ext uri="{FF2B5EF4-FFF2-40B4-BE49-F238E27FC236}">
                <a16:creationId xmlns:a16="http://schemas.microsoft.com/office/drawing/2014/main" id="{4D8CC98C-3792-85A5-268E-BBA6A5600EA5}"/>
              </a:ext>
            </a:extLst>
          </p:cNvPr>
          <p:cNvSpPr txBox="1"/>
          <p:nvPr/>
        </p:nvSpPr>
        <p:spPr>
          <a:xfrm>
            <a:off x="817116" y="1325742"/>
            <a:ext cx="4766938" cy="373692"/>
          </a:xfrm>
          <a:prstGeom prst="rect">
            <a:avLst/>
          </a:prstGeom>
          <a:noFill/>
        </p:spPr>
        <p:txBody>
          <a:bodyPr wrap="square">
            <a:spAutoFit/>
          </a:bodyPr>
          <a:lstStyle/>
          <a:p>
            <a:pPr algn="just">
              <a:lnSpc>
                <a:spcPct val="107000"/>
              </a:lnSpc>
              <a:spcAft>
                <a:spcPts val="800"/>
              </a:spcAft>
            </a:pPr>
            <a:r>
              <a:rPr lang="en-IN" sz="1800" b="1" kern="0" dirty="0">
                <a:solidFill>
                  <a:srgbClr val="333333"/>
                </a:solidFill>
                <a:effectLst/>
                <a:latin typeface="Segoe UI" panose="020B0502040204020203" pitchFamily="34" charset="0"/>
                <a:ea typeface="Times New Roman" panose="02020603050405020304" pitchFamily="18" charset="0"/>
                <a:cs typeface="Times New Roman" panose="02020603050405020304" pitchFamily="18" charset="0"/>
              </a:rPr>
              <a:t>Request-Response Communication Model:</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descr="IoT Interview Questions">
            <a:extLst>
              <a:ext uri="{FF2B5EF4-FFF2-40B4-BE49-F238E27FC236}">
                <a16:creationId xmlns:a16="http://schemas.microsoft.com/office/drawing/2014/main" id="{ACD57DF7-B114-2066-BC78-9511F849FE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7988" y="1861543"/>
            <a:ext cx="7636023" cy="3490608"/>
          </a:xfrm>
          <a:prstGeom prst="rect">
            <a:avLst/>
          </a:prstGeom>
          <a:noFill/>
          <a:ln>
            <a:noFill/>
          </a:ln>
        </p:spPr>
      </p:pic>
    </p:spTree>
    <p:extLst>
      <p:ext uri="{BB962C8B-B14F-4D97-AF65-F5344CB8AC3E}">
        <p14:creationId xmlns:p14="http://schemas.microsoft.com/office/powerpoint/2010/main" val="37106617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2A8AF38A-526A-554E-9667-A8623191F79C}"/>
              </a:ext>
            </a:extLst>
          </p:cNvPr>
          <p:cNvSpPr txBox="1"/>
          <p:nvPr/>
        </p:nvSpPr>
        <p:spPr>
          <a:xfrm>
            <a:off x="1057922" y="1526261"/>
            <a:ext cx="10076155" cy="2251194"/>
          </a:xfrm>
          <a:prstGeom prst="rect">
            <a:avLst/>
          </a:prstGeom>
          <a:noFill/>
        </p:spPr>
        <p:txBody>
          <a:bodyPr wrap="square">
            <a:spAutoFit/>
          </a:bodyPr>
          <a:lstStyle/>
          <a:p>
            <a:pPr algn="just">
              <a:lnSpc>
                <a:spcPct val="107000"/>
              </a:lnSpc>
              <a:spcAft>
                <a:spcPts val="800"/>
              </a:spcAft>
            </a:pP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As the name specifies, the request-response communication model is based on the client making requests and the server responding to those requests. </a:t>
            </a:r>
          </a:p>
          <a:p>
            <a:pPr algn="just">
              <a:lnSpc>
                <a:spcPct val="107000"/>
              </a:lnSpc>
              <a:spcAft>
                <a:spcPts val="800"/>
              </a:spcAft>
            </a:pP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When the server receives a request, it decides what response to be provided. It fetches the requested data, prepares the response, and then sends it back to the client. </a:t>
            </a:r>
          </a:p>
          <a:p>
            <a:pPr algn="just">
              <a:lnSpc>
                <a:spcPct val="107000"/>
              </a:lnSpc>
              <a:spcAft>
                <a:spcPts val="800"/>
              </a:spcAft>
            </a:pPr>
            <a:r>
              <a:rPr lang="en-IN" sz="20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This model does not retain the data between requests; therefore, each request is handled independently. That's why this is called a stateless model.</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40E6F02-7383-0942-5B55-8AAB222C6662}"/>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Tree>
    <p:extLst>
      <p:ext uri="{BB962C8B-B14F-4D97-AF65-F5344CB8AC3E}">
        <p14:creationId xmlns:p14="http://schemas.microsoft.com/office/powerpoint/2010/main" val="9104142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DDD56F4-D8B5-9749-BEA4-67B8396A7D8F}"/>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
        <p:nvSpPr>
          <p:cNvPr id="4" name="TextBox 3">
            <a:extLst>
              <a:ext uri="{FF2B5EF4-FFF2-40B4-BE49-F238E27FC236}">
                <a16:creationId xmlns:a16="http://schemas.microsoft.com/office/drawing/2014/main" id="{D6F47727-403C-59F2-58C7-D555694E22BC}"/>
              </a:ext>
            </a:extLst>
          </p:cNvPr>
          <p:cNvSpPr txBox="1"/>
          <p:nvPr/>
        </p:nvSpPr>
        <p:spPr>
          <a:xfrm>
            <a:off x="694678" y="1325742"/>
            <a:ext cx="5040297" cy="373692"/>
          </a:xfrm>
          <a:prstGeom prst="rect">
            <a:avLst/>
          </a:prstGeom>
          <a:noFill/>
        </p:spPr>
        <p:txBody>
          <a:bodyPr wrap="square">
            <a:spAutoFit/>
          </a:bodyPr>
          <a:lstStyle/>
          <a:p>
            <a:pPr algn="just">
              <a:lnSpc>
                <a:spcPct val="107000"/>
              </a:lnSpc>
              <a:spcAft>
                <a:spcPts val="800"/>
              </a:spcAft>
            </a:pPr>
            <a:r>
              <a:rPr lang="en-IN" sz="18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Publisher-Subscriber Communication Model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7410" name="Picture 2" descr="Lightbox">
            <a:extLst>
              <a:ext uri="{FF2B5EF4-FFF2-40B4-BE49-F238E27FC236}">
                <a16:creationId xmlns:a16="http://schemas.microsoft.com/office/drawing/2014/main" id="{8D275044-A33A-B450-85D5-87E1B7BAE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1609" y="1886772"/>
            <a:ext cx="7668782" cy="4076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0407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DDD56F4-D8B5-9749-BEA4-67B8396A7D8F}"/>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
        <p:nvSpPr>
          <p:cNvPr id="4" name="TextBox 3">
            <a:extLst>
              <a:ext uri="{FF2B5EF4-FFF2-40B4-BE49-F238E27FC236}">
                <a16:creationId xmlns:a16="http://schemas.microsoft.com/office/drawing/2014/main" id="{84CC9A55-B8AC-5471-D80B-6512202D4BDF}"/>
              </a:ext>
            </a:extLst>
          </p:cNvPr>
          <p:cNvSpPr txBox="1"/>
          <p:nvPr/>
        </p:nvSpPr>
        <p:spPr>
          <a:xfrm>
            <a:off x="751642" y="1559928"/>
            <a:ext cx="10688713" cy="3637471"/>
          </a:xfrm>
          <a:prstGeom prst="rect">
            <a:avLst/>
          </a:prstGeom>
          <a:noFill/>
        </p:spPr>
        <p:txBody>
          <a:bodyPr wrap="square">
            <a:spAutoFit/>
          </a:bodyPr>
          <a:lstStyle/>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 this communication model, publishers, brokers, and consumers are all involved in communication.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Publishes are used as sources of data that send data to topics.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broker manages the topics, and consumers subscribe to the topics.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Publishers and consumers are not directly related to each other.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When the publisher receives the data for a topic, the broker forwards it to all subscribed consumers. It means brokers are responsible for receiving data from publishers and sending it to the appropriate consumers.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971256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DDD56F4-D8B5-9749-BEA4-67B8396A7D8F}"/>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
        <p:nvSpPr>
          <p:cNvPr id="4" name="TextBox 3">
            <a:extLst>
              <a:ext uri="{FF2B5EF4-FFF2-40B4-BE49-F238E27FC236}">
                <a16:creationId xmlns:a16="http://schemas.microsoft.com/office/drawing/2014/main" id="{0AC720A5-824E-FF53-13B6-5388AB923CBD}"/>
              </a:ext>
            </a:extLst>
          </p:cNvPr>
          <p:cNvSpPr txBox="1"/>
          <p:nvPr/>
        </p:nvSpPr>
        <p:spPr>
          <a:xfrm>
            <a:off x="810088" y="1325742"/>
            <a:ext cx="3912833" cy="399405"/>
          </a:xfrm>
          <a:prstGeom prst="rect">
            <a:avLst/>
          </a:prstGeom>
          <a:noFill/>
        </p:spPr>
        <p:txBody>
          <a:bodyPr wrap="square">
            <a:spAutoFit/>
          </a:bodyPr>
          <a:lstStyle/>
          <a:p>
            <a:pPr algn="just">
              <a:lnSpc>
                <a:spcPct val="107000"/>
              </a:lnSpc>
              <a:spcAft>
                <a:spcPts val="800"/>
              </a:spcAft>
            </a:pPr>
            <a:r>
              <a:rPr lang="en-IN" sz="20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Push-Pull Communication Model:</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5362" name="Picture 2" descr="Lightbox">
            <a:extLst>
              <a:ext uri="{FF2B5EF4-FFF2-40B4-BE49-F238E27FC236}">
                <a16:creationId xmlns:a16="http://schemas.microsoft.com/office/drawing/2014/main" id="{C7359697-C715-5CE5-A60B-40CBFB9A9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224" y="1809241"/>
            <a:ext cx="8591550" cy="442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1072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DDD56F4-D8B5-9749-BEA4-67B8396A7D8F}"/>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
        <p:nvSpPr>
          <p:cNvPr id="4" name="TextBox 3">
            <a:extLst>
              <a:ext uri="{FF2B5EF4-FFF2-40B4-BE49-F238E27FC236}">
                <a16:creationId xmlns:a16="http://schemas.microsoft.com/office/drawing/2014/main" id="{4726003E-652C-EF79-B044-6CBB31791F69}"/>
              </a:ext>
            </a:extLst>
          </p:cNvPr>
          <p:cNvSpPr txBox="1"/>
          <p:nvPr/>
        </p:nvSpPr>
        <p:spPr>
          <a:xfrm>
            <a:off x="729447" y="1699375"/>
            <a:ext cx="10733103" cy="3037113"/>
          </a:xfrm>
          <a:prstGeom prst="rect">
            <a:avLst/>
          </a:prstGeom>
          <a:noFill/>
        </p:spPr>
        <p:txBody>
          <a:bodyPr wrap="square">
            <a:spAutoFit/>
          </a:bodyPr>
          <a:lstStyle/>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push-pull communication model ensures that data producers push the data into queues while consumers pull the data from the queues.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 this communication model, neither producer nor consumer knows about each other, and it is the responsibility of the queue to decouple the messages between the consumers and the producers.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Here, queues also act as a buffer if any mismatch is found between the rate at which producers push data and the rate at which consumers receive it.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83026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DDD56F4-D8B5-9749-BEA4-67B8396A7D8F}"/>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
        <p:nvSpPr>
          <p:cNvPr id="5" name="TextBox 4">
            <a:extLst>
              <a:ext uri="{FF2B5EF4-FFF2-40B4-BE49-F238E27FC236}">
                <a16:creationId xmlns:a16="http://schemas.microsoft.com/office/drawing/2014/main" id="{D3EB3A2E-961A-80A5-5355-C81A94329AC8}"/>
              </a:ext>
            </a:extLst>
          </p:cNvPr>
          <p:cNvSpPr txBox="1"/>
          <p:nvPr/>
        </p:nvSpPr>
        <p:spPr>
          <a:xfrm>
            <a:off x="863353" y="1282408"/>
            <a:ext cx="2527917" cy="373692"/>
          </a:xfrm>
          <a:prstGeom prst="rect">
            <a:avLst/>
          </a:prstGeom>
          <a:noFill/>
        </p:spPr>
        <p:txBody>
          <a:bodyPr wrap="square">
            <a:spAutoFit/>
          </a:bodyPr>
          <a:lstStyle/>
          <a:p>
            <a:pPr algn="just">
              <a:lnSpc>
                <a:spcPct val="107000"/>
              </a:lnSpc>
              <a:spcAft>
                <a:spcPts val="800"/>
              </a:spcAft>
            </a:pPr>
            <a:r>
              <a:rPr lang="en-IN" sz="1800" b="1"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Exclusive-Pair Model: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6386" name="Picture 2" descr="Lightbox">
            <a:extLst>
              <a:ext uri="{FF2B5EF4-FFF2-40B4-BE49-F238E27FC236}">
                <a16:creationId xmlns:a16="http://schemas.microsoft.com/office/drawing/2014/main" id="{8704FED2-5E57-CB7A-9A56-BBB181B927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4" y="1656100"/>
            <a:ext cx="5821699" cy="453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60770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5DDD56F4-D8B5-9749-BEA4-67B8396A7D8F}"/>
              </a:ext>
            </a:extLst>
          </p:cNvPr>
          <p:cNvSpPr txBox="1"/>
          <p:nvPr/>
        </p:nvSpPr>
        <p:spPr>
          <a:xfrm>
            <a:off x="3899886" y="401261"/>
            <a:ext cx="4392227" cy="523220"/>
          </a:xfrm>
          <a:prstGeom prst="rect">
            <a:avLst/>
          </a:prstGeom>
          <a:noFill/>
        </p:spPr>
        <p:txBody>
          <a:bodyPr wrap="square">
            <a:spAutoFit/>
          </a:bodyPr>
          <a:lstStyle/>
          <a:p>
            <a:r>
              <a:rPr lang="en-IN" sz="28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IoT communication models </a:t>
            </a:r>
            <a:endParaRPr lang="en-IN" sz="2800" dirty="0">
              <a:solidFill>
                <a:srgbClr val="FF0000"/>
              </a:solidFill>
            </a:endParaRPr>
          </a:p>
        </p:txBody>
      </p:sp>
      <p:sp>
        <p:nvSpPr>
          <p:cNvPr id="5" name="TextBox 4">
            <a:extLst>
              <a:ext uri="{FF2B5EF4-FFF2-40B4-BE49-F238E27FC236}">
                <a16:creationId xmlns:a16="http://schemas.microsoft.com/office/drawing/2014/main" id="{BF3AE9D1-17E3-9D71-59EE-5AAA797358D4}"/>
              </a:ext>
            </a:extLst>
          </p:cNvPr>
          <p:cNvSpPr txBox="1"/>
          <p:nvPr/>
        </p:nvSpPr>
        <p:spPr>
          <a:xfrm>
            <a:off x="960267" y="1454483"/>
            <a:ext cx="10271464" cy="3637471"/>
          </a:xfrm>
          <a:prstGeom prst="rect">
            <a:avLst/>
          </a:prstGeom>
          <a:noFill/>
        </p:spPr>
        <p:txBody>
          <a:bodyPr wrap="square">
            <a:spAutoFit/>
          </a:bodyPr>
          <a:lstStyle/>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This is the most efficient model for quick communication.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This is a full-duplex, bidirectional communication model developed for constant/continuous connections between a client and server.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Once a connection is established, the clients and the servers can send and receive messages.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As long as a client doesn't send a request to close the connection, the connection remains open. </a:t>
            </a:r>
          </a:p>
          <a:p>
            <a:pPr algn="just">
              <a:lnSpc>
                <a:spcPct val="107000"/>
              </a:lnSpc>
              <a:spcAft>
                <a:spcPts val="800"/>
              </a:spcAft>
            </a:pPr>
            <a:r>
              <a:rPr lang="en-IN" sz="2400" kern="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server takes care of every open connection.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493485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5182714-B474-AFB4-89F3-64B865AF26BF}"/>
              </a:ext>
            </a:extLst>
          </p:cNvPr>
          <p:cNvSpPr txBox="1"/>
          <p:nvPr/>
        </p:nvSpPr>
        <p:spPr>
          <a:xfrm>
            <a:off x="2301905" y="2873655"/>
            <a:ext cx="7588189" cy="1110689"/>
          </a:xfrm>
          <a:prstGeom prst="rect">
            <a:avLst/>
          </a:prstGeom>
          <a:noFill/>
        </p:spPr>
        <p:txBody>
          <a:bodyPr wrap="square">
            <a:spAutoFit/>
          </a:bodyPr>
          <a:lstStyle/>
          <a:p>
            <a:pPr algn="just">
              <a:lnSpc>
                <a:spcPct val="107000"/>
              </a:lnSpc>
              <a:spcAft>
                <a:spcPts val="800"/>
              </a:spcAft>
            </a:pPr>
            <a:r>
              <a:rPr lang="en-IN" sz="3200" b="1"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are the different types of sensors used in IoT?</a:t>
            </a:r>
            <a:endParaRPr lang="en-IN" sz="20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58539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71682C04-28B9-CE26-CAD4-0D6FACCC00B3}"/>
              </a:ext>
            </a:extLst>
          </p:cNvPr>
          <p:cNvSpPr txBox="1"/>
          <p:nvPr/>
        </p:nvSpPr>
        <p:spPr>
          <a:xfrm>
            <a:off x="4840550" y="401260"/>
            <a:ext cx="2962922" cy="461665"/>
          </a:xfrm>
          <a:prstGeom prst="rect">
            <a:avLst/>
          </a:prstGeom>
          <a:noFill/>
        </p:spPr>
        <p:txBody>
          <a:bodyPr wrap="square">
            <a:spAutoFit/>
          </a:bodyPr>
          <a:lstStyle/>
          <a:p>
            <a:r>
              <a:rPr lang="en-IN" sz="2400" b="1" kern="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S</a:t>
            </a:r>
            <a:r>
              <a:rPr lang="en-IN" sz="2400" b="1" kern="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ensors used in IoT</a:t>
            </a:r>
            <a:endParaRPr lang="en-IN" sz="2400" dirty="0">
              <a:solidFill>
                <a:srgbClr val="FF0000"/>
              </a:solidFill>
            </a:endParaRPr>
          </a:p>
        </p:txBody>
      </p:sp>
      <p:pic>
        <p:nvPicPr>
          <p:cNvPr id="18434" name="Picture 2" descr="Types of Sensors Image 2">
            <a:extLst>
              <a:ext uri="{FF2B5EF4-FFF2-40B4-BE49-F238E27FC236}">
                <a16:creationId xmlns:a16="http://schemas.microsoft.com/office/drawing/2014/main" id="{26656018-78F5-0B40-3ADB-79A707951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054" y="1336155"/>
            <a:ext cx="10827891" cy="464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8924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EE0BD6A1-4812-EB72-0B41-D67D72977842}"/>
              </a:ext>
            </a:extLst>
          </p:cNvPr>
          <p:cNvSpPr txBox="1"/>
          <p:nvPr/>
        </p:nvSpPr>
        <p:spPr>
          <a:xfrm>
            <a:off x="2874516" y="2968105"/>
            <a:ext cx="6442968" cy="460895"/>
          </a:xfrm>
          <a:prstGeom prst="rect">
            <a:avLst/>
          </a:prstGeom>
          <a:noFill/>
        </p:spPr>
        <p:txBody>
          <a:bodyPr wrap="square">
            <a:spAutoFit/>
          </a:bodyPr>
          <a:lstStyle/>
          <a:p>
            <a:pPr algn="just">
              <a:lnSpc>
                <a:spcPct val="107000"/>
              </a:lnSpc>
              <a:spcAft>
                <a:spcPts val="800"/>
              </a:spcAft>
            </a:pPr>
            <a:r>
              <a:rPr lang="en-IN" sz="2400" b="1"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industries can be benefitted from IoT?</a:t>
            </a:r>
            <a:endParaRPr lang="en-IN" sz="16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399881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E89F3F24-9BE8-011B-2254-A3FA9C4C72C3}"/>
              </a:ext>
            </a:extLst>
          </p:cNvPr>
          <p:cNvSpPr txBox="1"/>
          <p:nvPr/>
        </p:nvSpPr>
        <p:spPr>
          <a:xfrm>
            <a:off x="1505875" y="1429959"/>
            <a:ext cx="9180250" cy="3499420"/>
          </a:xfrm>
          <a:prstGeom prst="rect">
            <a:avLst/>
          </a:prstGeom>
          <a:noFill/>
        </p:spPr>
        <p:txBody>
          <a:bodyPr wrap="square">
            <a:spAutoFit/>
          </a:bodyPr>
          <a:lstStyle/>
          <a:p>
            <a:pPr algn="just">
              <a:lnSpc>
                <a:spcPct val="107000"/>
              </a:lnSpc>
              <a:spcAft>
                <a:spcPts val="800"/>
              </a:spcAf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A wide range of industries can be benefitted from IoT. Some of them are as follows: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Consumer devices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Healthcare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Agriculture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Manufacturing</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Automation and public transportation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Utilities and energy</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Smart cities and smart homes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ts val="1875"/>
              </a:lnSpc>
              <a:spcBef>
                <a:spcPts val="300"/>
              </a:spcBef>
              <a:spcAft>
                <a:spcPts val="800"/>
              </a:spcAft>
              <a:buSzPts val="1000"/>
              <a:buFont typeface="Wingdings" panose="05000000000000000000" pitchFamily="2" charset="2"/>
              <a:buChar char="Ø"/>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And many more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402627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723EDC-56BD-E0BF-47A6-6EC0A6B6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63829484-4656-B6F4-EDB7-DE6F2BA60AFC}"/>
              </a:ext>
            </a:extLst>
          </p:cNvPr>
          <p:cNvSpPr txBox="1"/>
          <p:nvPr/>
        </p:nvSpPr>
        <p:spPr>
          <a:xfrm>
            <a:off x="639748" y="1183693"/>
            <a:ext cx="3029134" cy="338041"/>
          </a:xfrm>
          <a:prstGeom prst="rect">
            <a:avLst/>
          </a:prstGeom>
          <a:noFill/>
        </p:spPr>
        <p:txBody>
          <a:bodyPr wrap="square">
            <a:spAutoFit/>
          </a:bodyPr>
          <a:lstStyle/>
          <a:p>
            <a:pPr algn="just">
              <a:lnSpc>
                <a:spcPct val="107000"/>
              </a:lnSpc>
              <a:spcAft>
                <a:spcPts val="800"/>
              </a:spcAft>
            </a:pPr>
            <a:endParaRPr lang="en-IN" sz="16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F540C6D-EEEA-89A3-36BE-41A2E0E4ED61}"/>
              </a:ext>
            </a:extLst>
          </p:cNvPr>
          <p:cNvSpPr txBox="1"/>
          <p:nvPr/>
        </p:nvSpPr>
        <p:spPr>
          <a:xfrm>
            <a:off x="766717" y="1444003"/>
            <a:ext cx="10457895" cy="5386090"/>
          </a:xfrm>
          <a:prstGeom prst="rect">
            <a:avLst/>
          </a:prstGeom>
          <a:noFill/>
        </p:spPr>
        <p:txBody>
          <a:bodyPr wrap="square">
            <a:spAutoFit/>
          </a:bodyPr>
          <a:lstStyle/>
          <a:p>
            <a:pPr algn="just"/>
            <a:r>
              <a:rPr lang="en-IN" sz="2400" b="1"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is </a:t>
            </a:r>
            <a:r>
              <a:rPr lang="en-IN" sz="2400" b="1" kern="0"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a:t>
            </a:r>
            <a:r>
              <a:rPr lang="en-IN" sz="2400" b="1" kern="0" dirty="0" err="1">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hingSpeak</a:t>
            </a:r>
            <a:r>
              <a:rPr lang="en-IN" sz="2400" b="1"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gn="just"/>
            <a:endParaRPr lang="en-IN" sz="2400" b="1" kern="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2400" b="1" kern="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What are the different features of </a:t>
            </a:r>
            <a:r>
              <a:rPr lang="en-IN" sz="2400" b="1" kern="0" dirty="0" err="1">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ThingSpeak</a:t>
            </a:r>
            <a:r>
              <a:rPr lang="en-IN" sz="2400" b="1" kern="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algn="just"/>
            <a:endParaRPr lang="en-IN" sz="2400" b="1" kern="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endParaRPr>
          </a:p>
          <a:p>
            <a:pPr algn="l" fontAlgn="base"/>
            <a:r>
              <a:rPr lang="en-US" sz="2400" b="1" kern="0" dirty="0">
                <a:solidFill>
                  <a:srgbClr val="C00000"/>
                </a:solidFill>
                <a:latin typeface="Times New Roman" panose="02020603050405020304" pitchFamily="18" charset="0"/>
                <a:cs typeface="Times New Roman" panose="02020603050405020304" pitchFamily="18" charset="0"/>
              </a:rPr>
              <a:t>What type of data is accepted by </a:t>
            </a:r>
            <a:r>
              <a:rPr lang="en-US" sz="2400" b="1" kern="0" dirty="0" err="1">
                <a:solidFill>
                  <a:srgbClr val="C00000"/>
                </a:solidFill>
                <a:latin typeface="Times New Roman" panose="02020603050405020304" pitchFamily="18" charset="0"/>
                <a:cs typeface="Times New Roman" panose="02020603050405020304" pitchFamily="18" charset="0"/>
              </a:rPr>
              <a:t>ThingSpeak</a:t>
            </a:r>
            <a:r>
              <a:rPr lang="en-US" sz="2400" b="1" kern="0" dirty="0">
                <a:solidFill>
                  <a:srgbClr val="C00000"/>
                </a:solidFill>
                <a:latin typeface="Times New Roman" panose="02020603050405020304" pitchFamily="18" charset="0"/>
                <a:cs typeface="Times New Roman" panose="02020603050405020304" pitchFamily="18" charset="0"/>
              </a:rPr>
              <a:t>?</a:t>
            </a:r>
          </a:p>
          <a:p>
            <a:pPr algn="l" fontAlgn="base"/>
            <a:endParaRPr lang="en-US" sz="2400" b="1" kern="0" dirty="0">
              <a:solidFill>
                <a:srgbClr val="C00000"/>
              </a:solidFill>
              <a:latin typeface="Times New Roman" panose="02020603050405020304" pitchFamily="18" charset="0"/>
              <a:cs typeface="Times New Roman" panose="02020603050405020304" pitchFamily="18" charset="0"/>
            </a:endParaRPr>
          </a:p>
          <a:p>
            <a:pPr fontAlgn="base"/>
            <a:r>
              <a:rPr lang="en-IN" sz="2400" b="1" kern="0" dirty="0">
                <a:solidFill>
                  <a:srgbClr val="C00000"/>
                </a:solidFill>
                <a:latin typeface="Times New Roman" panose="02020603050405020304" pitchFamily="18" charset="0"/>
                <a:cs typeface="Times New Roman" panose="02020603050405020304" pitchFamily="18" charset="0"/>
              </a:rPr>
              <a:t>Is </a:t>
            </a:r>
            <a:r>
              <a:rPr lang="en-IN" sz="2400" b="1" kern="0" dirty="0" err="1">
                <a:solidFill>
                  <a:srgbClr val="C00000"/>
                </a:solidFill>
                <a:latin typeface="Times New Roman" panose="02020603050405020304" pitchFamily="18" charset="0"/>
                <a:cs typeface="Times New Roman" panose="02020603050405020304" pitchFamily="18" charset="0"/>
              </a:rPr>
              <a:t>ThingSpeak</a:t>
            </a:r>
            <a:r>
              <a:rPr lang="en-IN" sz="2400" b="1" kern="0" dirty="0">
                <a:solidFill>
                  <a:srgbClr val="C00000"/>
                </a:solidFill>
                <a:latin typeface="Times New Roman" panose="02020603050405020304" pitchFamily="18" charset="0"/>
                <a:cs typeface="Times New Roman" panose="02020603050405020304" pitchFamily="18" charset="0"/>
              </a:rPr>
              <a:t> free?</a:t>
            </a:r>
          </a:p>
          <a:p>
            <a:pPr algn="l" fontAlgn="base"/>
            <a:endParaRPr lang="en-US" sz="2400" b="1" kern="0" dirty="0">
              <a:solidFill>
                <a:srgbClr val="C00000"/>
              </a:solidFill>
              <a:latin typeface="Times New Roman" panose="02020603050405020304" pitchFamily="18" charset="0"/>
              <a:cs typeface="Times New Roman" panose="02020603050405020304" pitchFamily="18" charset="0"/>
            </a:endParaRPr>
          </a:p>
          <a:p>
            <a:pPr fontAlgn="base"/>
            <a:r>
              <a:rPr lang="en-US" sz="2400" b="1" kern="0" dirty="0">
                <a:solidFill>
                  <a:srgbClr val="C00000"/>
                </a:solidFill>
                <a:latin typeface="Times New Roman" panose="02020603050405020304" pitchFamily="18" charset="0"/>
                <a:cs typeface="Times New Roman" panose="02020603050405020304" pitchFamily="18" charset="0"/>
              </a:rPr>
              <a:t>How do you send/collect data from </a:t>
            </a:r>
            <a:r>
              <a:rPr lang="en-US" sz="2400" b="1" kern="0" dirty="0" err="1">
                <a:solidFill>
                  <a:srgbClr val="C00000"/>
                </a:solidFill>
                <a:latin typeface="Times New Roman" panose="02020603050405020304" pitchFamily="18" charset="0"/>
                <a:cs typeface="Times New Roman" panose="02020603050405020304" pitchFamily="18" charset="0"/>
              </a:rPr>
              <a:t>ThingSpeak</a:t>
            </a:r>
            <a:r>
              <a:rPr lang="en-US" sz="2400" b="1" kern="0" dirty="0">
                <a:solidFill>
                  <a:srgbClr val="C00000"/>
                </a:solidFill>
                <a:latin typeface="Times New Roman" panose="02020603050405020304" pitchFamily="18" charset="0"/>
                <a:cs typeface="Times New Roman" panose="02020603050405020304" pitchFamily="18" charset="0"/>
              </a:rPr>
              <a:t>?</a:t>
            </a:r>
          </a:p>
          <a:p>
            <a:pPr fontAlgn="base"/>
            <a:endParaRPr lang="en-US" sz="2400" b="1" kern="0" dirty="0">
              <a:solidFill>
                <a:srgbClr val="C00000"/>
              </a:solidFill>
              <a:latin typeface="Times New Roman" panose="02020603050405020304" pitchFamily="18" charset="0"/>
              <a:cs typeface="Times New Roman" panose="02020603050405020304" pitchFamily="18" charset="0"/>
            </a:endParaRPr>
          </a:p>
          <a:p>
            <a:pPr fontAlgn="base"/>
            <a:r>
              <a:rPr lang="en-IN" sz="2400" b="1" kern="0" dirty="0" err="1">
                <a:solidFill>
                  <a:srgbClr val="C00000"/>
                </a:solidFill>
                <a:latin typeface="Times New Roman" panose="02020603050405020304" pitchFamily="18" charset="0"/>
                <a:cs typeface="Times New Roman" panose="02020603050405020304" pitchFamily="18" charset="0"/>
              </a:rPr>
              <a:t>ThingSpeak</a:t>
            </a:r>
            <a:r>
              <a:rPr lang="en-IN" sz="2400" b="1" kern="0" dirty="0">
                <a:solidFill>
                  <a:srgbClr val="C00000"/>
                </a:solidFill>
                <a:latin typeface="Times New Roman" panose="02020603050405020304" pitchFamily="18" charset="0"/>
                <a:cs typeface="Times New Roman" panose="02020603050405020304" pitchFamily="18" charset="0"/>
              </a:rPr>
              <a:t> comes under which communication protocol?</a:t>
            </a:r>
          </a:p>
          <a:p>
            <a:pPr fontAlgn="base"/>
            <a:endParaRPr lang="en-US" sz="2400" b="1" kern="0" dirty="0">
              <a:solidFill>
                <a:srgbClr val="C00000"/>
              </a:solidFill>
              <a:latin typeface="Times New Roman" panose="02020603050405020304" pitchFamily="18" charset="0"/>
              <a:cs typeface="Times New Roman" panose="02020603050405020304" pitchFamily="18" charset="0"/>
            </a:endParaRPr>
          </a:p>
          <a:p>
            <a:pPr algn="l" fontAlgn="base"/>
            <a:endParaRPr lang="en-US" sz="2400" b="1" kern="0" dirty="0">
              <a:solidFill>
                <a:srgbClr val="C00000"/>
              </a:solidFill>
              <a:latin typeface="Times New Roman" panose="02020603050405020304" pitchFamily="18" charset="0"/>
              <a:cs typeface="Times New Roman" panose="02020603050405020304" pitchFamily="18" charset="0"/>
            </a:endParaRPr>
          </a:p>
          <a:p>
            <a:br>
              <a:rPr lang="en-US" sz="1600" dirty="0"/>
            </a:br>
            <a:endParaRPr lang="en-IN" sz="1600" b="1" kern="1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30962AE1-8412-A624-1DDA-B223B110EDFC}"/>
              </a:ext>
            </a:extLst>
          </p:cNvPr>
          <p:cNvSpPr txBox="1"/>
          <p:nvPr/>
        </p:nvSpPr>
        <p:spPr>
          <a:xfrm>
            <a:off x="4810032" y="429614"/>
            <a:ext cx="2568976" cy="584775"/>
          </a:xfrm>
          <a:prstGeom prst="rect">
            <a:avLst/>
          </a:prstGeom>
          <a:noFill/>
        </p:spPr>
        <p:txBody>
          <a:bodyPr wrap="square">
            <a:spAutoFit/>
          </a:bodyPr>
          <a:lstStyle/>
          <a:p>
            <a:r>
              <a:rPr lang="en-IN" sz="3200" b="1" kern="0"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a:t>
            </a:r>
            <a:r>
              <a:rPr lang="en-IN" sz="3200" b="1" kern="0" dirty="0" err="1">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hingSpeak</a:t>
            </a:r>
            <a:endParaRPr lang="en-IN" sz="3200" dirty="0">
              <a:solidFill>
                <a:srgbClr val="FF0000"/>
              </a:solidFill>
            </a:endParaRPr>
          </a:p>
        </p:txBody>
      </p:sp>
    </p:spTree>
    <p:extLst>
      <p:ext uri="{BB962C8B-B14F-4D97-AF65-F5344CB8AC3E}">
        <p14:creationId xmlns:p14="http://schemas.microsoft.com/office/powerpoint/2010/main" val="3940427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975</TotalTime>
  <Words>4672</Words>
  <Application>Microsoft Office PowerPoint</Application>
  <PresentationFormat>Widescreen</PresentationFormat>
  <Paragraphs>364</Paragraphs>
  <Slides>71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Arial</vt:lpstr>
      <vt:lpstr>Calibri</vt:lpstr>
      <vt:lpstr>Calibri Light</vt:lpstr>
      <vt:lpstr>Segoe UI</vt:lpstr>
      <vt:lpstr>Söhne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NUTS4</dc:creator>
  <cp:lastModifiedBy>Chandramouli</cp:lastModifiedBy>
  <cp:revision>285</cp:revision>
  <dcterms:created xsi:type="dcterms:W3CDTF">2023-03-13T13:21:42Z</dcterms:created>
  <dcterms:modified xsi:type="dcterms:W3CDTF">2024-01-10T10:26:55Z</dcterms:modified>
</cp:coreProperties>
</file>