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5" r:id="rId1"/>
  </p:sldMasterIdLst>
  <p:sldIdLst>
    <p:sldId id="334" r:id="rId2"/>
    <p:sldId id="335" r:id="rId3"/>
    <p:sldId id="338" r:id="rId4"/>
    <p:sldId id="344" r:id="rId5"/>
    <p:sldId id="343" r:id="rId6"/>
    <p:sldId id="342" r:id="rId7"/>
    <p:sldId id="341" r:id="rId8"/>
    <p:sldId id="340" r:id="rId9"/>
    <p:sldId id="339" r:id="rId10"/>
    <p:sldId id="337" r:id="rId11"/>
    <p:sldId id="336" r:id="rId12"/>
    <p:sldId id="345" r:id="rId13"/>
    <p:sldId id="346" r:id="rId14"/>
    <p:sldId id="347" r:id="rId15"/>
    <p:sldId id="348" r:id="rId16"/>
  </p:sldIdLst>
  <p:sldSz cx="9144000" cy="6858000" type="screen4x3"/>
  <p:notesSz cx="6858000" cy="9144000"/>
  <p:defaultTextStyle>
    <a:defPPr>
      <a:defRPr lang="en-US"/>
    </a:defPPr>
    <a:lvl1pPr algn="l" rtl="0" fontAlgn="base">
      <a:spcBef>
        <a:spcPct val="0"/>
      </a:spcBef>
      <a:spcAft>
        <a:spcPct val="0"/>
      </a:spcAft>
      <a:defRPr sz="2000" kern="1200">
        <a:solidFill>
          <a:schemeClr val="tx1"/>
        </a:solidFill>
        <a:latin typeface="Tahoma" pitchFamily="34" charset="0"/>
        <a:ea typeface="+mn-ea"/>
        <a:cs typeface="+mn-cs"/>
      </a:defRPr>
    </a:lvl1pPr>
    <a:lvl2pPr marL="457200" algn="l" rtl="0" fontAlgn="base">
      <a:spcBef>
        <a:spcPct val="0"/>
      </a:spcBef>
      <a:spcAft>
        <a:spcPct val="0"/>
      </a:spcAft>
      <a:defRPr sz="2000" kern="1200">
        <a:solidFill>
          <a:schemeClr val="tx1"/>
        </a:solidFill>
        <a:latin typeface="Tahoma" pitchFamily="34" charset="0"/>
        <a:ea typeface="+mn-ea"/>
        <a:cs typeface="+mn-cs"/>
      </a:defRPr>
    </a:lvl2pPr>
    <a:lvl3pPr marL="914400" algn="l" rtl="0" fontAlgn="base">
      <a:spcBef>
        <a:spcPct val="0"/>
      </a:spcBef>
      <a:spcAft>
        <a:spcPct val="0"/>
      </a:spcAft>
      <a:defRPr sz="2000" kern="1200">
        <a:solidFill>
          <a:schemeClr val="tx1"/>
        </a:solidFill>
        <a:latin typeface="Tahoma" pitchFamily="34" charset="0"/>
        <a:ea typeface="+mn-ea"/>
        <a:cs typeface="+mn-cs"/>
      </a:defRPr>
    </a:lvl3pPr>
    <a:lvl4pPr marL="1371600" algn="l" rtl="0" fontAlgn="base">
      <a:spcBef>
        <a:spcPct val="0"/>
      </a:spcBef>
      <a:spcAft>
        <a:spcPct val="0"/>
      </a:spcAft>
      <a:defRPr sz="2000" kern="1200">
        <a:solidFill>
          <a:schemeClr val="tx1"/>
        </a:solidFill>
        <a:latin typeface="Tahoma" pitchFamily="34" charset="0"/>
        <a:ea typeface="+mn-ea"/>
        <a:cs typeface="+mn-cs"/>
      </a:defRPr>
    </a:lvl4pPr>
    <a:lvl5pPr marL="1828800" algn="l" rtl="0" fontAlgn="base">
      <a:spcBef>
        <a:spcPct val="0"/>
      </a:spcBef>
      <a:spcAft>
        <a:spcPct val="0"/>
      </a:spcAft>
      <a:defRPr sz="2000" kern="1200">
        <a:solidFill>
          <a:schemeClr val="tx1"/>
        </a:solidFill>
        <a:latin typeface="Tahoma" pitchFamily="34" charset="0"/>
        <a:ea typeface="+mn-ea"/>
        <a:cs typeface="+mn-cs"/>
      </a:defRPr>
    </a:lvl5pPr>
    <a:lvl6pPr marL="2286000" algn="l" defTabSz="914400" rtl="0" eaLnBrk="1" latinLnBrk="0" hangingPunct="1">
      <a:defRPr sz="2000" kern="1200">
        <a:solidFill>
          <a:schemeClr val="tx1"/>
        </a:solidFill>
        <a:latin typeface="Tahoma" pitchFamily="34" charset="0"/>
        <a:ea typeface="+mn-ea"/>
        <a:cs typeface="+mn-cs"/>
      </a:defRPr>
    </a:lvl6pPr>
    <a:lvl7pPr marL="2743200" algn="l" defTabSz="914400" rtl="0" eaLnBrk="1" latinLnBrk="0" hangingPunct="1">
      <a:defRPr sz="2000" kern="1200">
        <a:solidFill>
          <a:schemeClr val="tx1"/>
        </a:solidFill>
        <a:latin typeface="Tahoma" pitchFamily="34" charset="0"/>
        <a:ea typeface="+mn-ea"/>
        <a:cs typeface="+mn-cs"/>
      </a:defRPr>
    </a:lvl7pPr>
    <a:lvl8pPr marL="3200400" algn="l" defTabSz="914400" rtl="0" eaLnBrk="1" latinLnBrk="0" hangingPunct="1">
      <a:defRPr sz="2000" kern="1200">
        <a:solidFill>
          <a:schemeClr val="tx1"/>
        </a:solidFill>
        <a:latin typeface="Tahoma" pitchFamily="34" charset="0"/>
        <a:ea typeface="+mn-ea"/>
        <a:cs typeface="+mn-cs"/>
      </a:defRPr>
    </a:lvl8pPr>
    <a:lvl9pPr marL="3657600" algn="l" defTabSz="914400" rtl="0" eaLnBrk="1" latinLnBrk="0" hangingPunct="1">
      <a:defRPr sz="20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FF0066"/>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2" d="100"/>
          <a:sy n="82" d="100"/>
        </p:scale>
        <p:origin x="1474"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35397D2-3D22-4A8E-9C63-6E0AB93A2C0D}"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CB03594-5B53-472C-8D8A-0E7F5FFF048E}"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D8FEA7A-31C2-42F9-81C5-5222D87E1AA5}"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2EB0C902-3550-4F8D-8478-64EEDB183FA8}"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56B5F7AF-A16A-408E-B35F-5BCE70BD9B7F}"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3CE26C0F-1242-45D1-8C68-DF6993B520BE}"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CD5FEEC3-0B4E-4698-9802-BEA197FAEC10}"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79176833-FCBD-487B-85BD-6C5462FD8FB5}"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79BF01CE-10FD-47B9-8D77-55B54B5D5FBF}"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E170320-E3DD-4098-B0FC-73570C9CD1C8}"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D1296B5-4E9E-4963-A364-77FCE1360DD3}"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3732"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smtClean="0">
                <a:latin typeface="+mn-lt"/>
              </a:defRPr>
            </a:lvl1pPr>
          </a:lstStyle>
          <a:p>
            <a:pPr>
              <a:defRPr/>
            </a:pPr>
            <a:endParaRPr lang="en-US"/>
          </a:p>
        </p:txBody>
      </p:sp>
      <p:sp>
        <p:nvSpPr>
          <p:cNvPr id="73733"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smtClean="0">
                <a:latin typeface="+mn-lt"/>
              </a:defRPr>
            </a:lvl1pPr>
          </a:lstStyle>
          <a:p>
            <a:pPr>
              <a:defRPr/>
            </a:pPr>
            <a:endParaRPr lang="en-US"/>
          </a:p>
        </p:txBody>
      </p:sp>
      <p:sp>
        <p:nvSpPr>
          <p:cNvPr id="73734"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smtClean="0">
                <a:latin typeface="+mn-lt"/>
              </a:defRPr>
            </a:lvl1pPr>
          </a:lstStyle>
          <a:p>
            <a:pPr>
              <a:defRPr/>
            </a:pPr>
            <a:fld id="{A660CA4A-5A03-435B-9C6C-B84447281945}"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CCE10-F32B-6D9D-8CBC-3990A3564B44}"/>
              </a:ext>
            </a:extLst>
          </p:cNvPr>
          <p:cNvSpPr>
            <a:spLocks noGrp="1"/>
          </p:cNvSpPr>
          <p:nvPr>
            <p:ph type="title"/>
          </p:nvPr>
        </p:nvSpPr>
        <p:spPr>
          <a:xfrm>
            <a:off x="304800" y="2743200"/>
            <a:ext cx="8229600" cy="1143000"/>
          </a:xfrm>
        </p:spPr>
        <p:txBody>
          <a:bodyPr/>
          <a:lstStyle/>
          <a:p>
            <a:r>
              <a:rPr lang="en-IN" b="1" dirty="0">
                <a:solidFill>
                  <a:srgbClr val="FF9900"/>
                </a:solidFill>
                <a:latin typeface="Times New Roman" panose="02020603050405020304" pitchFamily="18" charset="0"/>
                <a:cs typeface="Times New Roman" panose="02020603050405020304" pitchFamily="18" charset="0"/>
              </a:rPr>
              <a:t>IoT Standards and Protocols</a:t>
            </a:r>
          </a:p>
        </p:txBody>
      </p:sp>
    </p:spTree>
    <p:extLst>
      <p:ext uri="{BB962C8B-B14F-4D97-AF65-F5344CB8AC3E}">
        <p14:creationId xmlns:p14="http://schemas.microsoft.com/office/powerpoint/2010/main" val="34485226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A2185-C811-D252-D739-EF7A249EC04D}"/>
              </a:ext>
            </a:extLst>
          </p:cNvPr>
          <p:cNvSpPr>
            <a:spLocks noGrp="1"/>
          </p:cNvSpPr>
          <p:nvPr>
            <p:ph type="title"/>
          </p:nvPr>
        </p:nvSpPr>
        <p:spPr/>
        <p:txBody>
          <a:bodyPr/>
          <a:lstStyle/>
          <a:p>
            <a:r>
              <a:rPr lang="en-IN" b="1" dirty="0">
                <a:solidFill>
                  <a:srgbClr val="FF9900"/>
                </a:solidFill>
                <a:latin typeface="Times New Roman" panose="02020603050405020304" pitchFamily="18" charset="0"/>
                <a:cs typeface="Times New Roman" panose="02020603050405020304" pitchFamily="18" charset="0"/>
              </a:rPr>
              <a:t>    IoT Standards and Protocols</a:t>
            </a:r>
            <a:endParaRPr lang="en-IN" dirty="0"/>
          </a:p>
        </p:txBody>
      </p:sp>
      <p:sp>
        <p:nvSpPr>
          <p:cNvPr id="3" name="Content Placeholder 2">
            <a:extLst>
              <a:ext uri="{FF2B5EF4-FFF2-40B4-BE49-F238E27FC236}">
                <a16:creationId xmlns:a16="http://schemas.microsoft.com/office/drawing/2014/main" id="{27D715D4-82D4-44CB-A88F-CC72C41DED8E}"/>
              </a:ext>
            </a:extLst>
          </p:cNvPr>
          <p:cNvSpPr>
            <a:spLocks noGrp="1"/>
          </p:cNvSpPr>
          <p:nvPr>
            <p:ph idx="1"/>
          </p:nvPr>
        </p:nvSpPr>
        <p:spPr/>
        <p:txBody>
          <a:bodyPr/>
          <a:lstStyle/>
          <a:p>
            <a:pPr marL="0" indent="0" algn="l">
              <a:buNone/>
            </a:pPr>
            <a:r>
              <a:rPr lang="en-US" sz="2000" b="0" i="0" dirty="0">
                <a:solidFill>
                  <a:srgbClr val="000000"/>
                </a:solidFill>
                <a:effectLst/>
                <a:latin typeface="Times New Roman" panose="02020603050405020304" pitchFamily="18" charset="0"/>
                <a:cs typeface="Times New Roman" panose="02020603050405020304" pitchFamily="18" charset="0"/>
              </a:rPr>
              <a:t>IoT protocols and standards are broadly classified into two separate categories. These are:</a:t>
            </a:r>
          </a:p>
          <a:p>
            <a:pPr algn="l">
              <a:buFont typeface="+mj-lt"/>
              <a:buAutoNum type="arabicPeriod"/>
            </a:pPr>
            <a:r>
              <a:rPr lang="en-US" sz="2000" b="0" i="0" dirty="0">
                <a:solidFill>
                  <a:srgbClr val="000000"/>
                </a:solidFill>
                <a:effectLst/>
                <a:latin typeface="Times New Roman" panose="02020603050405020304" pitchFamily="18" charset="0"/>
                <a:cs typeface="Times New Roman" panose="02020603050405020304" pitchFamily="18" charset="0"/>
              </a:rPr>
              <a:t>IoT data protocols (Presentation / Application layers)</a:t>
            </a:r>
          </a:p>
          <a:p>
            <a:pPr algn="l">
              <a:buFont typeface="+mj-lt"/>
              <a:buAutoNum type="arabicPeriod"/>
            </a:pPr>
            <a:r>
              <a:rPr lang="en-US" sz="2000" b="0" i="0" dirty="0">
                <a:solidFill>
                  <a:srgbClr val="000000"/>
                </a:solidFill>
                <a:effectLst/>
                <a:latin typeface="Times New Roman" panose="02020603050405020304" pitchFamily="18" charset="0"/>
                <a:cs typeface="Times New Roman" panose="02020603050405020304" pitchFamily="18" charset="0"/>
              </a:rPr>
              <a:t>Network protocols for IoT (Datalink / Physical layers)</a:t>
            </a:r>
          </a:p>
          <a:p>
            <a:pPr marL="0" indent="0">
              <a:buNone/>
            </a:pPr>
            <a:endParaRPr lang="en-IN" dirty="0"/>
          </a:p>
        </p:txBody>
      </p:sp>
    </p:spTree>
    <p:extLst>
      <p:ext uri="{BB962C8B-B14F-4D97-AF65-F5344CB8AC3E}">
        <p14:creationId xmlns:p14="http://schemas.microsoft.com/office/powerpoint/2010/main" val="20024318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A2185-C811-D252-D739-EF7A249EC04D}"/>
              </a:ext>
            </a:extLst>
          </p:cNvPr>
          <p:cNvSpPr>
            <a:spLocks noGrp="1"/>
          </p:cNvSpPr>
          <p:nvPr>
            <p:ph type="title"/>
          </p:nvPr>
        </p:nvSpPr>
        <p:spPr/>
        <p:txBody>
          <a:bodyPr/>
          <a:lstStyle/>
          <a:p>
            <a:r>
              <a:rPr lang="en-IN" b="1" dirty="0">
                <a:solidFill>
                  <a:srgbClr val="FF9900"/>
                </a:solidFill>
                <a:latin typeface="Times New Roman" panose="02020603050405020304" pitchFamily="18" charset="0"/>
                <a:cs typeface="Times New Roman" panose="02020603050405020304" pitchFamily="18" charset="0"/>
              </a:rPr>
              <a:t>    IoT Standards and Protocols</a:t>
            </a:r>
            <a:endParaRPr lang="en-IN" dirty="0"/>
          </a:p>
        </p:txBody>
      </p:sp>
      <p:sp>
        <p:nvSpPr>
          <p:cNvPr id="3" name="Content Placeholder 2">
            <a:extLst>
              <a:ext uri="{FF2B5EF4-FFF2-40B4-BE49-F238E27FC236}">
                <a16:creationId xmlns:a16="http://schemas.microsoft.com/office/drawing/2014/main" id="{27D715D4-82D4-44CB-A88F-CC72C41DED8E}"/>
              </a:ext>
            </a:extLst>
          </p:cNvPr>
          <p:cNvSpPr>
            <a:spLocks noGrp="1"/>
          </p:cNvSpPr>
          <p:nvPr>
            <p:ph idx="1"/>
          </p:nvPr>
        </p:nvSpPr>
        <p:spPr/>
        <p:txBody>
          <a:bodyPr/>
          <a:lstStyle/>
          <a:p>
            <a:pPr marL="0" indent="0" algn="just">
              <a:buNone/>
            </a:pPr>
            <a:r>
              <a:rPr lang="en-US" sz="2000" b="1" i="0" dirty="0">
                <a:solidFill>
                  <a:srgbClr val="000000"/>
                </a:solidFill>
                <a:effectLst/>
                <a:latin typeface="Times New Roman" panose="02020603050405020304" pitchFamily="18" charset="0"/>
                <a:cs typeface="Times New Roman" panose="02020603050405020304" pitchFamily="18" charset="0"/>
              </a:rPr>
              <a:t>IoT Data Protocols</a:t>
            </a:r>
          </a:p>
          <a:p>
            <a:pPr marL="0" indent="0" algn="just">
              <a:buNone/>
            </a:pPr>
            <a:r>
              <a:rPr lang="en-US" sz="2000" b="0" i="0" dirty="0">
                <a:solidFill>
                  <a:srgbClr val="000000"/>
                </a:solidFill>
                <a:effectLst/>
                <a:latin typeface="Times New Roman" panose="02020603050405020304" pitchFamily="18" charset="0"/>
                <a:cs typeface="Times New Roman" panose="02020603050405020304" pitchFamily="18" charset="0"/>
              </a:rPr>
              <a:t>IoT data protocols are used to connect low-power IoT devices. They provide communication with hardware on the user side – without the need for any internet connection.</a:t>
            </a:r>
          </a:p>
          <a:p>
            <a:pPr marL="0" indent="0" algn="just">
              <a:buNone/>
            </a:pPr>
            <a:r>
              <a:rPr lang="en-US" sz="2000" b="0" i="0" dirty="0">
                <a:solidFill>
                  <a:srgbClr val="000000"/>
                </a:solidFill>
                <a:effectLst/>
                <a:latin typeface="Times New Roman" panose="02020603050405020304" pitchFamily="18" charset="0"/>
                <a:cs typeface="Times New Roman" panose="02020603050405020304" pitchFamily="18" charset="0"/>
              </a:rPr>
              <a:t>The connectivity in IoT data protocols and standards is through a wired or cellular network. </a:t>
            </a:r>
          </a:p>
          <a:p>
            <a:pPr marL="0" indent="0" algn="just">
              <a:buNone/>
            </a:pPr>
            <a:r>
              <a:rPr lang="en-US" sz="2000" b="0" i="0" dirty="0">
                <a:solidFill>
                  <a:srgbClr val="000000"/>
                </a:solidFill>
                <a:effectLst/>
                <a:latin typeface="Times New Roman" panose="02020603050405020304" pitchFamily="18" charset="0"/>
                <a:cs typeface="Times New Roman" panose="02020603050405020304" pitchFamily="18" charset="0"/>
              </a:rPr>
              <a:t>Some examples of IoT data protocols are:</a:t>
            </a:r>
          </a:p>
          <a:p>
            <a:pPr marL="400050" lvl="1" indent="0" algn="just">
              <a:buNone/>
            </a:pPr>
            <a:r>
              <a:rPr lang="en-IN" sz="1400" b="1" i="0" dirty="0">
                <a:solidFill>
                  <a:srgbClr val="000000"/>
                </a:solidFill>
                <a:effectLst/>
                <a:latin typeface="Times New Roman" panose="02020603050405020304" pitchFamily="18" charset="0"/>
                <a:cs typeface="Times New Roman" panose="02020603050405020304" pitchFamily="18" charset="0"/>
              </a:rPr>
              <a:t>MQTT (Message Queuing Telemetry Transport) </a:t>
            </a:r>
          </a:p>
          <a:p>
            <a:pPr marL="400050" lvl="1" indent="0" algn="just">
              <a:buNone/>
            </a:pPr>
            <a:r>
              <a:rPr lang="en-IN" sz="1400" b="1" i="0" dirty="0">
                <a:solidFill>
                  <a:srgbClr val="000000"/>
                </a:solidFill>
                <a:effectLst/>
                <a:latin typeface="Times New Roman" panose="02020603050405020304" pitchFamily="18" charset="0"/>
                <a:cs typeface="Times New Roman" panose="02020603050405020304" pitchFamily="18" charset="0"/>
              </a:rPr>
              <a:t>CoAP (Constrained Application Protocol)</a:t>
            </a:r>
          </a:p>
          <a:p>
            <a:pPr marL="400050" lvl="1" indent="0">
              <a:buNone/>
            </a:pPr>
            <a:r>
              <a:rPr lang="en-US" sz="1400" b="1" i="0" dirty="0">
                <a:solidFill>
                  <a:srgbClr val="000000"/>
                </a:solidFill>
                <a:effectLst/>
                <a:latin typeface="Times New Roman" panose="02020603050405020304" pitchFamily="18" charset="0"/>
                <a:cs typeface="Times New Roman" panose="02020603050405020304" pitchFamily="18" charset="0"/>
              </a:rPr>
              <a:t>AMQP (Advanced Message Queuing Protocol) </a:t>
            </a:r>
          </a:p>
          <a:p>
            <a:pPr marL="400050" lvl="1" indent="0">
              <a:buNone/>
            </a:pPr>
            <a:r>
              <a:rPr lang="en-IN" sz="1400" b="1" i="0" dirty="0">
                <a:solidFill>
                  <a:srgbClr val="000000"/>
                </a:solidFill>
                <a:effectLst/>
                <a:latin typeface="Times New Roman" panose="02020603050405020304" pitchFamily="18" charset="0"/>
                <a:cs typeface="Times New Roman" panose="02020603050405020304" pitchFamily="18" charset="0"/>
              </a:rPr>
              <a:t>DDS (Data Distribution Service)</a:t>
            </a:r>
          </a:p>
          <a:p>
            <a:pPr marL="400050" lvl="1" indent="0">
              <a:buNone/>
            </a:pPr>
            <a:r>
              <a:rPr lang="en-IN" sz="1400" b="1" i="0" dirty="0">
                <a:solidFill>
                  <a:srgbClr val="000000"/>
                </a:solidFill>
                <a:effectLst/>
                <a:latin typeface="Times New Roman" panose="02020603050405020304" pitchFamily="18" charset="0"/>
                <a:cs typeface="Times New Roman" panose="02020603050405020304" pitchFamily="18" charset="0"/>
              </a:rPr>
              <a:t>HTTP (</a:t>
            </a:r>
            <a:r>
              <a:rPr lang="en-IN" sz="1400" b="1" i="0" dirty="0" err="1">
                <a:solidFill>
                  <a:srgbClr val="000000"/>
                </a:solidFill>
                <a:effectLst/>
                <a:latin typeface="Times New Roman" panose="02020603050405020304" pitchFamily="18" charset="0"/>
                <a:cs typeface="Times New Roman" panose="02020603050405020304" pitchFamily="18" charset="0"/>
              </a:rPr>
              <a:t>HyperText</a:t>
            </a:r>
            <a:r>
              <a:rPr lang="en-IN" sz="1400" b="1" i="0" dirty="0">
                <a:solidFill>
                  <a:srgbClr val="000000"/>
                </a:solidFill>
                <a:effectLst/>
                <a:latin typeface="Times New Roman" panose="02020603050405020304" pitchFamily="18" charset="0"/>
                <a:cs typeface="Times New Roman" panose="02020603050405020304" pitchFamily="18" charset="0"/>
              </a:rPr>
              <a:t> Transfer Protocol)</a:t>
            </a:r>
          </a:p>
          <a:p>
            <a:pPr marL="400050" lvl="1" indent="0">
              <a:buNone/>
            </a:pPr>
            <a:r>
              <a:rPr lang="en-IN" sz="1400" b="1" i="0" dirty="0">
                <a:solidFill>
                  <a:srgbClr val="000000"/>
                </a:solidFill>
                <a:effectLst/>
                <a:latin typeface="Times New Roman" panose="02020603050405020304" pitchFamily="18" charset="0"/>
                <a:cs typeface="Times New Roman" panose="02020603050405020304" pitchFamily="18" charset="0"/>
              </a:rPr>
              <a:t>WebSocket</a:t>
            </a:r>
          </a:p>
          <a:p>
            <a:pPr marL="0" indent="0">
              <a:buNone/>
            </a:pPr>
            <a:br>
              <a:rPr lang="en-IN" sz="1200" dirty="0"/>
            </a:br>
            <a:endParaRPr lang="en-US" sz="2000" b="0" i="0" dirty="0">
              <a:solidFill>
                <a:srgbClr val="000000"/>
              </a:solidFill>
              <a:effectLst/>
              <a:latin typeface="Times New Roman" panose="02020603050405020304" pitchFamily="18" charset="0"/>
              <a:cs typeface="Times New Roman" panose="02020603050405020304" pitchFamily="18" charset="0"/>
            </a:endParaRPr>
          </a:p>
          <a:p>
            <a:pPr marL="0" indent="0" algn="just">
              <a:buNone/>
            </a:pPr>
            <a:br>
              <a:rPr lang="en-US"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25298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A2185-C811-D252-D739-EF7A249EC04D}"/>
              </a:ext>
            </a:extLst>
          </p:cNvPr>
          <p:cNvSpPr>
            <a:spLocks noGrp="1"/>
          </p:cNvSpPr>
          <p:nvPr>
            <p:ph type="title"/>
          </p:nvPr>
        </p:nvSpPr>
        <p:spPr/>
        <p:txBody>
          <a:bodyPr/>
          <a:lstStyle/>
          <a:p>
            <a:r>
              <a:rPr lang="en-IN" b="1" dirty="0">
                <a:solidFill>
                  <a:srgbClr val="FF9900"/>
                </a:solidFill>
                <a:latin typeface="Times New Roman" panose="02020603050405020304" pitchFamily="18" charset="0"/>
                <a:cs typeface="Times New Roman" panose="02020603050405020304" pitchFamily="18" charset="0"/>
              </a:rPr>
              <a:t>    IoT Standards and Protocols</a:t>
            </a:r>
            <a:endParaRPr lang="en-IN" dirty="0"/>
          </a:p>
        </p:txBody>
      </p:sp>
      <p:sp>
        <p:nvSpPr>
          <p:cNvPr id="3" name="Content Placeholder 2">
            <a:extLst>
              <a:ext uri="{FF2B5EF4-FFF2-40B4-BE49-F238E27FC236}">
                <a16:creationId xmlns:a16="http://schemas.microsoft.com/office/drawing/2014/main" id="{27D715D4-82D4-44CB-A88F-CC72C41DED8E}"/>
              </a:ext>
            </a:extLst>
          </p:cNvPr>
          <p:cNvSpPr>
            <a:spLocks noGrp="1"/>
          </p:cNvSpPr>
          <p:nvPr>
            <p:ph idx="1"/>
          </p:nvPr>
        </p:nvSpPr>
        <p:spPr/>
        <p:txBody>
          <a:bodyPr/>
          <a:lstStyle/>
          <a:p>
            <a:pPr marL="0" indent="0" algn="just">
              <a:buNone/>
            </a:pPr>
            <a:r>
              <a:rPr lang="en-US" sz="1800" b="1" dirty="0">
                <a:latin typeface="Times New Roman" panose="02020603050405020304" pitchFamily="18" charset="0"/>
                <a:cs typeface="Times New Roman" panose="02020603050405020304" pitchFamily="18" charset="0"/>
              </a:rPr>
              <a:t>MQTT (Message Queuing Telemetry Transport):</a:t>
            </a:r>
          </a:p>
          <a:p>
            <a:pPr marL="0" indent="0" algn="just">
              <a:buNone/>
            </a:pPr>
            <a:r>
              <a:rPr lang="en-US" sz="1800" dirty="0">
                <a:latin typeface="Times New Roman" panose="02020603050405020304" pitchFamily="18" charset="0"/>
                <a:cs typeface="Times New Roman" panose="02020603050405020304" pitchFamily="18" charset="0"/>
              </a:rPr>
              <a:t>An MQTT (Message Queuing Telemetry Transport) is a lightweight IoT data protocol. It features a publisher-subscriber messaging model and allows for simple data flow between different devices.</a:t>
            </a:r>
          </a:p>
          <a:p>
            <a:pPr marL="0" indent="0" algn="just">
              <a:buNone/>
            </a:pPr>
            <a:r>
              <a:rPr lang="en-US" sz="1800" dirty="0">
                <a:latin typeface="Times New Roman" panose="02020603050405020304" pitchFamily="18" charset="0"/>
                <a:cs typeface="Times New Roman" panose="02020603050405020304" pitchFamily="18" charset="0"/>
              </a:rPr>
              <a:t>MQTT’s main selling point is its architecture. Its genetic make-up is basic and lightweight and, therefore, it’s able to provide low power consumption for devices. It also works on top of a TCP/IP protocol.</a:t>
            </a:r>
          </a:p>
          <a:p>
            <a:pPr marL="0" indent="0" algn="just">
              <a:buNone/>
            </a:pPr>
            <a:r>
              <a:rPr lang="en-US" sz="1800" dirty="0">
                <a:latin typeface="Times New Roman" panose="02020603050405020304" pitchFamily="18" charset="0"/>
                <a:cs typeface="Times New Roman" panose="02020603050405020304" pitchFamily="18" charset="0"/>
              </a:rPr>
              <a:t>IoT data protocols were designed to tackle unreliable communication networks. This became a need in the IoT world due to the increasing number of small, cheap, and lower-power objects that have appeared in the network over the past few years.</a:t>
            </a:r>
          </a:p>
          <a:p>
            <a:pPr marL="0" indent="0" algn="just">
              <a:buNone/>
            </a:pPr>
            <a:r>
              <a:rPr lang="en-US" sz="1800" dirty="0">
                <a:latin typeface="Times New Roman" panose="02020603050405020304" pitchFamily="18" charset="0"/>
                <a:cs typeface="Times New Roman" panose="02020603050405020304" pitchFamily="18" charset="0"/>
              </a:rPr>
              <a:t>Despite MQTT’s wide adaptation – most notably as an IoT standard with industrial applications – it doesn’t support a defined data representation and device management structure mode. As a result, the implementation of data and device management capabilities is entirely platform or vendor-specific. </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0493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A2185-C811-D252-D739-EF7A249EC04D}"/>
              </a:ext>
            </a:extLst>
          </p:cNvPr>
          <p:cNvSpPr>
            <a:spLocks noGrp="1"/>
          </p:cNvSpPr>
          <p:nvPr>
            <p:ph type="title"/>
          </p:nvPr>
        </p:nvSpPr>
        <p:spPr/>
        <p:txBody>
          <a:bodyPr/>
          <a:lstStyle/>
          <a:p>
            <a:r>
              <a:rPr lang="en-IN" b="1" dirty="0">
                <a:solidFill>
                  <a:srgbClr val="FF9900"/>
                </a:solidFill>
                <a:latin typeface="Times New Roman" panose="02020603050405020304" pitchFamily="18" charset="0"/>
                <a:cs typeface="Times New Roman" panose="02020603050405020304" pitchFamily="18" charset="0"/>
              </a:rPr>
              <a:t>    IoT Standards and Protocols</a:t>
            </a:r>
            <a:endParaRPr lang="en-IN" dirty="0"/>
          </a:p>
        </p:txBody>
      </p:sp>
      <p:sp>
        <p:nvSpPr>
          <p:cNvPr id="3" name="Content Placeholder 2">
            <a:extLst>
              <a:ext uri="{FF2B5EF4-FFF2-40B4-BE49-F238E27FC236}">
                <a16:creationId xmlns:a16="http://schemas.microsoft.com/office/drawing/2014/main" id="{27D715D4-82D4-44CB-A88F-CC72C41DED8E}"/>
              </a:ext>
            </a:extLst>
          </p:cNvPr>
          <p:cNvSpPr>
            <a:spLocks noGrp="1"/>
          </p:cNvSpPr>
          <p:nvPr>
            <p:ph idx="1"/>
          </p:nvPr>
        </p:nvSpPr>
        <p:spPr/>
        <p:txBody>
          <a:bodyPr/>
          <a:lstStyle/>
          <a:p>
            <a:pPr marL="0" indent="0" algn="just">
              <a:buNone/>
            </a:pPr>
            <a:r>
              <a:rPr lang="en-US" sz="1800" b="1" i="0" dirty="0">
                <a:solidFill>
                  <a:srgbClr val="000000"/>
                </a:solidFill>
                <a:effectLst/>
                <a:latin typeface="Times New Roman" panose="02020603050405020304" pitchFamily="18" charset="0"/>
                <a:cs typeface="Times New Roman" panose="02020603050405020304" pitchFamily="18" charset="0"/>
              </a:rPr>
              <a:t>CoAP (Constrained Application Protocol):</a:t>
            </a:r>
          </a:p>
          <a:p>
            <a:pPr marL="0" indent="0" algn="just">
              <a:buNone/>
            </a:pPr>
            <a:r>
              <a:rPr lang="en-US" sz="1800" b="0" i="0" dirty="0">
                <a:solidFill>
                  <a:srgbClr val="000000"/>
                </a:solidFill>
                <a:effectLst/>
                <a:latin typeface="Times New Roman" panose="02020603050405020304" pitchFamily="18" charset="0"/>
                <a:cs typeface="Times New Roman" panose="02020603050405020304" pitchFamily="18" charset="0"/>
              </a:rPr>
              <a:t>A </a:t>
            </a:r>
            <a:r>
              <a:rPr lang="en-US" sz="1800" b="0" i="0" dirty="0" err="1">
                <a:solidFill>
                  <a:srgbClr val="000000"/>
                </a:solidFill>
                <a:effectLst/>
                <a:latin typeface="Times New Roman" panose="02020603050405020304" pitchFamily="18" charset="0"/>
                <a:cs typeface="Times New Roman" panose="02020603050405020304" pitchFamily="18" charset="0"/>
              </a:rPr>
              <a:t>CoAp</a:t>
            </a:r>
            <a:r>
              <a:rPr lang="en-US" sz="1800" b="0" i="0" dirty="0">
                <a:solidFill>
                  <a:srgbClr val="000000"/>
                </a:solidFill>
                <a:effectLst/>
                <a:latin typeface="Times New Roman" panose="02020603050405020304" pitchFamily="18" charset="0"/>
                <a:cs typeface="Times New Roman" panose="02020603050405020304" pitchFamily="18" charset="0"/>
              </a:rPr>
              <a:t> (Constrained Application Protocol) is an application layer protocol. It’s designed to address the needs of HTTP-based IoT systems. HTTP stands for Hypertext Transfer Protocol, and it’s the foundation of data communication for the World Wide Web.</a:t>
            </a:r>
          </a:p>
          <a:p>
            <a:pPr marL="0" indent="0" algn="just">
              <a:buNone/>
            </a:pPr>
            <a:r>
              <a:rPr lang="en-US" sz="1800" b="0" i="0" dirty="0">
                <a:solidFill>
                  <a:srgbClr val="000000"/>
                </a:solidFill>
                <a:effectLst/>
                <a:latin typeface="Times New Roman" panose="02020603050405020304" pitchFamily="18" charset="0"/>
                <a:cs typeface="Times New Roman" panose="02020603050405020304" pitchFamily="18" charset="0"/>
              </a:rPr>
              <a:t>While the existing structure of the internet is freely available and usable by any IoT device, it’s often too heavy and power-consuming for most IoT applications. This has led to many within the IoT community dismissing HTTP as a protocol not suitable for IoT.</a:t>
            </a:r>
          </a:p>
          <a:p>
            <a:pPr marL="0" indent="0" algn="just">
              <a:buNone/>
            </a:pPr>
            <a:r>
              <a:rPr lang="en-US" sz="1800" b="0" i="0" dirty="0">
                <a:effectLst/>
                <a:latin typeface="Times New Roman" panose="02020603050405020304" pitchFamily="18" charset="0"/>
                <a:cs typeface="Times New Roman" panose="02020603050405020304" pitchFamily="18" charset="0"/>
              </a:rPr>
              <a:t>However, </a:t>
            </a:r>
            <a:r>
              <a:rPr lang="en-US" sz="1800" b="0" i="0" dirty="0" err="1">
                <a:effectLst/>
                <a:latin typeface="Times New Roman" panose="02020603050405020304" pitchFamily="18" charset="0"/>
                <a:cs typeface="Times New Roman" panose="02020603050405020304" pitchFamily="18" charset="0"/>
              </a:rPr>
              <a:t>CoAp</a:t>
            </a:r>
            <a:r>
              <a:rPr lang="en-US" sz="1800" b="0" i="0" dirty="0">
                <a:effectLst/>
                <a:latin typeface="Times New Roman" panose="02020603050405020304" pitchFamily="18" charset="0"/>
                <a:cs typeface="Times New Roman" panose="02020603050405020304" pitchFamily="18" charset="0"/>
              </a:rPr>
              <a:t> has addressed this limitation by translating the HTTP model into usage in restrictive devices and network environments. It has incredibly low overheads, is easy to employ, and has the ability to enable multicast support.</a:t>
            </a:r>
          </a:p>
          <a:p>
            <a:pPr marL="0" indent="0" algn="just">
              <a:buNone/>
            </a:pPr>
            <a:r>
              <a:rPr lang="en-US" sz="1800" b="0" i="0" dirty="0">
                <a:effectLst/>
                <a:latin typeface="Times New Roman" panose="02020603050405020304" pitchFamily="18" charset="0"/>
                <a:cs typeface="Times New Roman" panose="02020603050405020304" pitchFamily="18" charset="0"/>
              </a:rPr>
              <a:t>Therefore, it’s ideal for use in devices with resource limitations, such as </a:t>
            </a:r>
            <a:r>
              <a:rPr lang="en-US" sz="1800" b="1" dirty="0">
                <a:latin typeface="Times New Roman" panose="02020603050405020304" pitchFamily="18" charset="0"/>
                <a:cs typeface="Times New Roman" panose="02020603050405020304" pitchFamily="18" charset="0"/>
              </a:rPr>
              <a:t>IoT</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microcontrollers</a:t>
            </a:r>
            <a:r>
              <a:rPr lang="en-US" sz="1800" b="0" i="0" dirty="0">
                <a:effectLst/>
                <a:latin typeface="Times New Roman" panose="02020603050405020304" pitchFamily="18" charset="0"/>
                <a:cs typeface="Times New Roman" panose="02020603050405020304" pitchFamily="18" charset="0"/>
              </a:rPr>
              <a:t> or </a:t>
            </a:r>
            <a:r>
              <a:rPr lang="en-US" sz="1800" b="1" i="0" dirty="0">
                <a:effectLst/>
                <a:latin typeface="Times New Roman" panose="02020603050405020304" pitchFamily="18" charset="0"/>
                <a:cs typeface="Times New Roman" panose="02020603050405020304" pitchFamily="18" charset="0"/>
              </a:rPr>
              <a:t>WSN</a:t>
            </a:r>
            <a:r>
              <a:rPr lang="en-US" sz="1800" b="0" i="0" dirty="0">
                <a:effectLst/>
                <a:latin typeface="Times New Roman" panose="02020603050405020304" pitchFamily="18" charset="0"/>
                <a:cs typeface="Times New Roman" panose="02020603050405020304" pitchFamily="18" charset="0"/>
              </a:rPr>
              <a:t> </a:t>
            </a:r>
            <a:r>
              <a:rPr lang="en-US" sz="1800" b="1" i="0" dirty="0">
                <a:effectLst/>
                <a:latin typeface="Times New Roman" panose="02020603050405020304" pitchFamily="18" charset="0"/>
                <a:cs typeface="Times New Roman" panose="02020603050405020304" pitchFamily="18" charset="0"/>
              </a:rPr>
              <a:t>nodes</a:t>
            </a:r>
            <a:r>
              <a:rPr lang="en-US" sz="1800" b="0" i="0" dirty="0">
                <a:effectLst/>
                <a:latin typeface="Times New Roman" panose="02020603050405020304" pitchFamily="18" charset="0"/>
                <a:cs typeface="Times New Roman" panose="02020603050405020304" pitchFamily="18" charset="0"/>
              </a:rPr>
              <a:t>. It’s traditionally used in applications involving smart energy and building automation. </a:t>
            </a:r>
          </a:p>
          <a:p>
            <a:pPr algn="just"/>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16115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A2185-C811-D252-D739-EF7A249EC04D}"/>
              </a:ext>
            </a:extLst>
          </p:cNvPr>
          <p:cNvSpPr>
            <a:spLocks noGrp="1"/>
          </p:cNvSpPr>
          <p:nvPr>
            <p:ph type="title"/>
          </p:nvPr>
        </p:nvSpPr>
        <p:spPr/>
        <p:txBody>
          <a:bodyPr/>
          <a:lstStyle/>
          <a:p>
            <a:r>
              <a:rPr lang="en-IN" b="1" dirty="0">
                <a:solidFill>
                  <a:srgbClr val="FF9900"/>
                </a:solidFill>
                <a:latin typeface="Times New Roman" panose="02020603050405020304" pitchFamily="18" charset="0"/>
                <a:cs typeface="Times New Roman" panose="02020603050405020304" pitchFamily="18" charset="0"/>
              </a:rPr>
              <a:t>    IoT Standards and Protocols</a:t>
            </a:r>
            <a:endParaRPr lang="en-IN" dirty="0"/>
          </a:p>
        </p:txBody>
      </p:sp>
      <p:sp>
        <p:nvSpPr>
          <p:cNvPr id="3" name="Content Placeholder 2">
            <a:extLst>
              <a:ext uri="{FF2B5EF4-FFF2-40B4-BE49-F238E27FC236}">
                <a16:creationId xmlns:a16="http://schemas.microsoft.com/office/drawing/2014/main" id="{27D715D4-82D4-44CB-A88F-CC72C41DED8E}"/>
              </a:ext>
            </a:extLst>
          </p:cNvPr>
          <p:cNvSpPr>
            <a:spLocks noGrp="1"/>
          </p:cNvSpPr>
          <p:nvPr>
            <p:ph idx="1"/>
          </p:nvPr>
        </p:nvSpPr>
        <p:spPr/>
        <p:txBody>
          <a:bodyPr/>
          <a:lstStyle/>
          <a:p>
            <a:pPr marL="0" indent="0" algn="just">
              <a:buNone/>
            </a:pPr>
            <a:r>
              <a:rPr lang="en-US" sz="1800" b="1" i="0" dirty="0">
                <a:solidFill>
                  <a:srgbClr val="000000"/>
                </a:solidFill>
                <a:effectLst/>
                <a:latin typeface="Times New Roman" panose="02020603050405020304" pitchFamily="18" charset="0"/>
                <a:cs typeface="Times New Roman" panose="02020603050405020304" pitchFamily="18" charset="0"/>
              </a:rPr>
              <a:t>AMQP (Advanced Message Queuing Protocol) </a:t>
            </a:r>
          </a:p>
          <a:p>
            <a:pPr marL="0" indent="0" algn="just">
              <a:buNone/>
            </a:pPr>
            <a:r>
              <a:rPr lang="en-US" sz="1800" b="0" i="0" dirty="0">
                <a:solidFill>
                  <a:srgbClr val="000000"/>
                </a:solidFill>
                <a:effectLst/>
                <a:latin typeface="Times New Roman" panose="02020603050405020304" pitchFamily="18" charset="0"/>
                <a:cs typeface="Times New Roman" panose="02020603050405020304" pitchFamily="18" charset="0"/>
              </a:rPr>
              <a:t>An Advanced Message Queuing Protocol (AMQP) is an open standard application layer protocol used for transactional messages between servers.</a:t>
            </a:r>
          </a:p>
          <a:p>
            <a:pPr marL="0" indent="0" algn="just">
              <a:buNone/>
            </a:pPr>
            <a:r>
              <a:rPr lang="en-US" sz="1800" b="0" i="0" dirty="0">
                <a:solidFill>
                  <a:srgbClr val="000000"/>
                </a:solidFill>
                <a:effectLst/>
                <a:latin typeface="Times New Roman" panose="02020603050405020304" pitchFamily="18" charset="0"/>
                <a:cs typeface="Times New Roman" panose="02020603050405020304" pitchFamily="18" charset="0"/>
              </a:rPr>
              <a:t>The main functions of this IoT protocol are as follows:</a:t>
            </a:r>
          </a:p>
          <a:p>
            <a:pPr algn="just">
              <a:buFont typeface="Arial" panose="020B0604020202020204" pitchFamily="34" charset="0"/>
              <a:buChar char="•"/>
            </a:pPr>
            <a:r>
              <a:rPr lang="en-US" sz="1800" b="0" i="0" dirty="0">
                <a:solidFill>
                  <a:srgbClr val="000000"/>
                </a:solidFill>
                <a:effectLst/>
                <a:latin typeface="Times New Roman" panose="02020603050405020304" pitchFamily="18" charset="0"/>
                <a:cs typeface="Times New Roman" panose="02020603050405020304" pitchFamily="18" charset="0"/>
              </a:rPr>
              <a:t>Receiving and placing messages in queues</a:t>
            </a:r>
          </a:p>
          <a:p>
            <a:pPr algn="just">
              <a:buFont typeface="Arial" panose="020B0604020202020204" pitchFamily="34" charset="0"/>
              <a:buChar char="•"/>
            </a:pPr>
            <a:r>
              <a:rPr lang="en-US" sz="1800" b="0" i="0" dirty="0">
                <a:solidFill>
                  <a:srgbClr val="000000"/>
                </a:solidFill>
                <a:effectLst/>
                <a:latin typeface="Times New Roman" panose="02020603050405020304" pitchFamily="18" charset="0"/>
                <a:cs typeface="Times New Roman" panose="02020603050405020304" pitchFamily="18" charset="0"/>
              </a:rPr>
              <a:t>Storing messages</a:t>
            </a:r>
          </a:p>
          <a:p>
            <a:pPr algn="just">
              <a:buFont typeface="Arial" panose="020B0604020202020204" pitchFamily="34" charset="0"/>
              <a:buChar char="•"/>
            </a:pPr>
            <a:r>
              <a:rPr lang="en-US" sz="1800" b="0" i="0" dirty="0">
                <a:solidFill>
                  <a:srgbClr val="000000"/>
                </a:solidFill>
                <a:effectLst/>
                <a:latin typeface="Times New Roman" panose="02020603050405020304" pitchFamily="18" charset="0"/>
                <a:cs typeface="Times New Roman" panose="02020603050405020304" pitchFamily="18" charset="0"/>
              </a:rPr>
              <a:t>Setting up a relationship between these components</a:t>
            </a:r>
          </a:p>
          <a:p>
            <a:pPr marL="0" indent="0" algn="just">
              <a:buNone/>
            </a:pPr>
            <a:r>
              <a:rPr lang="en-US" sz="1800" b="0" i="0" dirty="0">
                <a:solidFill>
                  <a:srgbClr val="000000"/>
                </a:solidFill>
                <a:effectLst/>
                <a:latin typeface="Times New Roman" panose="02020603050405020304" pitchFamily="18" charset="0"/>
                <a:cs typeface="Times New Roman" panose="02020603050405020304" pitchFamily="18" charset="0"/>
              </a:rPr>
              <a:t>With its level of security and reliability, it’s most commonly employed in settings that require server-based analytical environments, such as the banking industry. However, it’s not widely used elsewhere. Due to its heaviness, it’s not suitable for IoT sensor devices with limited memory. As a result, its use is still quite limited within the world of the IoT. </a:t>
            </a:r>
          </a:p>
          <a:p>
            <a:pPr algn="just"/>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83637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A2185-C811-D252-D739-EF7A249EC04D}"/>
              </a:ext>
            </a:extLst>
          </p:cNvPr>
          <p:cNvSpPr>
            <a:spLocks noGrp="1"/>
          </p:cNvSpPr>
          <p:nvPr>
            <p:ph type="title"/>
          </p:nvPr>
        </p:nvSpPr>
        <p:spPr/>
        <p:txBody>
          <a:bodyPr/>
          <a:lstStyle/>
          <a:p>
            <a:r>
              <a:rPr lang="en-IN" b="1" dirty="0">
                <a:solidFill>
                  <a:srgbClr val="FF9900"/>
                </a:solidFill>
                <a:latin typeface="Times New Roman" panose="02020603050405020304" pitchFamily="18" charset="0"/>
                <a:cs typeface="Times New Roman" panose="02020603050405020304" pitchFamily="18" charset="0"/>
              </a:rPr>
              <a:t>    IoT Standards and Protocols</a:t>
            </a:r>
            <a:endParaRPr lang="en-IN" dirty="0"/>
          </a:p>
        </p:txBody>
      </p:sp>
      <p:sp>
        <p:nvSpPr>
          <p:cNvPr id="3" name="Content Placeholder 2">
            <a:extLst>
              <a:ext uri="{FF2B5EF4-FFF2-40B4-BE49-F238E27FC236}">
                <a16:creationId xmlns:a16="http://schemas.microsoft.com/office/drawing/2014/main" id="{27D715D4-82D4-44CB-A88F-CC72C41DED8E}"/>
              </a:ext>
            </a:extLst>
          </p:cNvPr>
          <p:cNvSpPr>
            <a:spLocks noGrp="1"/>
          </p:cNvSpPr>
          <p:nvPr>
            <p:ph idx="1"/>
          </p:nvPr>
        </p:nvSpPr>
        <p:spPr/>
        <p:txBody>
          <a:bodyPr/>
          <a:lstStyle/>
          <a:p>
            <a:pPr marL="0" indent="0" algn="just">
              <a:buNone/>
            </a:pPr>
            <a:r>
              <a:rPr lang="en-US" sz="1800" b="1" i="0" dirty="0">
                <a:solidFill>
                  <a:srgbClr val="000000"/>
                </a:solidFill>
                <a:effectLst/>
                <a:latin typeface="Times New Roman" panose="02020603050405020304" pitchFamily="18" charset="0"/>
                <a:cs typeface="Times New Roman" panose="02020603050405020304" pitchFamily="18" charset="0"/>
              </a:rPr>
              <a:t>DDS (Data Distribution Service):</a:t>
            </a:r>
          </a:p>
          <a:p>
            <a:pPr marL="0" indent="0" algn="just">
              <a:buNone/>
            </a:pPr>
            <a:r>
              <a:rPr lang="en-US" sz="1800" b="0" i="0" dirty="0">
                <a:solidFill>
                  <a:srgbClr val="000000"/>
                </a:solidFill>
                <a:effectLst/>
                <a:latin typeface="Times New Roman" panose="02020603050405020304" pitchFamily="18" charset="0"/>
                <a:cs typeface="Times New Roman" panose="02020603050405020304" pitchFamily="18" charset="0"/>
              </a:rPr>
              <a:t>DDS (Data Distribution Service) is another scalable IoT protocol that enables high-quality communication in IoT. Similar to the MQTT, DDS also works to a publisher-subscriber model.</a:t>
            </a:r>
          </a:p>
          <a:p>
            <a:pPr marL="0" indent="0" algn="just">
              <a:buNone/>
            </a:pPr>
            <a:r>
              <a:rPr lang="en-US" sz="1800" b="0" i="0" dirty="0">
                <a:solidFill>
                  <a:srgbClr val="000000"/>
                </a:solidFill>
                <a:effectLst/>
                <a:latin typeface="Times New Roman" panose="02020603050405020304" pitchFamily="18" charset="0"/>
                <a:cs typeface="Times New Roman" panose="02020603050405020304" pitchFamily="18" charset="0"/>
              </a:rPr>
              <a:t>It can be deployed in multiple settings, from the cloud to very small devices. This makes it perfect for real-time and embedded systems. Moreover, unlike MQTT, the DDS protocol allows for interoperable data exchange that is independent of the hardware and the software platform.</a:t>
            </a:r>
          </a:p>
          <a:p>
            <a:pPr marL="0" indent="0" algn="just">
              <a:buNone/>
            </a:pPr>
            <a:r>
              <a:rPr lang="en-US" sz="1800" b="0" i="0" dirty="0">
                <a:solidFill>
                  <a:srgbClr val="000000"/>
                </a:solidFill>
                <a:effectLst/>
                <a:latin typeface="Times New Roman" panose="02020603050405020304" pitchFamily="18" charset="0"/>
                <a:cs typeface="Times New Roman" panose="02020603050405020304" pitchFamily="18" charset="0"/>
              </a:rPr>
              <a:t>In fact, it’s considered the first open international middleware IoT standard.</a:t>
            </a:r>
          </a:p>
          <a:p>
            <a:pPr algn="just"/>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24222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A2185-C811-D252-D739-EF7A249EC04D}"/>
              </a:ext>
            </a:extLst>
          </p:cNvPr>
          <p:cNvSpPr>
            <a:spLocks noGrp="1"/>
          </p:cNvSpPr>
          <p:nvPr>
            <p:ph type="title"/>
          </p:nvPr>
        </p:nvSpPr>
        <p:spPr/>
        <p:txBody>
          <a:bodyPr/>
          <a:lstStyle/>
          <a:p>
            <a:r>
              <a:rPr lang="en-IN" b="1" dirty="0">
                <a:solidFill>
                  <a:srgbClr val="FF9900"/>
                </a:solidFill>
                <a:latin typeface="Times New Roman" panose="02020603050405020304" pitchFamily="18" charset="0"/>
                <a:cs typeface="Times New Roman" panose="02020603050405020304" pitchFamily="18" charset="0"/>
              </a:rPr>
              <a:t>    IoT Standards and Protocols</a:t>
            </a:r>
            <a:endParaRPr lang="en-IN" dirty="0"/>
          </a:p>
        </p:txBody>
      </p:sp>
      <p:sp>
        <p:nvSpPr>
          <p:cNvPr id="3" name="Content Placeholder 2">
            <a:extLst>
              <a:ext uri="{FF2B5EF4-FFF2-40B4-BE49-F238E27FC236}">
                <a16:creationId xmlns:a16="http://schemas.microsoft.com/office/drawing/2014/main" id="{27D715D4-82D4-44CB-A88F-CC72C41DED8E}"/>
              </a:ext>
            </a:extLst>
          </p:cNvPr>
          <p:cNvSpPr>
            <a:spLocks noGrp="1"/>
          </p:cNvSpPr>
          <p:nvPr>
            <p:ph idx="1"/>
          </p:nvPr>
        </p:nvSpPr>
        <p:spPr/>
        <p:txBody>
          <a:bodyPr/>
          <a:lstStyle/>
          <a:p>
            <a:pPr marL="0" indent="0" algn="just">
              <a:buNone/>
            </a:pPr>
            <a:r>
              <a:rPr lang="en-US" sz="1800" b="1" i="0" dirty="0">
                <a:solidFill>
                  <a:srgbClr val="000000"/>
                </a:solidFill>
                <a:effectLst/>
                <a:latin typeface="Times New Roman" panose="02020603050405020304" pitchFamily="18" charset="0"/>
                <a:cs typeface="Times New Roman" panose="02020603050405020304" pitchFamily="18" charset="0"/>
              </a:rPr>
              <a:t>HTTP (</a:t>
            </a:r>
            <a:r>
              <a:rPr lang="en-US" sz="1800" b="1" i="0" dirty="0" err="1">
                <a:solidFill>
                  <a:srgbClr val="000000"/>
                </a:solidFill>
                <a:effectLst/>
                <a:latin typeface="Times New Roman" panose="02020603050405020304" pitchFamily="18" charset="0"/>
                <a:cs typeface="Times New Roman" panose="02020603050405020304" pitchFamily="18" charset="0"/>
              </a:rPr>
              <a:t>HyperText</a:t>
            </a:r>
            <a:r>
              <a:rPr lang="en-US" sz="1800" b="1" i="0" dirty="0">
                <a:solidFill>
                  <a:srgbClr val="000000"/>
                </a:solidFill>
                <a:effectLst/>
                <a:latin typeface="Times New Roman" panose="02020603050405020304" pitchFamily="18" charset="0"/>
                <a:cs typeface="Times New Roman" panose="02020603050405020304" pitchFamily="18" charset="0"/>
              </a:rPr>
              <a:t> Transfer Protocol):</a:t>
            </a:r>
          </a:p>
          <a:p>
            <a:pPr marL="0" indent="0" algn="just">
              <a:buNone/>
            </a:pPr>
            <a:r>
              <a:rPr lang="en-US" sz="1800" dirty="0">
                <a:solidFill>
                  <a:srgbClr val="000000"/>
                </a:solidFill>
                <a:latin typeface="Times New Roman" panose="02020603050405020304" pitchFamily="18" charset="0"/>
                <a:cs typeface="Times New Roman" panose="02020603050405020304" pitchFamily="18" charset="0"/>
              </a:rPr>
              <a:t>T</a:t>
            </a:r>
            <a:r>
              <a:rPr lang="en-US" sz="1800" b="0" i="0" dirty="0">
                <a:solidFill>
                  <a:srgbClr val="000000"/>
                </a:solidFill>
                <a:effectLst/>
                <a:latin typeface="Times New Roman" panose="02020603050405020304" pitchFamily="18" charset="0"/>
                <a:cs typeface="Times New Roman" panose="02020603050405020304" pitchFamily="18" charset="0"/>
              </a:rPr>
              <a:t>he HTTP protocol is not preferred as an IoT standard because of its cost, battery life, huge power consumption, and weight issues.</a:t>
            </a:r>
          </a:p>
          <a:p>
            <a:pPr marL="0" indent="0" algn="just">
              <a:buNone/>
            </a:pPr>
            <a:endParaRPr lang="en-US" sz="1800" b="0" i="0" dirty="0">
              <a:solidFill>
                <a:srgbClr val="000000"/>
              </a:solidFill>
              <a:effectLst/>
              <a:latin typeface="Times New Roman" panose="02020603050405020304" pitchFamily="18" charset="0"/>
              <a:cs typeface="Times New Roman" panose="02020603050405020304" pitchFamily="18" charset="0"/>
            </a:endParaRPr>
          </a:p>
          <a:p>
            <a:pPr marL="0" indent="0" algn="just">
              <a:buNone/>
            </a:pPr>
            <a:r>
              <a:rPr lang="en-US" sz="1800" dirty="0">
                <a:solidFill>
                  <a:srgbClr val="000000"/>
                </a:solidFill>
                <a:latin typeface="Times New Roman" panose="02020603050405020304" pitchFamily="18" charset="0"/>
                <a:cs typeface="Times New Roman" panose="02020603050405020304" pitchFamily="18" charset="0"/>
              </a:rPr>
              <a:t>I</a:t>
            </a:r>
            <a:r>
              <a:rPr lang="en-US" sz="1800" b="0" i="0" dirty="0">
                <a:solidFill>
                  <a:srgbClr val="000000"/>
                </a:solidFill>
                <a:effectLst/>
                <a:latin typeface="Times New Roman" panose="02020603050405020304" pitchFamily="18" charset="0"/>
                <a:cs typeface="Times New Roman" panose="02020603050405020304" pitchFamily="18" charset="0"/>
              </a:rPr>
              <a:t>t is still used within some industries. </a:t>
            </a:r>
          </a:p>
          <a:p>
            <a:pPr marL="0" indent="0" algn="just">
              <a:buNone/>
            </a:pPr>
            <a:r>
              <a:rPr lang="en-US" sz="1800" b="0" i="0" dirty="0">
                <a:solidFill>
                  <a:srgbClr val="000000"/>
                </a:solidFill>
                <a:effectLst/>
                <a:latin typeface="Times New Roman" panose="02020603050405020304" pitchFamily="18" charset="0"/>
                <a:cs typeface="Times New Roman" panose="02020603050405020304" pitchFamily="18" charset="0"/>
              </a:rPr>
              <a:t>For example, manufacturing and 3-D printing rely on the HTTP protocol due to the large amounts of data it can publish. It enables PC connection to 3-D printers in the network and printing of three-dimensional objects. </a:t>
            </a:r>
          </a:p>
          <a:p>
            <a:pPr algn="just"/>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88959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A2185-C811-D252-D739-EF7A249EC04D}"/>
              </a:ext>
            </a:extLst>
          </p:cNvPr>
          <p:cNvSpPr>
            <a:spLocks noGrp="1"/>
          </p:cNvSpPr>
          <p:nvPr>
            <p:ph type="title"/>
          </p:nvPr>
        </p:nvSpPr>
        <p:spPr/>
        <p:txBody>
          <a:bodyPr/>
          <a:lstStyle/>
          <a:p>
            <a:r>
              <a:rPr lang="en-IN" b="1" dirty="0">
                <a:solidFill>
                  <a:srgbClr val="FF9900"/>
                </a:solidFill>
                <a:latin typeface="Times New Roman" panose="02020603050405020304" pitchFamily="18" charset="0"/>
                <a:cs typeface="Times New Roman" panose="02020603050405020304" pitchFamily="18" charset="0"/>
              </a:rPr>
              <a:t>    IoT Standards and Protocols</a:t>
            </a:r>
            <a:endParaRPr lang="en-IN" dirty="0"/>
          </a:p>
        </p:txBody>
      </p:sp>
      <p:sp>
        <p:nvSpPr>
          <p:cNvPr id="3" name="Content Placeholder 2">
            <a:extLst>
              <a:ext uri="{FF2B5EF4-FFF2-40B4-BE49-F238E27FC236}">
                <a16:creationId xmlns:a16="http://schemas.microsoft.com/office/drawing/2014/main" id="{27D715D4-82D4-44CB-A88F-CC72C41DED8E}"/>
              </a:ext>
            </a:extLst>
          </p:cNvPr>
          <p:cNvSpPr>
            <a:spLocks noGrp="1"/>
          </p:cNvSpPr>
          <p:nvPr>
            <p:ph idx="1"/>
          </p:nvPr>
        </p:nvSpPr>
        <p:spPr/>
        <p:txBody>
          <a:bodyPr/>
          <a:lstStyle/>
          <a:p>
            <a:pPr marL="0" indent="0" algn="just">
              <a:buNone/>
            </a:pPr>
            <a:r>
              <a:rPr lang="en-US" sz="1800" b="1" i="0" dirty="0">
                <a:effectLst/>
                <a:latin typeface="Times New Roman" panose="02020603050405020304" pitchFamily="18" charset="0"/>
                <a:cs typeface="Times New Roman" panose="02020603050405020304" pitchFamily="18" charset="0"/>
              </a:rPr>
              <a:t>WebSocket:</a:t>
            </a:r>
          </a:p>
          <a:p>
            <a:pPr marL="0" indent="0" algn="just">
              <a:buNone/>
            </a:pPr>
            <a:r>
              <a:rPr lang="en-US" sz="1800" b="0" i="0" dirty="0">
                <a:effectLst/>
                <a:latin typeface="Times New Roman" panose="02020603050405020304" pitchFamily="18" charset="0"/>
                <a:cs typeface="Times New Roman" panose="02020603050405020304" pitchFamily="18" charset="0"/>
              </a:rPr>
              <a:t>WebSocket was initially developed back in 2011 as part of the </a:t>
            </a:r>
            <a:r>
              <a:rPr lang="en-US" sz="1800" dirty="0">
                <a:latin typeface="Times New Roman" panose="02020603050405020304" pitchFamily="18" charset="0"/>
                <a:cs typeface="Times New Roman" panose="02020603050405020304" pitchFamily="18" charset="0"/>
              </a:rPr>
              <a:t>HTML5 initiative</a:t>
            </a:r>
            <a:r>
              <a:rPr lang="en-US" sz="1800" b="0" i="0" dirty="0">
                <a:effectLst/>
                <a:latin typeface="Times New Roman" panose="02020603050405020304" pitchFamily="18" charset="0"/>
                <a:cs typeface="Times New Roman" panose="02020603050405020304" pitchFamily="18" charset="0"/>
              </a:rPr>
              <a:t>. Via a single TCP connection, messages can be sent between the client and the server.</a:t>
            </a:r>
          </a:p>
          <a:p>
            <a:pPr marL="0" indent="0" algn="just">
              <a:buNone/>
            </a:pPr>
            <a:endParaRPr lang="en-US" sz="1800" b="0" i="0" dirty="0">
              <a:effectLst/>
              <a:latin typeface="Times New Roman" panose="02020603050405020304" pitchFamily="18" charset="0"/>
              <a:cs typeface="Times New Roman" panose="02020603050405020304" pitchFamily="18" charset="0"/>
            </a:endParaRPr>
          </a:p>
          <a:p>
            <a:pPr marL="0" indent="0" algn="just">
              <a:buNone/>
            </a:pPr>
            <a:r>
              <a:rPr lang="en-US" sz="1800" b="0" i="0" dirty="0">
                <a:effectLst/>
                <a:latin typeface="Times New Roman" panose="02020603050405020304" pitchFamily="18" charset="0"/>
                <a:cs typeface="Times New Roman" panose="02020603050405020304" pitchFamily="18" charset="0"/>
              </a:rPr>
              <a:t>Like </a:t>
            </a:r>
            <a:r>
              <a:rPr lang="en-US" sz="1800" b="0" i="0" dirty="0" err="1">
                <a:effectLst/>
                <a:latin typeface="Times New Roman" panose="02020603050405020304" pitchFamily="18" charset="0"/>
                <a:cs typeface="Times New Roman" panose="02020603050405020304" pitchFamily="18" charset="0"/>
              </a:rPr>
              <a:t>CoAp</a:t>
            </a:r>
            <a:r>
              <a:rPr lang="en-US" sz="1800" b="0" i="0" dirty="0">
                <a:effectLst/>
                <a:latin typeface="Times New Roman" panose="02020603050405020304" pitchFamily="18" charset="0"/>
                <a:cs typeface="Times New Roman" panose="02020603050405020304" pitchFamily="18" charset="0"/>
              </a:rPr>
              <a:t>, WebSocket’s standard connectivity protocol helps simplify many of the complexities and difficulties involved in the management of connections and bi-direction communication on the internet.</a:t>
            </a:r>
          </a:p>
          <a:p>
            <a:pPr marL="0" indent="0" algn="just">
              <a:buNone/>
            </a:pPr>
            <a:endParaRPr lang="en-US" sz="1800" b="0" i="0" dirty="0">
              <a:effectLst/>
              <a:latin typeface="Times New Roman" panose="02020603050405020304" pitchFamily="18" charset="0"/>
              <a:cs typeface="Times New Roman" panose="02020603050405020304" pitchFamily="18" charset="0"/>
            </a:endParaRPr>
          </a:p>
          <a:p>
            <a:pPr marL="0" indent="0" algn="just">
              <a:buNone/>
            </a:pPr>
            <a:r>
              <a:rPr lang="en-US" sz="1800" b="0" i="0" dirty="0">
                <a:effectLst/>
                <a:latin typeface="Times New Roman" panose="02020603050405020304" pitchFamily="18" charset="0"/>
                <a:cs typeface="Times New Roman" panose="02020603050405020304" pitchFamily="18" charset="0"/>
              </a:rPr>
              <a:t>It can be applied to an IoT network where data is communicated continuously across multiple devices. Therefore, you’ll find it used most commonly in places that act as clients or servers. This includes runtime environments or libraries.</a:t>
            </a:r>
          </a:p>
          <a:p>
            <a:pPr algn="just"/>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1856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A2185-C811-D252-D739-EF7A249EC04D}"/>
              </a:ext>
            </a:extLst>
          </p:cNvPr>
          <p:cNvSpPr>
            <a:spLocks noGrp="1"/>
          </p:cNvSpPr>
          <p:nvPr>
            <p:ph type="title"/>
          </p:nvPr>
        </p:nvSpPr>
        <p:spPr/>
        <p:txBody>
          <a:bodyPr/>
          <a:lstStyle/>
          <a:p>
            <a:r>
              <a:rPr lang="en-IN" b="1" dirty="0">
                <a:solidFill>
                  <a:srgbClr val="FF9900"/>
                </a:solidFill>
                <a:latin typeface="Times New Roman" panose="02020603050405020304" pitchFamily="18" charset="0"/>
                <a:cs typeface="Times New Roman" panose="02020603050405020304" pitchFamily="18" charset="0"/>
              </a:rPr>
              <a:t>    IoT Standards and Protocols</a:t>
            </a:r>
            <a:endParaRPr lang="en-IN" dirty="0"/>
          </a:p>
        </p:txBody>
      </p:sp>
      <p:sp>
        <p:nvSpPr>
          <p:cNvPr id="3" name="Content Placeholder 2">
            <a:extLst>
              <a:ext uri="{FF2B5EF4-FFF2-40B4-BE49-F238E27FC236}">
                <a16:creationId xmlns:a16="http://schemas.microsoft.com/office/drawing/2014/main" id="{27D715D4-82D4-44CB-A88F-CC72C41DED8E}"/>
              </a:ext>
            </a:extLst>
          </p:cNvPr>
          <p:cNvSpPr>
            <a:spLocks noGrp="1"/>
          </p:cNvSpPr>
          <p:nvPr>
            <p:ph idx="1"/>
          </p:nvPr>
        </p:nvSpPr>
        <p:spPr/>
        <p:txBody>
          <a:bodyPr/>
          <a:lstStyle/>
          <a:p>
            <a:pPr marL="0" indent="0" algn="just">
              <a:buNone/>
            </a:pPr>
            <a:r>
              <a:rPr lang="en-US" sz="2000" b="1" i="0" dirty="0">
                <a:solidFill>
                  <a:srgbClr val="000000"/>
                </a:solidFill>
                <a:effectLst/>
                <a:latin typeface="Times New Roman" panose="02020603050405020304" pitchFamily="18" charset="0"/>
                <a:cs typeface="Times New Roman" panose="02020603050405020304" pitchFamily="18" charset="0"/>
              </a:rPr>
              <a:t>Network Protocols for IoT:</a:t>
            </a:r>
          </a:p>
          <a:p>
            <a:pPr marL="0" indent="0" algn="just">
              <a:buNone/>
            </a:pPr>
            <a:r>
              <a:rPr lang="en-US" sz="2000" b="0" i="0" dirty="0">
                <a:solidFill>
                  <a:srgbClr val="000000"/>
                </a:solidFill>
                <a:effectLst/>
                <a:latin typeface="Times New Roman" panose="02020603050405020304" pitchFamily="18" charset="0"/>
                <a:cs typeface="Times New Roman" panose="02020603050405020304" pitchFamily="18" charset="0"/>
              </a:rPr>
              <a:t>IoT network protocols are used to connect devices over a network. </a:t>
            </a:r>
          </a:p>
          <a:p>
            <a:pPr marL="0" indent="0" algn="just">
              <a:buNone/>
            </a:pPr>
            <a:r>
              <a:rPr lang="en-US" sz="2000" b="0" i="0" dirty="0">
                <a:solidFill>
                  <a:srgbClr val="000000"/>
                </a:solidFill>
                <a:effectLst/>
                <a:latin typeface="Times New Roman" panose="02020603050405020304" pitchFamily="18" charset="0"/>
                <a:cs typeface="Times New Roman" panose="02020603050405020304" pitchFamily="18" charset="0"/>
              </a:rPr>
              <a:t>These sets of protocols are typically used over the internet. Here are some examples of various IoT network protocols.</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000" dirty="0" err="1">
                <a:latin typeface="Times New Roman" panose="02020603050405020304" pitchFamily="18" charset="0"/>
                <a:cs typeface="Times New Roman" panose="02020603050405020304" pitchFamily="18" charset="0"/>
              </a:rPr>
              <a:t>WiFi</a:t>
            </a:r>
            <a:endParaRPr lang="en-US"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Bluetooth</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ZigBee</a:t>
            </a:r>
          </a:p>
          <a:p>
            <a:pPr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Z-Wave</a:t>
            </a:r>
          </a:p>
          <a:p>
            <a:pPr algn="just">
              <a:buFont typeface="Wingdings" panose="05000000000000000000" pitchFamily="2" charset="2"/>
              <a:buChar char="Ø"/>
            </a:pPr>
            <a:r>
              <a:rPr lang="en-US" sz="2000" dirty="0" err="1">
                <a:latin typeface="Times New Roman" panose="02020603050405020304" pitchFamily="18" charset="0"/>
                <a:cs typeface="Times New Roman" panose="02020603050405020304" pitchFamily="18" charset="0"/>
              </a:rPr>
              <a:t>LoRaWan</a:t>
            </a:r>
            <a:endParaRPr lang="en-US" sz="2000" dirty="0">
              <a:latin typeface="Times New Roman" panose="02020603050405020304" pitchFamily="18" charset="0"/>
              <a:cs typeface="Times New Roman" panose="02020603050405020304" pitchFamily="18" charset="0"/>
            </a:endParaRPr>
          </a:p>
          <a:p>
            <a:pPr marL="0" indent="0" algn="just">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93922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A2185-C811-D252-D739-EF7A249EC04D}"/>
              </a:ext>
            </a:extLst>
          </p:cNvPr>
          <p:cNvSpPr>
            <a:spLocks noGrp="1"/>
          </p:cNvSpPr>
          <p:nvPr>
            <p:ph type="title"/>
          </p:nvPr>
        </p:nvSpPr>
        <p:spPr/>
        <p:txBody>
          <a:bodyPr/>
          <a:lstStyle/>
          <a:p>
            <a:r>
              <a:rPr lang="en-IN" b="1" dirty="0">
                <a:solidFill>
                  <a:srgbClr val="FF9900"/>
                </a:solidFill>
                <a:latin typeface="Times New Roman" panose="02020603050405020304" pitchFamily="18" charset="0"/>
                <a:cs typeface="Times New Roman" panose="02020603050405020304" pitchFamily="18" charset="0"/>
              </a:rPr>
              <a:t>    IoT Standards and Protocols</a:t>
            </a:r>
            <a:endParaRPr lang="en-IN" dirty="0"/>
          </a:p>
        </p:txBody>
      </p:sp>
      <p:sp>
        <p:nvSpPr>
          <p:cNvPr id="3" name="Content Placeholder 2">
            <a:extLst>
              <a:ext uri="{FF2B5EF4-FFF2-40B4-BE49-F238E27FC236}">
                <a16:creationId xmlns:a16="http://schemas.microsoft.com/office/drawing/2014/main" id="{27D715D4-82D4-44CB-A88F-CC72C41DED8E}"/>
              </a:ext>
            </a:extLst>
          </p:cNvPr>
          <p:cNvSpPr>
            <a:spLocks noGrp="1"/>
          </p:cNvSpPr>
          <p:nvPr>
            <p:ph idx="1"/>
          </p:nvPr>
        </p:nvSpPr>
        <p:spPr>
          <a:xfrm>
            <a:off x="457200" y="1600200"/>
            <a:ext cx="8229600" cy="4983162"/>
          </a:xfrm>
        </p:spPr>
        <p:txBody>
          <a:bodyPr/>
          <a:lstStyle/>
          <a:p>
            <a:pPr marL="0" indent="0" algn="just">
              <a:buNone/>
            </a:pPr>
            <a:r>
              <a:rPr lang="en-US" sz="1800" b="1" i="0" dirty="0" err="1">
                <a:solidFill>
                  <a:srgbClr val="000000"/>
                </a:solidFill>
                <a:effectLst/>
                <a:latin typeface="Times New Roman" panose="02020603050405020304" pitchFamily="18" charset="0"/>
                <a:cs typeface="Times New Roman" panose="02020603050405020304" pitchFamily="18" charset="0"/>
              </a:rPr>
              <a:t>WiFi</a:t>
            </a:r>
            <a:r>
              <a:rPr lang="en-US" sz="1800" b="1" i="0" dirty="0">
                <a:solidFill>
                  <a:srgbClr val="000000"/>
                </a:solidFill>
                <a:effectLst/>
                <a:latin typeface="Times New Roman" panose="02020603050405020304" pitchFamily="18" charset="0"/>
                <a:cs typeface="Times New Roman" panose="02020603050405020304" pitchFamily="18" charset="0"/>
              </a:rPr>
              <a:t>:</a:t>
            </a:r>
          </a:p>
          <a:p>
            <a:pPr marL="0" indent="0" algn="just">
              <a:buNone/>
            </a:pPr>
            <a:r>
              <a:rPr lang="en-US" sz="1800" b="0" i="0" dirty="0">
                <a:solidFill>
                  <a:srgbClr val="000000"/>
                </a:solidFill>
                <a:effectLst/>
                <a:latin typeface="Times New Roman" panose="02020603050405020304" pitchFamily="18" charset="0"/>
                <a:cs typeface="Times New Roman" panose="02020603050405020304" pitchFamily="18" charset="0"/>
              </a:rPr>
              <a:t>There’s no denying that Wi-Fi is the most well-known IoT protocol on this list. However, it’s still worth explaining how the most popular IoT protocol works. </a:t>
            </a:r>
          </a:p>
          <a:p>
            <a:pPr marL="0" indent="0" algn="just">
              <a:buNone/>
            </a:pPr>
            <a:r>
              <a:rPr lang="en-US" sz="1800" b="0" i="0" dirty="0">
                <a:solidFill>
                  <a:srgbClr val="000000"/>
                </a:solidFill>
                <a:effectLst/>
                <a:latin typeface="Times New Roman" panose="02020603050405020304" pitchFamily="18" charset="0"/>
                <a:cs typeface="Times New Roman" panose="02020603050405020304" pitchFamily="18" charset="0"/>
              </a:rPr>
              <a:t>In order to create a Wi-Fi network, you need a device that can send wireless signals. These include: Telephones, Computers and Routers.</a:t>
            </a:r>
          </a:p>
          <a:p>
            <a:pPr marL="0" indent="0" algn="just">
              <a:buNone/>
            </a:pPr>
            <a:r>
              <a:rPr lang="en-US" sz="1800" b="0" i="0" dirty="0">
                <a:solidFill>
                  <a:srgbClr val="000000"/>
                </a:solidFill>
                <a:effectLst/>
                <a:latin typeface="Times New Roman" panose="02020603050405020304" pitchFamily="18" charset="0"/>
                <a:cs typeface="Times New Roman" panose="02020603050405020304" pitchFamily="18" charset="0"/>
              </a:rPr>
              <a:t>Wi-Fi provides an internet connection to nearby devices within a specific range. Another way to use Wi-Fi is to create a Wi-Fi hotspot. Mobile phones or computers may share a wireless or wired internet connection with other devices by broadcasting a signal. </a:t>
            </a:r>
          </a:p>
          <a:p>
            <a:pPr marL="0" indent="0" algn="just">
              <a:buNone/>
            </a:pPr>
            <a:r>
              <a:rPr lang="en-US" sz="1800" b="0" i="0" dirty="0">
                <a:solidFill>
                  <a:srgbClr val="000000"/>
                </a:solidFill>
                <a:effectLst/>
                <a:latin typeface="Times New Roman" panose="02020603050405020304" pitchFamily="18" charset="0"/>
                <a:cs typeface="Times New Roman" panose="02020603050405020304" pitchFamily="18" charset="0"/>
              </a:rPr>
              <a:t>Wi-Fi uses radio waves that broadcast information on specific frequencies, such as 2.4 GHz or 5GHz channels. Furthermore, both of these frequency ranges have a number of channels through which different wireless devices can work. This prevents the overflowing of wireless networks. </a:t>
            </a:r>
          </a:p>
          <a:p>
            <a:pPr marL="0" indent="0" algn="just">
              <a:buNone/>
            </a:pPr>
            <a:r>
              <a:rPr lang="en-US" sz="1800" b="0" i="0" dirty="0">
                <a:solidFill>
                  <a:srgbClr val="000000"/>
                </a:solidFill>
                <a:effectLst/>
                <a:latin typeface="Times New Roman" panose="02020603050405020304" pitchFamily="18" charset="0"/>
                <a:cs typeface="Times New Roman" panose="02020603050405020304" pitchFamily="18" charset="0"/>
              </a:rPr>
              <a:t>A range of 100 meters is typical of a Wi-Fi connection. That being said, the most common is limited to 10-35 meters. The main impacts on the range and speed of a Wi-Fi connection are the environment and whether it provides internal or external coverage.</a:t>
            </a:r>
          </a:p>
          <a:p>
            <a:pPr algn="just"/>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37823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B44EC-AA99-FA99-65A5-5ECE6DD5E658}"/>
              </a:ext>
            </a:extLst>
          </p:cNvPr>
          <p:cNvSpPr>
            <a:spLocks noGrp="1"/>
          </p:cNvSpPr>
          <p:nvPr>
            <p:ph type="title"/>
          </p:nvPr>
        </p:nvSpPr>
        <p:spPr/>
        <p:txBody>
          <a:bodyPr/>
          <a:lstStyle/>
          <a:p>
            <a:r>
              <a:rPr lang="en-IN" b="1" dirty="0">
                <a:solidFill>
                  <a:srgbClr val="FF9900"/>
                </a:solidFill>
                <a:latin typeface="Times New Roman" panose="02020603050405020304" pitchFamily="18" charset="0"/>
                <a:cs typeface="Times New Roman" panose="02020603050405020304" pitchFamily="18" charset="0"/>
              </a:rPr>
              <a:t> IoT Standards and Protocols</a:t>
            </a:r>
            <a:endParaRPr lang="en-IN" dirty="0"/>
          </a:p>
        </p:txBody>
      </p:sp>
      <p:sp>
        <p:nvSpPr>
          <p:cNvPr id="3" name="Content Placeholder 2">
            <a:extLst>
              <a:ext uri="{FF2B5EF4-FFF2-40B4-BE49-F238E27FC236}">
                <a16:creationId xmlns:a16="http://schemas.microsoft.com/office/drawing/2014/main" id="{A9CFCAD9-3D55-4B38-3393-78975D51A252}"/>
              </a:ext>
            </a:extLst>
          </p:cNvPr>
          <p:cNvSpPr>
            <a:spLocks noGrp="1"/>
          </p:cNvSpPr>
          <p:nvPr>
            <p:ph idx="1"/>
          </p:nvPr>
        </p:nvSpPr>
        <p:spPr/>
        <p:txBody>
          <a:bodyPr/>
          <a:lstStyle/>
          <a:p>
            <a:pPr marL="0" indent="0" algn="just">
              <a:buNone/>
            </a:pPr>
            <a:r>
              <a:rPr lang="en-US" sz="1800" b="1" i="0" dirty="0">
                <a:solidFill>
                  <a:srgbClr val="000000"/>
                </a:solidFill>
                <a:effectLst/>
                <a:latin typeface="Times New Roman" panose="02020603050405020304" pitchFamily="18" charset="0"/>
                <a:cs typeface="Times New Roman" panose="02020603050405020304" pitchFamily="18" charset="0"/>
              </a:rPr>
              <a:t>Bluetooth:</a:t>
            </a:r>
          </a:p>
          <a:p>
            <a:pPr marL="0" indent="0" algn="just">
              <a:buNone/>
            </a:pPr>
            <a:r>
              <a:rPr lang="en-US" sz="1800" b="0" i="0" dirty="0">
                <a:solidFill>
                  <a:srgbClr val="000000"/>
                </a:solidFill>
                <a:effectLst/>
                <a:latin typeface="Times New Roman" panose="02020603050405020304" pitchFamily="18" charset="0"/>
                <a:cs typeface="Times New Roman" panose="02020603050405020304" pitchFamily="18" charset="0"/>
              </a:rPr>
              <a:t>When compared to other IoT network protocols listed here, Bluetooth tends to frequency hop and has a generally shorter range.</a:t>
            </a:r>
          </a:p>
          <a:p>
            <a:pPr marL="0" indent="0" algn="just">
              <a:buNone/>
            </a:pPr>
            <a:r>
              <a:rPr lang="en-US" sz="1800" b="0" i="0" dirty="0">
                <a:solidFill>
                  <a:srgbClr val="000000"/>
                </a:solidFill>
                <a:effectLst/>
                <a:latin typeface="Times New Roman" panose="02020603050405020304" pitchFamily="18" charset="0"/>
                <a:cs typeface="Times New Roman" panose="02020603050405020304" pitchFamily="18" charset="0"/>
              </a:rPr>
              <a:t>However, it’s gained a huge user base due to its integration into modern mobile devices – smartphones and tablets, to name a couple – as well as wearable technology, such as wireless headphones.</a:t>
            </a:r>
          </a:p>
          <a:p>
            <a:pPr marL="0" indent="0" algn="just">
              <a:buNone/>
            </a:pPr>
            <a:r>
              <a:rPr lang="en-US" sz="1800" b="0" i="0" dirty="0">
                <a:solidFill>
                  <a:srgbClr val="000000"/>
                </a:solidFill>
                <a:effectLst/>
                <a:latin typeface="Times New Roman" panose="02020603050405020304" pitchFamily="18" charset="0"/>
                <a:cs typeface="Times New Roman" panose="02020603050405020304" pitchFamily="18" charset="0"/>
              </a:rPr>
              <a:t>Standard Bluetooth technology uses radio waves in the 2.4 GHz ISM frequency band and is sent in the form of packets to one of 79 channels. However, the latest Bluetooth 4.0 standard has 40 channels and a bandwidth of 2Mhz. This guarantees a maximum data transfer of up to 3 Mb/s.</a:t>
            </a:r>
          </a:p>
          <a:p>
            <a:pPr marL="0" indent="0" algn="just">
              <a:buNone/>
            </a:pPr>
            <a:r>
              <a:rPr lang="en-US" sz="1800" b="0" i="0" dirty="0">
                <a:solidFill>
                  <a:srgbClr val="000000"/>
                </a:solidFill>
                <a:effectLst/>
                <a:latin typeface="Times New Roman" panose="02020603050405020304" pitchFamily="18" charset="0"/>
                <a:cs typeface="Times New Roman" panose="02020603050405020304" pitchFamily="18" charset="0"/>
              </a:rPr>
              <a:t>This new technology is otherwise known as Bluetooth Low Energy (BLE) and can be the foundation for IoT applications that require significant flexibility, scalability, and low power consumption.</a:t>
            </a:r>
          </a:p>
          <a:p>
            <a:pPr algn="just"/>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40569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066E5-A49E-33E0-9434-6E4C909064E5}"/>
              </a:ext>
            </a:extLst>
          </p:cNvPr>
          <p:cNvSpPr>
            <a:spLocks noGrp="1"/>
          </p:cNvSpPr>
          <p:nvPr>
            <p:ph type="title"/>
          </p:nvPr>
        </p:nvSpPr>
        <p:spPr/>
        <p:txBody>
          <a:bodyPr/>
          <a:lstStyle/>
          <a:p>
            <a:r>
              <a:rPr lang="en-IN" b="1" dirty="0">
                <a:solidFill>
                  <a:srgbClr val="FF9900"/>
                </a:solidFill>
                <a:latin typeface="Times New Roman" panose="02020603050405020304" pitchFamily="18" charset="0"/>
                <a:cs typeface="Times New Roman" panose="02020603050405020304" pitchFamily="18" charset="0"/>
              </a:rPr>
              <a:t> IoT Standards and Protocols</a:t>
            </a:r>
            <a:endParaRPr lang="en-IN" dirty="0"/>
          </a:p>
        </p:txBody>
      </p:sp>
      <p:sp>
        <p:nvSpPr>
          <p:cNvPr id="3" name="Content Placeholder 2">
            <a:extLst>
              <a:ext uri="{FF2B5EF4-FFF2-40B4-BE49-F238E27FC236}">
                <a16:creationId xmlns:a16="http://schemas.microsoft.com/office/drawing/2014/main" id="{28FFBC65-567E-09BE-392D-564F0F80AB23}"/>
              </a:ext>
            </a:extLst>
          </p:cNvPr>
          <p:cNvSpPr>
            <a:spLocks noGrp="1"/>
          </p:cNvSpPr>
          <p:nvPr>
            <p:ph idx="1"/>
          </p:nvPr>
        </p:nvSpPr>
        <p:spPr/>
        <p:txBody>
          <a:bodyPr/>
          <a:lstStyle/>
          <a:p>
            <a:pPr marL="0" indent="0" algn="just">
              <a:buNone/>
            </a:pPr>
            <a:r>
              <a:rPr lang="en-US" sz="1800" b="1" i="0" dirty="0">
                <a:solidFill>
                  <a:srgbClr val="000000"/>
                </a:solidFill>
                <a:effectLst/>
                <a:latin typeface="Times New Roman" panose="02020603050405020304" pitchFamily="18" charset="0"/>
                <a:cs typeface="Times New Roman" panose="02020603050405020304" pitchFamily="18" charset="0"/>
              </a:rPr>
              <a:t>ZigBee:</a:t>
            </a:r>
          </a:p>
          <a:p>
            <a:pPr marL="0" indent="0" algn="just">
              <a:buNone/>
            </a:pPr>
            <a:r>
              <a:rPr lang="en-US" sz="1800" b="0" i="0" dirty="0">
                <a:solidFill>
                  <a:srgbClr val="000000"/>
                </a:solidFill>
                <a:effectLst/>
                <a:latin typeface="Times New Roman" panose="02020603050405020304" pitchFamily="18" charset="0"/>
                <a:cs typeface="Times New Roman" panose="02020603050405020304" pitchFamily="18" charset="0"/>
              </a:rPr>
              <a:t>ZigBee-based networks are similar to Bluetooth in the sense that it already has a significant user base in the world of IoT.</a:t>
            </a:r>
          </a:p>
          <a:p>
            <a:pPr marL="0" indent="0" algn="just">
              <a:buNone/>
            </a:pPr>
            <a:r>
              <a:rPr lang="en-US" sz="1800" b="0" i="0" dirty="0">
                <a:solidFill>
                  <a:srgbClr val="000000"/>
                </a:solidFill>
                <a:effectLst/>
                <a:latin typeface="Times New Roman" panose="02020603050405020304" pitchFamily="18" charset="0"/>
                <a:cs typeface="Times New Roman" panose="02020603050405020304" pitchFamily="18" charset="0"/>
              </a:rPr>
              <a:t>However, it’s specifications slightly eclipse the more universally used Bluetooth. It has lower power consumption, low data-range, high security, and has a longer range of communication (ZigBee can reach 200 meters, while Bluetooth maxes out at 100 meters)</a:t>
            </a:r>
          </a:p>
          <a:p>
            <a:pPr marL="0" indent="0" algn="just">
              <a:buNone/>
            </a:pPr>
            <a:r>
              <a:rPr lang="en-US" sz="1800" b="0" i="0" dirty="0">
                <a:solidFill>
                  <a:srgbClr val="000000"/>
                </a:solidFill>
                <a:effectLst/>
                <a:latin typeface="Times New Roman" panose="02020603050405020304" pitchFamily="18" charset="0"/>
                <a:cs typeface="Times New Roman" panose="02020603050405020304" pitchFamily="18" charset="0"/>
              </a:rPr>
              <a:t>It’s a relatively simple packet data exchange protocol and is often implemented in devices with small requirements, such as microcontrollers and sensors. Furthermore, it easily scales to thousands of nodes. This makes it no surprise that many suppliers are offering devices that support ZigBee’s open standard self-assembly and self-healing grid topology model. </a:t>
            </a:r>
          </a:p>
          <a:p>
            <a:pPr algn="just"/>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4523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B2C12-1BB2-7DBB-7B5C-7B7C32E6F2A7}"/>
              </a:ext>
            </a:extLst>
          </p:cNvPr>
          <p:cNvSpPr>
            <a:spLocks noGrp="1"/>
          </p:cNvSpPr>
          <p:nvPr>
            <p:ph type="title"/>
          </p:nvPr>
        </p:nvSpPr>
        <p:spPr/>
        <p:txBody>
          <a:bodyPr/>
          <a:lstStyle/>
          <a:p>
            <a:r>
              <a:rPr lang="en-IN" b="1" dirty="0">
                <a:solidFill>
                  <a:srgbClr val="FF9900"/>
                </a:solidFill>
                <a:latin typeface="Times New Roman" panose="02020603050405020304" pitchFamily="18" charset="0"/>
                <a:cs typeface="Times New Roman" panose="02020603050405020304" pitchFamily="18" charset="0"/>
              </a:rPr>
              <a:t> IoT Standards and Protocols</a:t>
            </a:r>
            <a:endParaRPr lang="en-IN" dirty="0"/>
          </a:p>
        </p:txBody>
      </p:sp>
      <p:sp>
        <p:nvSpPr>
          <p:cNvPr id="3" name="Content Placeholder 2">
            <a:extLst>
              <a:ext uri="{FF2B5EF4-FFF2-40B4-BE49-F238E27FC236}">
                <a16:creationId xmlns:a16="http://schemas.microsoft.com/office/drawing/2014/main" id="{9BFDA95E-D2AB-0950-2F4D-B44427034415}"/>
              </a:ext>
            </a:extLst>
          </p:cNvPr>
          <p:cNvSpPr>
            <a:spLocks noGrp="1"/>
          </p:cNvSpPr>
          <p:nvPr>
            <p:ph idx="1"/>
          </p:nvPr>
        </p:nvSpPr>
        <p:spPr/>
        <p:txBody>
          <a:bodyPr/>
          <a:lstStyle/>
          <a:p>
            <a:pPr marL="0" indent="0" algn="just">
              <a:buNone/>
            </a:pPr>
            <a:r>
              <a:rPr lang="en-US" sz="1800" b="1" i="0" dirty="0">
                <a:solidFill>
                  <a:srgbClr val="000000"/>
                </a:solidFill>
                <a:effectLst/>
                <a:latin typeface="Times New Roman" panose="02020603050405020304" pitchFamily="18" charset="0"/>
                <a:cs typeface="Times New Roman" panose="02020603050405020304" pitchFamily="18" charset="0"/>
              </a:rPr>
              <a:t>Z-Wave</a:t>
            </a:r>
          </a:p>
          <a:p>
            <a:pPr marL="0" indent="0" algn="just">
              <a:buNone/>
            </a:pPr>
            <a:r>
              <a:rPr lang="en-US" sz="1800" b="0" i="0" dirty="0">
                <a:solidFill>
                  <a:srgbClr val="000000"/>
                </a:solidFill>
                <a:effectLst/>
                <a:latin typeface="Times New Roman" panose="02020603050405020304" pitchFamily="18" charset="0"/>
                <a:cs typeface="Times New Roman" panose="02020603050405020304" pitchFamily="18" charset="0"/>
              </a:rPr>
              <a:t>Z-Wave is an increasingly-popular IoT protocol. It’s a wireless, radio frequency (RF) based communication technology that’s primarily used for IoT home applications. </a:t>
            </a:r>
          </a:p>
          <a:p>
            <a:pPr marL="0" indent="0" algn="just">
              <a:buNone/>
            </a:pPr>
            <a:r>
              <a:rPr lang="en-US" sz="1800" b="0" i="0" dirty="0">
                <a:solidFill>
                  <a:srgbClr val="000000"/>
                </a:solidFill>
                <a:effectLst/>
                <a:latin typeface="Times New Roman" panose="02020603050405020304" pitchFamily="18" charset="0"/>
                <a:cs typeface="Times New Roman" panose="02020603050405020304" pitchFamily="18" charset="0"/>
              </a:rPr>
              <a:t>It operates on the 800-900MHz radiofrequency. On the other hand, Zigbee operates on 2.4GHz, which is also a major frequency for Wi-Fi. By operating in its own range, Z-Wave rarely suffers from any significant interference problems. However, the frequency that Z-Wave devices operate on is location dependent, so make sure you buy the right one for your country. </a:t>
            </a:r>
          </a:p>
          <a:p>
            <a:pPr marL="0" indent="0" algn="just">
              <a:buNone/>
            </a:pPr>
            <a:r>
              <a:rPr lang="en-US" sz="1800" b="0" i="0" dirty="0">
                <a:solidFill>
                  <a:srgbClr val="000000"/>
                </a:solidFill>
                <a:effectLst/>
                <a:latin typeface="Times New Roman" panose="02020603050405020304" pitchFamily="18" charset="0"/>
                <a:cs typeface="Times New Roman" panose="02020603050405020304" pitchFamily="18" charset="0"/>
              </a:rPr>
              <a:t>Z-Wave is an impressive IoT protocol. However, like ZigBee, it’s best used within the home and not within the business world. </a:t>
            </a:r>
          </a:p>
          <a:p>
            <a:pPr algn="just"/>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61483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B2C12-1BB2-7DBB-7B5C-7B7C32E6F2A7}"/>
              </a:ext>
            </a:extLst>
          </p:cNvPr>
          <p:cNvSpPr>
            <a:spLocks noGrp="1"/>
          </p:cNvSpPr>
          <p:nvPr>
            <p:ph type="title"/>
          </p:nvPr>
        </p:nvSpPr>
        <p:spPr/>
        <p:txBody>
          <a:bodyPr/>
          <a:lstStyle/>
          <a:p>
            <a:r>
              <a:rPr lang="en-IN" b="1" dirty="0">
                <a:solidFill>
                  <a:srgbClr val="FF9900"/>
                </a:solidFill>
                <a:latin typeface="Times New Roman" panose="02020603050405020304" pitchFamily="18" charset="0"/>
                <a:cs typeface="Times New Roman" panose="02020603050405020304" pitchFamily="18" charset="0"/>
              </a:rPr>
              <a:t> IoT Standards and Protocols</a:t>
            </a:r>
            <a:endParaRPr lang="en-IN" dirty="0"/>
          </a:p>
        </p:txBody>
      </p:sp>
      <p:sp>
        <p:nvSpPr>
          <p:cNvPr id="3" name="Content Placeholder 2">
            <a:extLst>
              <a:ext uri="{FF2B5EF4-FFF2-40B4-BE49-F238E27FC236}">
                <a16:creationId xmlns:a16="http://schemas.microsoft.com/office/drawing/2014/main" id="{9BFDA95E-D2AB-0950-2F4D-B44427034415}"/>
              </a:ext>
            </a:extLst>
          </p:cNvPr>
          <p:cNvSpPr>
            <a:spLocks noGrp="1"/>
          </p:cNvSpPr>
          <p:nvPr>
            <p:ph idx="1"/>
          </p:nvPr>
        </p:nvSpPr>
        <p:spPr/>
        <p:txBody>
          <a:bodyPr/>
          <a:lstStyle/>
          <a:p>
            <a:pPr marL="0" indent="0" algn="just">
              <a:buNone/>
            </a:pPr>
            <a:r>
              <a:rPr lang="en-US" sz="1800" b="1" dirty="0" err="1">
                <a:latin typeface="Times New Roman" panose="02020603050405020304" pitchFamily="18" charset="0"/>
                <a:cs typeface="Times New Roman" panose="02020603050405020304" pitchFamily="18" charset="0"/>
              </a:rPr>
              <a:t>LoRaWan</a:t>
            </a:r>
            <a:r>
              <a:rPr lang="en-US" sz="1800" b="1" dirty="0">
                <a:latin typeface="Times New Roman" panose="02020603050405020304" pitchFamily="18" charset="0"/>
                <a:cs typeface="Times New Roman" panose="02020603050405020304" pitchFamily="18" charset="0"/>
              </a:rPr>
              <a:t>:</a:t>
            </a:r>
          </a:p>
          <a:p>
            <a:pPr marL="0" indent="0" algn="just">
              <a:buNone/>
            </a:pPr>
            <a:r>
              <a:rPr lang="en-US" sz="1800" dirty="0" err="1">
                <a:latin typeface="Times New Roman" panose="02020603050405020304" pitchFamily="18" charset="0"/>
                <a:cs typeface="Times New Roman" panose="02020603050405020304" pitchFamily="18" charset="0"/>
              </a:rPr>
              <a:t>LoRaWAN</a:t>
            </a:r>
            <a:r>
              <a:rPr lang="en-US" sz="1800" dirty="0">
                <a:latin typeface="Times New Roman" panose="02020603050405020304" pitchFamily="18" charset="0"/>
                <a:cs typeface="Times New Roman" panose="02020603050405020304" pitchFamily="18" charset="0"/>
              </a:rPr>
              <a:t> is a media access control (MAC) IoT protocol.</a:t>
            </a:r>
          </a:p>
          <a:p>
            <a:pPr algn="just"/>
            <a:endParaRPr lang="en-US" sz="1800" dirty="0">
              <a:latin typeface="Times New Roman" panose="02020603050405020304" pitchFamily="18" charset="0"/>
              <a:cs typeface="Times New Roman" panose="02020603050405020304" pitchFamily="18" charset="0"/>
            </a:endParaRPr>
          </a:p>
          <a:p>
            <a:pPr marL="0" indent="0" algn="just">
              <a:buNone/>
            </a:pPr>
            <a:r>
              <a:rPr lang="en-US" sz="1800" dirty="0" err="1">
                <a:latin typeface="Times New Roman" panose="02020603050405020304" pitchFamily="18" charset="0"/>
                <a:cs typeface="Times New Roman" panose="02020603050405020304" pitchFamily="18" charset="0"/>
              </a:rPr>
              <a:t>LoRaWAN</a:t>
            </a:r>
            <a:r>
              <a:rPr lang="en-US" sz="1800" dirty="0">
                <a:latin typeface="Times New Roman" panose="02020603050405020304" pitchFamily="18" charset="0"/>
                <a:cs typeface="Times New Roman" panose="02020603050405020304" pitchFamily="18" charset="0"/>
              </a:rPr>
              <a:t> allows low-powered devices to communicate directly with internet-connected applications over a long-range wireless connection. Moreover, it has the capability to be mapped to both the 2nd and 3rd layer of the OSI model. </a:t>
            </a:r>
          </a:p>
          <a:p>
            <a:pPr algn="just"/>
            <a:endParaRPr lang="en-US"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It’s implemented on top of LoRa or FSK modulation for industrial, scientific, and medical (ISM) radio bands.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7222079"/>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
  <TotalTime>6359</TotalTime>
  <Words>1655</Words>
  <Application>Microsoft Office PowerPoint</Application>
  <PresentationFormat>On-screen Show (4:3)</PresentationFormat>
  <Paragraphs>96</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Tahoma</vt:lpstr>
      <vt:lpstr>Times New Roman</vt:lpstr>
      <vt:lpstr>Wingdings</vt:lpstr>
      <vt:lpstr>Default Design</vt:lpstr>
      <vt:lpstr>IoT Standards and Protocols</vt:lpstr>
      <vt:lpstr>    IoT Standards and Protocols</vt:lpstr>
      <vt:lpstr>    IoT Standards and Protocols</vt:lpstr>
      <vt:lpstr>    IoT Standards and Protocols</vt:lpstr>
      <vt:lpstr>    IoT Standards and Protocols</vt:lpstr>
      <vt:lpstr>    IoT Standards and Protocols</vt:lpstr>
      <vt:lpstr>    IoT Standards and Protocols</vt:lpstr>
      <vt:lpstr>    IoT Standards and Protocols</vt:lpstr>
      <vt:lpstr>    IoT Standards and Protocols</vt:lpstr>
      <vt:lpstr>    IoT Standards and Protocols</vt:lpstr>
      <vt:lpstr>    IoT Standards and Protocols</vt:lpstr>
      <vt:lpstr> IoT Standards and Protocols</vt:lpstr>
      <vt:lpstr> IoT Standards and Protocols</vt:lpstr>
      <vt:lpstr> IoT Standards and Protocols</vt:lpstr>
      <vt:lpstr> IoT Standards and Protocols</vt:lpstr>
    </vt:vector>
  </TitlesOfParts>
  <Company>eclaimonline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 S R A Raju</dc:creator>
  <cp:lastModifiedBy>Chandramouli</cp:lastModifiedBy>
  <cp:revision>752</cp:revision>
  <dcterms:created xsi:type="dcterms:W3CDTF">2006-01-11T14:24:03Z</dcterms:created>
  <dcterms:modified xsi:type="dcterms:W3CDTF">2022-10-26T05:43:41Z</dcterms:modified>
</cp:coreProperties>
</file>