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sldIdLst>
    <p:sldId id="262" r:id="rId2"/>
    <p:sldId id="263" r:id="rId3"/>
    <p:sldId id="264" r:id="rId4"/>
    <p:sldId id="296" r:id="rId5"/>
    <p:sldId id="265" r:id="rId6"/>
    <p:sldId id="266" r:id="rId7"/>
    <p:sldId id="267" r:id="rId8"/>
    <p:sldId id="269" r:id="rId9"/>
    <p:sldId id="270" r:id="rId10"/>
    <p:sldId id="271" r:id="rId11"/>
    <p:sldId id="272" r:id="rId12"/>
    <p:sldId id="273" r:id="rId13"/>
    <p:sldId id="274" r:id="rId14"/>
    <p:sldId id="275" r:id="rId15"/>
    <p:sldId id="276" r:id="rId16"/>
    <p:sldId id="290" r:id="rId17"/>
    <p:sldId id="291" r:id="rId18"/>
    <p:sldId id="292" r:id="rId19"/>
    <p:sldId id="293" r:id="rId20"/>
    <p:sldId id="277" r:id="rId21"/>
    <p:sldId id="295" r:id="rId22"/>
    <p:sldId id="278" r:id="rId23"/>
    <p:sldId id="279" r:id="rId24"/>
    <p:sldId id="299" r:id="rId25"/>
    <p:sldId id="298" r:id="rId26"/>
    <p:sldId id="280" r:id="rId27"/>
    <p:sldId id="281" r:id="rId28"/>
    <p:sldId id="282" r:id="rId2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1474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7C066D-89F0-4449-8D16-F3F88283A17D}" type="datetimeFigureOut">
              <a:rPr lang="en-US" smtClean="0"/>
              <a:pPr/>
              <a:t>4/25/2024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C0225F-7B95-48B7-B1D8-F188F22009EA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FED3A27-338C-418F-8950-2095B9FFF4E6}" type="slidenum">
              <a:rPr lang="en-US"/>
              <a:pPr/>
              <a:t>1</a:t>
            </a:fld>
            <a:endParaRPr lang="en-US"/>
          </a:p>
        </p:txBody>
      </p:sp>
      <p:sp>
        <p:nvSpPr>
          <p:cNvPr id="2437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37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150FE0A-93B7-42BF-9791-9AFF257FF492}" type="slidenum">
              <a:rPr lang="en-US"/>
              <a:pPr/>
              <a:t>2</a:t>
            </a:fld>
            <a:endParaRPr lang="en-US"/>
          </a:p>
        </p:txBody>
      </p:sp>
      <p:sp>
        <p:nvSpPr>
          <p:cNvPr id="2457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7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8793CD9-38D9-499D-A549-BAC9C40F1CBF}" type="slidenum">
              <a:rPr lang="en-US"/>
              <a:pPr/>
              <a:t>6</a:t>
            </a:fld>
            <a:endParaRPr lang="en-US"/>
          </a:p>
        </p:txBody>
      </p:sp>
      <p:sp>
        <p:nvSpPr>
          <p:cNvPr id="2478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78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9F39FF5-CCDF-4474-B3A5-E4F313A30BC0}" type="slidenum">
              <a:rPr lang="en-US"/>
              <a:pPr/>
              <a:t>8</a:t>
            </a:fld>
            <a:endParaRPr lang="en-US"/>
          </a:p>
        </p:txBody>
      </p:sp>
      <p:sp>
        <p:nvSpPr>
          <p:cNvPr id="2560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977748D-5698-4405-84DA-A725AED78C2D}" type="slidenum">
              <a:rPr lang="en-US"/>
              <a:pPr/>
              <a:t>9</a:t>
            </a:fld>
            <a:endParaRPr lang="en-US"/>
          </a:p>
        </p:txBody>
      </p:sp>
      <p:sp>
        <p:nvSpPr>
          <p:cNvPr id="2580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80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991255E-4F5B-478C-A99F-49639B965EF8}" type="slidenum">
              <a:rPr lang="en-US"/>
              <a:pPr/>
              <a:t>11</a:t>
            </a:fld>
            <a:endParaRPr lang="en-US"/>
          </a:p>
        </p:txBody>
      </p:sp>
      <p:sp>
        <p:nvSpPr>
          <p:cNvPr id="266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8997D1D-F15F-407D-8097-FC3BA987E13C}" type="slidenum">
              <a:rPr lang="en-US"/>
              <a:pPr/>
              <a:t>12</a:t>
            </a:fld>
            <a:endParaRPr lang="en-US"/>
          </a:p>
        </p:txBody>
      </p:sp>
      <p:sp>
        <p:nvSpPr>
          <p:cNvPr id="2703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0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277E903-AD5F-4E74-958E-7C80FA9D0D10}" type="slidenum">
              <a:rPr lang="en-US"/>
              <a:pPr/>
              <a:t>13</a:t>
            </a:fld>
            <a:endParaRPr lang="en-US"/>
          </a:p>
        </p:txBody>
      </p:sp>
      <p:sp>
        <p:nvSpPr>
          <p:cNvPr id="2744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4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F3383D1-793F-4331-A4BC-106022CBC6BD}" type="slidenum">
              <a:rPr lang="en-US"/>
              <a:pPr/>
              <a:t>15</a:t>
            </a:fld>
            <a:endParaRPr lang="en-US"/>
          </a:p>
        </p:txBody>
      </p:sp>
      <p:sp>
        <p:nvSpPr>
          <p:cNvPr id="278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85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9ABB403-4014-4A74-9041-3F601D8F0A39}" type="slidenum">
              <a:rPr lang="en-US"/>
              <a:pPr/>
              <a:t>23</a:t>
            </a:fld>
            <a:endParaRPr lang="en-US"/>
          </a:p>
        </p:txBody>
      </p:sp>
      <p:sp>
        <p:nvSpPr>
          <p:cNvPr id="2826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26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6C91D38-04BF-4298-AFBC-5CA87AA588CB}" type="slidenum">
              <a:rPr lang="en-US"/>
              <a:pPr/>
              <a:t>26</a:t>
            </a:fld>
            <a:endParaRPr lang="en-US"/>
          </a:p>
        </p:txBody>
      </p:sp>
      <p:sp>
        <p:nvSpPr>
          <p:cNvPr id="2949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49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DDC6515-1758-4CF9-A5C7-79F83FD744CC}" type="slidenum">
              <a:rPr lang="en-US"/>
              <a:pPr/>
              <a:t>27</a:t>
            </a:fld>
            <a:endParaRPr lang="en-US"/>
          </a:p>
        </p:txBody>
      </p:sp>
      <p:sp>
        <p:nvSpPr>
          <p:cNvPr id="2969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69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1170667-7E7F-4907-A0E4-846ECD92A4E8}" type="slidenum">
              <a:rPr lang="en-US"/>
              <a:pPr/>
              <a:t>28</a:t>
            </a:fld>
            <a:endParaRPr lang="en-US"/>
          </a:p>
        </p:txBody>
      </p:sp>
      <p:sp>
        <p:nvSpPr>
          <p:cNvPr id="2990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90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4/25/2024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4/25/2024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4/25/2024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693" name="Rectangle 5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/>
              <a:t>Instruction Set </a:t>
            </a:r>
            <a:br>
              <a:rPr lang="en-US" sz="4000"/>
            </a:br>
            <a:r>
              <a:rPr lang="en-US" sz="4000"/>
              <a:t>&amp; Programming</a:t>
            </a:r>
          </a:p>
        </p:txBody>
      </p:sp>
      <p:sp>
        <p:nvSpPr>
          <p:cNvPr id="2426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US"/>
              <a:t>What are Addressing Modes ?</a:t>
            </a:r>
          </a:p>
          <a:p>
            <a:pPr>
              <a:lnSpc>
                <a:spcPct val="80000"/>
              </a:lnSpc>
            </a:pPr>
            <a:r>
              <a:rPr lang="en-US"/>
              <a:t>How many Addressing Modes does 8051 support ? </a:t>
            </a:r>
          </a:p>
          <a:p>
            <a:pPr>
              <a:lnSpc>
                <a:spcPct val="80000"/>
              </a:lnSpc>
            </a:pPr>
            <a:r>
              <a:rPr lang="en-US"/>
              <a:t>And what are they ?</a:t>
            </a:r>
          </a:p>
          <a:p>
            <a:pPr>
              <a:lnSpc>
                <a:spcPct val="80000"/>
              </a:lnSpc>
            </a:pPr>
            <a:r>
              <a:rPr lang="en-US"/>
              <a:t>What is Assembly language ?</a:t>
            </a:r>
          </a:p>
          <a:p>
            <a:pPr>
              <a:lnSpc>
                <a:spcPct val="80000"/>
              </a:lnSpc>
            </a:pPr>
            <a:r>
              <a:rPr lang="en-US"/>
              <a:t>What is 20/80% rule of assembly language programming ?</a:t>
            </a:r>
          </a:p>
          <a:p>
            <a:pPr>
              <a:lnSpc>
                <a:spcPct val="80000"/>
              </a:lnSpc>
            </a:pPr>
            <a:r>
              <a:rPr lang="en-US"/>
              <a:t>Snytax of Assembly language.</a:t>
            </a:r>
          </a:p>
          <a:p>
            <a:pPr>
              <a:lnSpc>
                <a:spcPct val="80000"/>
              </a:lnSpc>
            </a:pPr>
            <a:r>
              <a:rPr lang="en-US"/>
              <a:t>Explanation of Addressing Modes</a:t>
            </a:r>
          </a:p>
          <a:p>
            <a:pPr>
              <a:lnSpc>
                <a:spcPct val="80000"/>
              </a:lnSpc>
            </a:pPr>
            <a:endParaRPr lang="en-US"/>
          </a:p>
          <a:p>
            <a:pPr>
              <a:lnSpc>
                <a:spcPct val="80000"/>
              </a:lnSpc>
            </a:pPr>
            <a:endParaRPr lang="en-US"/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7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 5 Addressing Modes</a:t>
            </a:r>
          </a:p>
        </p:txBody>
      </p:sp>
      <p:sp>
        <p:nvSpPr>
          <p:cNvPr id="2447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Immediate Addressing Mode</a:t>
            </a:r>
          </a:p>
          <a:p>
            <a:r>
              <a:rPr lang="en-US"/>
              <a:t>Register Addressing Mode</a:t>
            </a:r>
          </a:p>
          <a:p>
            <a:r>
              <a:rPr lang="en-US"/>
              <a:t>Direct Addressing Mode</a:t>
            </a:r>
          </a:p>
          <a:p>
            <a:r>
              <a:rPr lang="en-US"/>
              <a:t>Indirect Addressing Mode</a:t>
            </a:r>
          </a:p>
          <a:p>
            <a:r>
              <a:rPr lang="en-US"/>
              <a:t>Indexed Addressing Mode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788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What is Assembly language ?</a:t>
            </a:r>
          </a:p>
          <a:p>
            <a:pPr>
              <a:buFontTx/>
              <a:buNone/>
            </a:pPr>
            <a:r>
              <a:rPr lang="en-US"/>
              <a:t>   A low level machine specific abstracted programming language which uses symbolic representations for  opcodes &amp; operands for  instructions machine codes .</a:t>
            </a:r>
          </a:p>
          <a:p>
            <a:pPr>
              <a:buFontTx/>
              <a:buNone/>
            </a:pPr>
            <a:endParaRPr lang="en-US"/>
          </a:p>
          <a:p>
            <a:r>
              <a:rPr lang="en-US"/>
              <a:t>Syntax of Assembly</a:t>
            </a:r>
            <a:endParaRPr lang="en-US" sz="2600">
              <a:solidFill>
                <a:srgbClr val="FF0000"/>
              </a:solidFill>
            </a:endParaRPr>
          </a:p>
          <a:p>
            <a:pPr>
              <a:buFont typeface="Wingdings" pitchFamily="2" charset="2"/>
              <a:buChar char="Ø"/>
            </a:pPr>
            <a:r>
              <a:rPr lang="en-US" sz="2600">
                <a:solidFill>
                  <a:srgbClr val="FF0000"/>
                </a:solidFill>
              </a:rPr>
              <a:t>LABEL:</a:t>
            </a:r>
            <a:r>
              <a:rPr lang="en-US" sz="2600"/>
              <a:t>  </a:t>
            </a:r>
            <a:r>
              <a:rPr lang="en-US" sz="2600">
                <a:solidFill>
                  <a:schemeClr val="accent2"/>
                </a:solidFill>
              </a:rPr>
              <a:t>MNEMONIC</a:t>
            </a:r>
            <a:r>
              <a:rPr lang="en-US" sz="2600"/>
              <a:t> OPERANDS ; </a:t>
            </a:r>
            <a:r>
              <a:rPr lang="en-US" sz="2600">
                <a:solidFill>
                  <a:srgbClr val="FF0000"/>
                </a:solidFill>
              </a:rPr>
              <a:t>COMMENTS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Categories/groups of Instructions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 Transfer</a:t>
            </a:r>
          </a:p>
          <a:p>
            <a:r>
              <a:rPr lang="en-US" dirty="0" err="1"/>
              <a:t>Arithematic</a:t>
            </a:r>
            <a:endParaRPr lang="en-US" dirty="0"/>
          </a:p>
          <a:p>
            <a:r>
              <a:rPr lang="en-US" dirty="0"/>
              <a:t>Logical </a:t>
            </a:r>
          </a:p>
          <a:p>
            <a:r>
              <a:rPr lang="en-US" dirty="0"/>
              <a:t>Boolean </a:t>
            </a:r>
          </a:p>
          <a:p>
            <a:r>
              <a:rPr lang="en-US" dirty="0"/>
              <a:t>Branching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90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600"/>
              <a:t>Understanding Addressing Modes using MOV instruction</a:t>
            </a:r>
          </a:p>
        </p:txBody>
      </p:sp>
      <p:sp>
        <p:nvSpPr>
          <p:cNvPr id="3799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  <a:p>
            <a:r>
              <a:rPr lang="en-US"/>
              <a:t>Syntax:</a:t>
            </a:r>
          </a:p>
          <a:p>
            <a:pPr>
              <a:buFontTx/>
              <a:buNone/>
            </a:pPr>
            <a:r>
              <a:rPr lang="en-US"/>
              <a:t>    </a:t>
            </a:r>
            <a:r>
              <a:rPr lang="en-US" sz="4800">
                <a:solidFill>
                  <a:srgbClr val="FF0000"/>
                </a:solidFill>
              </a:rPr>
              <a:t>MOV Destination,Source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7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219200"/>
            <a:ext cx="8534400" cy="4800600"/>
          </a:xfrm>
        </p:spPr>
        <p:txBody>
          <a:bodyPr/>
          <a:lstStyle/>
          <a:p>
            <a:pPr lvl="1">
              <a:lnSpc>
                <a:spcPct val="160000"/>
              </a:lnSpc>
            </a:pPr>
            <a:r>
              <a:rPr lang="en-US" dirty="0"/>
              <a:t>The value of a constant can follow the </a:t>
            </a:r>
            <a:r>
              <a:rPr lang="en-US" dirty="0" err="1"/>
              <a:t>opcode</a:t>
            </a:r>
            <a:r>
              <a:rPr lang="en-US" dirty="0"/>
              <a:t> in program memory</a:t>
            </a:r>
          </a:p>
          <a:p>
            <a:pPr lvl="1">
              <a:lnSpc>
                <a:spcPct val="160000"/>
              </a:lnSpc>
            </a:pPr>
            <a:r>
              <a:rPr lang="en-US" dirty="0"/>
              <a:t>The # sign is the designator of the constant</a:t>
            </a:r>
          </a:p>
          <a:p>
            <a:pPr>
              <a:lnSpc>
                <a:spcPct val="160000"/>
              </a:lnSpc>
              <a:buFontTx/>
              <a:buNone/>
            </a:pPr>
            <a:r>
              <a:rPr lang="en-US" dirty="0"/>
              <a:t>      </a:t>
            </a:r>
          </a:p>
        </p:txBody>
      </p:sp>
      <p:sp>
        <p:nvSpPr>
          <p:cNvPr id="246788" name="Rectangle 4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/>
              <a:t>Immediate addressing</a:t>
            </a:r>
            <a:br>
              <a:rPr lang="en-US" sz="4000"/>
            </a:br>
            <a:endParaRPr lang="en-US" sz="4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8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778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Options:</a:t>
            </a:r>
          </a:p>
          <a:p>
            <a:pPr>
              <a:buFont typeface="Wingdings" pitchFamily="2" charset="2"/>
              <a:buChar char="Ø"/>
            </a:pPr>
            <a:r>
              <a:rPr lang="en-US"/>
              <a:t>   MOV A,#data(8-bit)</a:t>
            </a:r>
          </a:p>
          <a:p>
            <a:pPr>
              <a:buFont typeface="Wingdings" pitchFamily="2" charset="2"/>
              <a:buChar char="Ø"/>
            </a:pPr>
            <a:r>
              <a:rPr lang="en-US"/>
              <a:t>   MOV Rn,#data(8-bit)         ; n=0 - 7</a:t>
            </a:r>
          </a:p>
          <a:p>
            <a:pPr>
              <a:buFont typeface="Wingdings" pitchFamily="2" charset="2"/>
              <a:buChar char="Ø"/>
            </a:pPr>
            <a:r>
              <a:rPr lang="en-US"/>
              <a:t>   MOV DPTR,#data (16-bit)</a:t>
            </a:r>
          </a:p>
          <a:p>
            <a:pPr>
              <a:buFont typeface="Wingdings" pitchFamily="2" charset="2"/>
              <a:buChar char="Ø"/>
            </a:pPr>
            <a:r>
              <a:rPr lang="en-US"/>
              <a:t>   MOV @Ri,#data(8-bit)      ; i=0/1</a:t>
            </a:r>
          </a:p>
          <a:p>
            <a:pPr>
              <a:buFont typeface="Wingdings" pitchFamily="2" charset="2"/>
              <a:buNone/>
            </a:pPr>
            <a:endParaRPr lang="en-US"/>
          </a:p>
          <a:p>
            <a:pPr>
              <a:buFont typeface="Wingdings" pitchFamily="2" charset="2"/>
              <a:buChar char="Ø"/>
            </a:pPr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97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>
                <a:solidFill>
                  <a:schemeClr val="tx1"/>
                </a:solidFill>
              </a:rPr>
              <a:t>Register Addressing mode</a:t>
            </a:r>
            <a:br>
              <a:rPr lang="en-US" sz="4000">
                <a:solidFill>
                  <a:schemeClr val="tx1"/>
                </a:solidFill>
              </a:rPr>
            </a:br>
            <a:endParaRPr lang="en-US" sz="4000">
              <a:solidFill>
                <a:schemeClr val="tx1"/>
              </a:solidFill>
            </a:endParaRPr>
          </a:p>
        </p:txBody>
      </p:sp>
      <p:sp>
        <p:nvSpPr>
          <p:cNvPr id="254979" name="Text Box 3"/>
          <p:cNvSpPr txBox="1">
            <a:spLocks noChangeArrowheads="1"/>
          </p:cNvSpPr>
          <p:nvPr/>
        </p:nvSpPr>
        <p:spPr bwMode="auto">
          <a:xfrm>
            <a:off x="228600" y="1676400"/>
            <a:ext cx="5553075" cy="252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 sz="3200"/>
              <a:t>options :</a:t>
            </a:r>
          </a:p>
          <a:p>
            <a:pPr eaLnBrk="0" hangingPunct="0"/>
            <a:endParaRPr lang="en-US" sz="3200" b="1"/>
          </a:p>
          <a:p>
            <a:pPr eaLnBrk="0" hangingPunct="0"/>
            <a:r>
              <a:rPr lang="en-US" sz="3200" b="1"/>
              <a:t>MOV A,Rn            ; n=0 - 7 </a:t>
            </a:r>
          </a:p>
          <a:p>
            <a:pPr eaLnBrk="0" hangingPunct="0"/>
            <a:endParaRPr lang="en-US" sz="3200" b="1"/>
          </a:p>
          <a:p>
            <a:pPr eaLnBrk="0" hangingPunct="0"/>
            <a:r>
              <a:rPr lang="en-US" sz="3200" b="1"/>
              <a:t>MOV Rn, A           ; n=0 -7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0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570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219200"/>
            <a:ext cx="8534400" cy="480060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/>
              <a:t>Direct Addressing</a:t>
            </a:r>
          </a:p>
          <a:p>
            <a:pPr lvl="1">
              <a:lnSpc>
                <a:spcPct val="150000"/>
              </a:lnSpc>
            </a:pPr>
            <a:r>
              <a:rPr lang="en-US"/>
              <a:t>At least one of the operand is specified by an 8 bit address field</a:t>
            </a:r>
          </a:p>
          <a:p>
            <a:pPr lvl="1">
              <a:lnSpc>
                <a:spcPct val="150000"/>
              </a:lnSpc>
            </a:pPr>
            <a:r>
              <a:rPr lang="en-US"/>
              <a:t>Internal data RAM and SFRs can be directly addressed</a:t>
            </a:r>
            <a:endParaRPr lang="en-US">
              <a:solidFill>
                <a:srgbClr val="FFCC00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9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Direct Addressing</a:t>
            </a:r>
          </a:p>
        </p:txBody>
      </p:sp>
      <p:sp>
        <p:nvSpPr>
          <p:cNvPr id="3809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Options :</a:t>
            </a:r>
          </a:p>
          <a:p>
            <a:pPr>
              <a:buFont typeface="Wingdings" pitchFamily="2" charset="2"/>
              <a:buChar char="Ø"/>
            </a:pPr>
            <a:r>
              <a:rPr lang="en-US"/>
              <a:t> MOV Addr,#data(8-bit)</a:t>
            </a:r>
          </a:p>
          <a:p>
            <a:pPr>
              <a:buFont typeface="Wingdings" pitchFamily="2" charset="2"/>
              <a:buChar char="Ø"/>
            </a:pPr>
            <a:r>
              <a:rPr lang="en-US"/>
              <a:t> MOV A,Addr</a:t>
            </a:r>
          </a:p>
          <a:p>
            <a:pPr>
              <a:buFont typeface="Wingdings" pitchFamily="2" charset="2"/>
              <a:buChar char="Ø"/>
            </a:pPr>
            <a:r>
              <a:rPr lang="en-US"/>
              <a:t> MOV Addr,A</a:t>
            </a:r>
          </a:p>
          <a:p>
            <a:pPr>
              <a:buFont typeface="Wingdings" pitchFamily="2" charset="2"/>
              <a:buChar char="Ø"/>
            </a:pPr>
            <a:r>
              <a:rPr lang="en-US"/>
              <a:t> MOV Rn,Addr</a:t>
            </a:r>
          </a:p>
          <a:p>
            <a:pPr>
              <a:buFont typeface="Wingdings" pitchFamily="2" charset="2"/>
              <a:buChar char="Ø"/>
            </a:pPr>
            <a:r>
              <a:rPr lang="en-US"/>
              <a:t> MOV Addr,Rn</a:t>
            </a:r>
          </a:p>
          <a:p>
            <a:pPr>
              <a:buFont typeface="Wingdings" pitchFamily="2" charset="2"/>
              <a:buChar char="Ø"/>
            </a:pPr>
            <a:r>
              <a:rPr lang="en-US"/>
              <a:t> MOV Addr1,Addr2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21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6858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sz="4000"/>
              <a:t>Indirect Addressing</a:t>
            </a:r>
            <a:br>
              <a:rPr lang="en-US" sz="4000"/>
            </a:br>
            <a:endParaRPr lang="en-US" sz="4000"/>
          </a:p>
        </p:txBody>
      </p:sp>
      <p:sp>
        <p:nvSpPr>
          <p:cNvPr id="265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30363"/>
            <a:ext cx="8534400" cy="4800600"/>
          </a:xfrm>
        </p:spPr>
        <p:txBody>
          <a:bodyPr/>
          <a:lstStyle/>
          <a:p>
            <a:pPr lvl="1">
              <a:lnSpc>
                <a:spcPct val="110000"/>
              </a:lnSpc>
            </a:pPr>
            <a:r>
              <a:rPr lang="en-US"/>
              <a:t>The instruction specifies a register that contains the address of the operand </a:t>
            </a:r>
          </a:p>
          <a:p>
            <a:pPr lvl="1">
              <a:lnSpc>
                <a:spcPct val="110000"/>
              </a:lnSpc>
            </a:pPr>
            <a:r>
              <a:rPr lang="en-US">
                <a:solidFill>
                  <a:srgbClr val="FF0000"/>
                </a:solidFill>
              </a:rPr>
              <a:t>Both Internal  and External  RAM can be indirectly addressed</a:t>
            </a:r>
          </a:p>
          <a:p>
            <a:pPr lvl="1">
              <a:lnSpc>
                <a:spcPct val="110000"/>
              </a:lnSpc>
            </a:pPr>
            <a:r>
              <a:rPr lang="en-US"/>
              <a:t>Address register can be R0 or R1 of a selected register bank or the SP for 8 bit and DPTR for 16 bit address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316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Indirect : Internal RAM</a:t>
            </a:r>
          </a:p>
        </p:txBody>
      </p:sp>
      <p:sp>
        <p:nvSpPr>
          <p:cNvPr id="26931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0" y="1477963"/>
            <a:ext cx="9144000" cy="4953000"/>
          </a:xfrm>
        </p:spPr>
        <p:txBody>
          <a:bodyPr/>
          <a:lstStyle/>
          <a:p>
            <a:pPr>
              <a:buFontTx/>
              <a:buNone/>
            </a:pPr>
            <a:r>
              <a:rPr lang="en-US" sz="2000" b="1" i="1" dirty="0"/>
              <a:t>	</a:t>
            </a:r>
            <a:r>
              <a:rPr lang="en-US" sz="2800" b="1" i="1" dirty="0"/>
              <a:t>options:</a:t>
            </a:r>
          </a:p>
          <a:p>
            <a:pPr>
              <a:buFont typeface="Wingdings" pitchFamily="2" charset="2"/>
              <a:buChar char="Ø"/>
            </a:pPr>
            <a:r>
              <a:rPr lang="en-US" sz="2800" b="1" i="1" dirty="0"/>
              <a:t>MOV @</a:t>
            </a:r>
            <a:r>
              <a:rPr lang="en-US" sz="2800" b="1" i="1" dirty="0" err="1"/>
              <a:t>Ri,A</a:t>
            </a:r>
            <a:r>
              <a:rPr lang="en-US" sz="2800" b="1" i="1" dirty="0"/>
              <a:t>             ; </a:t>
            </a:r>
            <a:r>
              <a:rPr lang="en-US" sz="2800" b="1" i="1" dirty="0" err="1"/>
              <a:t>i</a:t>
            </a:r>
            <a:r>
              <a:rPr lang="en-US" sz="2800" b="1" i="1" dirty="0"/>
              <a:t>=0/1</a:t>
            </a:r>
          </a:p>
          <a:p>
            <a:pPr>
              <a:buFont typeface="Wingdings" pitchFamily="2" charset="2"/>
              <a:buChar char="Ø"/>
            </a:pPr>
            <a:r>
              <a:rPr lang="en-US" sz="2800" b="1" i="1" dirty="0"/>
              <a:t>MOV </a:t>
            </a:r>
            <a:r>
              <a:rPr lang="en-US" sz="2800" b="1" i="1" dirty="0" err="1"/>
              <a:t>A,@Ri</a:t>
            </a:r>
            <a:r>
              <a:rPr lang="en-US" sz="2800" b="1" i="1"/>
              <a:t>	    ; </a:t>
            </a:r>
            <a:r>
              <a:rPr lang="en-US" sz="2800" b="1" i="1" dirty="0" err="1"/>
              <a:t>i</a:t>
            </a:r>
            <a:r>
              <a:rPr lang="en-US" sz="2800" b="1" i="1" dirty="0"/>
              <a:t> = 0/1</a:t>
            </a:r>
          </a:p>
          <a:p>
            <a:pPr>
              <a:buFont typeface="Wingdings" pitchFamily="2" charset="2"/>
              <a:buChar char="Ø"/>
            </a:pPr>
            <a:r>
              <a:rPr lang="en-US" sz="2800" b="1" i="1" dirty="0"/>
              <a:t>MOV @</a:t>
            </a:r>
            <a:r>
              <a:rPr lang="en-US" sz="2800" b="1" i="1" dirty="0" err="1"/>
              <a:t>Ri,ADDR</a:t>
            </a:r>
            <a:endParaRPr lang="en-US" sz="2800" b="1" i="1" dirty="0"/>
          </a:p>
          <a:p>
            <a:pPr>
              <a:buFont typeface="Wingdings" pitchFamily="2" charset="2"/>
              <a:buChar char="Ø"/>
            </a:pPr>
            <a:r>
              <a:rPr lang="en-US" sz="2800" b="1" i="1" dirty="0"/>
              <a:t>MOV </a:t>
            </a:r>
            <a:r>
              <a:rPr lang="en-US" sz="2800" b="1" i="1" dirty="0" err="1"/>
              <a:t>ADDR,@Ri</a:t>
            </a:r>
            <a:endParaRPr lang="en-US" sz="2800" b="1" i="1" dirty="0"/>
          </a:p>
          <a:p>
            <a:pPr>
              <a:buFont typeface="Wingdings" pitchFamily="2" charset="2"/>
              <a:buChar char="Ø"/>
            </a:pPr>
            <a:endParaRPr lang="en-US" sz="2800" b="1" i="1" dirty="0"/>
          </a:p>
          <a:p>
            <a:pPr>
              <a:buFontTx/>
              <a:buNone/>
            </a:pPr>
            <a:endParaRPr lang="en-US" sz="2000" b="1" i="1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41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655638"/>
            <a:ext cx="8229600" cy="1143000"/>
          </a:xfrm>
        </p:spPr>
        <p:txBody>
          <a:bodyPr/>
          <a:lstStyle/>
          <a:p>
            <a:r>
              <a:rPr lang="en-US" sz="4000">
                <a:solidFill>
                  <a:schemeClr val="tx1"/>
                </a:solidFill>
              </a:rPr>
              <a:t>Indirect: External RAM</a:t>
            </a:r>
            <a:endParaRPr lang="en-US"/>
          </a:p>
        </p:txBody>
      </p:sp>
      <p:sp>
        <p:nvSpPr>
          <p:cNvPr id="273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676400"/>
            <a:ext cx="8534400" cy="4953000"/>
          </a:xfrm>
        </p:spPr>
        <p:txBody>
          <a:bodyPr/>
          <a:lstStyle/>
          <a:p>
            <a:pPr>
              <a:lnSpc>
                <a:spcPct val="120000"/>
              </a:lnSpc>
              <a:buFontTx/>
              <a:buNone/>
            </a:pPr>
            <a:r>
              <a:rPr lang="en-US" sz="2800"/>
              <a:t>Notes:</a:t>
            </a:r>
          </a:p>
          <a:p>
            <a:pPr>
              <a:lnSpc>
                <a:spcPct val="120000"/>
              </a:lnSpc>
            </a:pPr>
            <a:r>
              <a:rPr lang="en-US" sz="2800"/>
              <a:t>All external data moves must involve A register </a:t>
            </a:r>
          </a:p>
          <a:p>
            <a:pPr>
              <a:lnSpc>
                <a:spcPct val="120000"/>
              </a:lnSpc>
            </a:pPr>
            <a:r>
              <a:rPr lang="en-US" sz="2800"/>
              <a:t>Rp,where p=0/1 can address 256 bytes;</a:t>
            </a:r>
          </a:p>
          <a:p>
            <a:pPr>
              <a:lnSpc>
                <a:spcPct val="120000"/>
              </a:lnSpc>
              <a:buFontTx/>
              <a:buNone/>
            </a:pPr>
            <a:r>
              <a:rPr lang="en-US" sz="2800"/>
              <a:t>   DPTR can address 64K bytes</a:t>
            </a:r>
          </a:p>
          <a:p>
            <a:pPr>
              <a:lnSpc>
                <a:spcPct val="120000"/>
              </a:lnSpc>
            </a:pPr>
            <a:r>
              <a:rPr lang="en-US" sz="2800"/>
              <a:t>MOVX is normally used with external RAM or  I/O address.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9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Indirect : External </a:t>
            </a:r>
          </a:p>
        </p:txBody>
      </p:sp>
      <p:sp>
        <p:nvSpPr>
          <p:cNvPr id="3819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Options:</a:t>
            </a:r>
          </a:p>
          <a:p>
            <a:pPr>
              <a:buFont typeface="Wingdings" pitchFamily="2" charset="2"/>
              <a:buChar char="Ø"/>
            </a:pPr>
            <a:r>
              <a:rPr lang="en-US"/>
              <a:t>MOVX @Rp,A            ;p=0/1</a:t>
            </a:r>
          </a:p>
          <a:p>
            <a:pPr>
              <a:buFont typeface="Wingdings" pitchFamily="2" charset="2"/>
              <a:buChar char="Ø"/>
            </a:pPr>
            <a:r>
              <a:rPr lang="en-US"/>
              <a:t>MOVX A,@Rp	      ;    ”	 </a:t>
            </a:r>
          </a:p>
          <a:p>
            <a:pPr>
              <a:buFont typeface="Wingdings" pitchFamily="2" charset="2"/>
              <a:buChar char="Ø"/>
            </a:pPr>
            <a:r>
              <a:rPr lang="en-US"/>
              <a:t>MOVX @DPTR,A</a:t>
            </a:r>
          </a:p>
          <a:p>
            <a:pPr>
              <a:buFont typeface="Wingdings" pitchFamily="2" charset="2"/>
              <a:buChar char="Ø"/>
            </a:pPr>
            <a:r>
              <a:rPr lang="en-US"/>
              <a:t>MOVX A,@DPTR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506" name="Rectangle 2"/>
          <p:cNvSpPr>
            <a:spLocks noGrp="1" noChangeArrowheads="1"/>
          </p:cNvSpPr>
          <p:nvPr>
            <p:ph type="title"/>
          </p:nvPr>
        </p:nvSpPr>
        <p:spPr>
          <a:xfrm>
            <a:off x="1143000" y="457200"/>
            <a:ext cx="7924800" cy="1143000"/>
          </a:xfrm>
        </p:spPr>
        <p:txBody>
          <a:bodyPr>
            <a:normAutofit fontScale="90000"/>
          </a:bodyPr>
          <a:lstStyle/>
          <a:p>
            <a:br>
              <a:rPr lang="en-US" sz="3600">
                <a:solidFill>
                  <a:schemeClr val="tx1"/>
                </a:solidFill>
              </a:rPr>
            </a:br>
            <a:r>
              <a:rPr lang="en-US" sz="3600">
                <a:solidFill>
                  <a:schemeClr val="tx1"/>
                </a:solidFill>
              </a:rPr>
              <a:t> Indexed Addressing ONLY for:</a:t>
            </a:r>
            <a:br>
              <a:rPr lang="en-US" sz="3600">
                <a:solidFill>
                  <a:schemeClr val="tx1"/>
                </a:solidFill>
              </a:rPr>
            </a:br>
            <a:r>
              <a:rPr lang="en-US" sz="3600">
                <a:solidFill>
                  <a:schemeClr val="tx1"/>
                </a:solidFill>
              </a:rPr>
              <a:t>Code Memory Read</a:t>
            </a:r>
            <a:br>
              <a:rPr lang="en-US" sz="3600">
                <a:solidFill>
                  <a:schemeClr val="tx1"/>
                </a:solidFill>
              </a:rPr>
            </a:br>
            <a:endParaRPr lang="en-US" sz="3600">
              <a:solidFill>
                <a:schemeClr val="tx1"/>
              </a:solidFill>
            </a:endParaRPr>
          </a:p>
        </p:txBody>
      </p:sp>
      <p:sp>
        <p:nvSpPr>
          <p:cNvPr id="277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676400"/>
            <a:ext cx="8077200" cy="35814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en-US" sz="2800" b="1" i="1"/>
              <a:t>Options:</a:t>
            </a:r>
          </a:p>
          <a:p>
            <a:pPr>
              <a:lnSpc>
                <a:spcPct val="120000"/>
              </a:lnSpc>
              <a:buFont typeface="Wingdings" pitchFamily="2" charset="2"/>
              <a:buChar char="Ø"/>
            </a:pPr>
            <a:r>
              <a:rPr lang="en-US" sz="2800" b="1" i="1"/>
              <a:t>MOVC A,@A + DPTR</a:t>
            </a:r>
          </a:p>
          <a:p>
            <a:pPr>
              <a:lnSpc>
                <a:spcPct val="120000"/>
              </a:lnSpc>
              <a:buFont typeface="Wingdings" pitchFamily="2" charset="2"/>
              <a:buChar char="Ø"/>
            </a:pPr>
            <a:r>
              <a:rPr lang="en-US" sz="2800" b="1" i="1"/>
              <a:t>MOVC A,@A + PC</a:t>
            </a:r>
          </a:p>
          <a:p>
            <a:pPr>
              <a:lnSpc>
                <a:spcPct val="120000"/>
              </a:lnSpc>
              <a:buFont typeface="Wingdings" pitchFamily="2" charset="2"/>
              <a:buNone/>
            </a:pPr>
            <a:endParaRPr lang="en-US" sz="2800" b="1" i="1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3276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3429000"/>
            <a:ext cx="9144000" cy="342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289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2971800"/>
            <a:ext cx="9144000" cy="3886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320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980" name="Rectangle 4"/>
          <p:cNvSpPr>
            <a:spLocks noGrp="1" noChangeArrowheads="1"/>
          </p:cNvSpPr>
          <p:nvPr>
            <p:ph type="ctrTitle"/>
          </p:nvPr>
        </p:nvSpPr>
        <p:spPr>
          <a:xfrm>
            <a:off x="609600" y="1905000"/>
            <a:ext cx="7772400" cy="1470025"/>
          </a:xfrm>
        </p:spPr>
        <p:txBody>
          <a:bodyPr/>
          <a:lstStyle/>
          <a:p>
            <a:r>
              <a:rPr lang="en-US"/>
              <a:t>END of ADDRESSING MODES Discussion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8051 Microcontroller Instruction Set Addressing Modes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172" name="Rectangle 4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Data Transfer Instruction Set</a:t>
            </a:r>
          </a:p>
        </p:txBody>
      </p:sp>
      <p:sp>
        <p:nvSpPr>
          <p:cNvPr id="391173" name="Rectangle 5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Continued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60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Push and Pop </a:t>
            </a:r>
            <a:r>
              <a:rPr lang="en-US" dirty="0" err="1">
                <a:solidFill>
                  <a:schemeClr val="tx1"/>
                </a:solidFill>
              </a:rPr>
              <a:t>opcodes</a:t>
            </a:r>
            <a:endParaRPr lang="en-US" dirty="0"/>
          </a:p>
        </p:txBody>
      </p:sp>
      <p:sp>
        <p:nvSpPr>
          <p:cNvPr id="2816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43000"/>
            <a:ext cx="2514600" cy="1447800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20000"/>
              </a:lnSpc>
            </a:pPr>
            <a:r>
              <a:rPr lang="en-US" sz="2800" dirty="0"/>
              <a:t>PUSH </a:t>
            </a:r>
            <a:r>
              <a:rPr lang="en-US" sz="2800" dirty="0" err="1"/>
              <a:t>Addr</a:t>
            </a:r>
            <a:endParaRPr lang="en-US" sz="2800" dirty="0"/>
          </a:p>
          <a:p>
            <a:pPr>
              <a:lnSpc>
                <a:spcPct val="120000"/>
              </a:lnSpc>
            </a:pPr>
            <a:r>
              <a:rPr lang="en-US" sz="2800" dirty="0"/>
              <a:t>POP </a:t>
            </a:r>
            <a:r>
              <a:rPr lang="en-US" sz="2800" dirty="0" err="1"/>
              <a:t>Addr</a:t>
            </a:r>
            <a:endParaRPr lang="en-US" sz="2800" dirty="0"/>
          </a:p>
          <a:p>
            <a:pPr>
              <a:lnSpc>
                <a:spcPct val="120000"/>
              </a:lnSpc>
              <a:buFontTx/>
              <a:buNone/>
            </a:pPr>
            <a:r>
              <a:rPr lang="en-US" sz="2800" dirty="0"/>
              <a:t> </a:t>
            </a:r>
          </a:p>
        </p:txBody>
      </p:sp>
      <p:pic>
        <p:nvPicPr>
          <p:cNvPr id="23554" name="Picture 2" descr="PUSH and POP of Microcontroller 8051 (Example 1) - YouTube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819400" y="1524000"/>
            <a:ext cx="5334000" cy="5029200"/>
          </a:xfrm>
          <a:prstGeom prst="rect">
            <a:avLst/>
          </a:prstGeom>
          <a:noFill/>
        </p:spPr>
      </p:pic>
      <p:sp>
        <p:nvSpPr>
          <p:cNvPr id="23556" name="AutoShape 4" descr="techknow: PUSH and POP operation of stack memory in microcontroller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558" name="AutoShape 6" descr="techknow: PUSH and POP operation of stack memory in microcontroller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560" name="AutoShape 8" descr="techknow: PUSH and POP operation of stack memory in microcontroller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566" name="AutoShape 14" descr="push pop in 8051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AutoShape 2" descr="push pop in 8051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73732" name="Picture 4" descr="push pop in 805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AutoShape 2" descr="techknow: PUSH and POP operation of stack memory in microcontroller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" name="Picture 12" descr="8051 (microcontroller)class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Notes</a:t>
            </a:r>
          </a:p>
        </p:txBody>
      </p:sp>
      <p:sp>
        <p:nvSpPr>
          <p:cNvPr id="2938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When SP reaches FFh, it rolls over to 00h</a:t>
            </a:r>
          </a:p>
          <a:p>
            <a:r>
              <a:rPr lang="en-US"/>
              <a:t>PUSHes above 7Fh result in error</a:t>
            </a:r>
          </a:p>
          <a:p>
            <a:r>
              <a:rPr lang="en-US"/>
              <a:t>Only direct addresses MUST be used as operands</a:t>
            </a:r>
          </a:p>
          <a:p>
            <a:r>
              <a:rPr lang="en-US"/>
              <a:t>But PUSH &amp; POP use indirect addressing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938" name="Rectangle 2"/>
          <p:cNvSpPr>
            <a:spLocks noGrp="1" noChangeArrowheads="1"/>
          </p:cNvSpPr>
          <p:nvPr>
            <p:ph type="title"/>
          </p:nvPr>
        </p:nvSpPr>
        <p:spPr>
          <a:xfrm>
            <a:off x="1143000" y="304800"/>
            <a:ext cx="7848600" cy="1143000"/>
          </a:xfrm>
        </p:spPr>
        <p:txBody>
          <a:bodyPr/>
          <a:lstStyle/>
          <a:p>
            <a:r>
              <a:rPr lang="en-US"/>
              <a:t>Data Exchanges</a:t>
            </a:r>
          </a:p>
        </p:txBody>
      </p:sp>
      <p:sp>
        <p:nvSpPr>
          <p:cNvPr id="2959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1706563"/>
            <a:ext cx="8839200" cy="46482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/>
              <a:t>Move data in two directions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/>
              <a:t>	XCH A, Rn 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/>
              <a:t>	XCH A, addr 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/>
              <a:t>	XCH A,@Ri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/>
              <a:t>	XCHD A, @Ri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986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0" y="685800"/>
            <a:ext cx="8229600" cy="1143000"/>
          </a:xfrm>
        </p:spPr>
        <p:txBody>
          <a:bodyPr/>
          <a:lstStyle/>
          <a:p>
            <a:r>
              <a:rPr lang="en-US"/>
              <a:t>Notes</a:t>
            </a:r>
          </a:p>
        </p:txBody>
      </p:sp>
      <p:sp>
        <p:nvSpPr>
          <p:cNvPr id="2979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0" y="2011363"/>
            <a:ext cx="8229600" cy="4525962"/>
          </a:xfrm>
        </p:spPr>
        <p:txBody>
          <a:bodyPr/>
          <a:lstStyle/>
          <a:p>
            <a:r>
              <a:rPr lang="en-US"/>
              <a:t>All exchanges are internal to 8051</a:t>
            </a:r>
          </a:p>
          <a:p>
            <a:r>
              <a:rPr lang="en-US"/>
              <a:t>All exchanges use register A</a:t>
            </a:r>
          </a:p>
          <a:p>
            <a:r>
              <a:rPr lang="en-US"/>
              <a:t>When using XCHD, the upper nibbles are not exchanged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1758</TotalTime>
  <Words>584</Words>
  <Application>Microsoft Office PowerPoint</Application>
  <PresentationFormat>On-screen Show (4:3)</PresentationFormat>
  <Paragraphs>116</Paragraphs>
  <Slides>28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2" baseType="lpstr">
      <vt:lpstr>Arial</vt:lpstr>
      <vt:lpstr>Calibri</vt:lpstr>
      <vt:lpstr>Wingdings</vt:lpstr>
      <vt:lpstr>Office Theme</vt:lpstr>
      <vt:lpstr>Instruction Set  &amp; Programming</vt:lpstr>
      <vt:lpstr> 5 Addressing Modes</vt:lpstr>
      <vt:lpstr>PowerPoint Presentation</vt:lpstr>
      <vt:lpstr>Categories/groups of Instructions</vt:lpstr>
      <vt:lpstr>Understanding Addressing Modes using MOV instruction</vt:lpstr>
      <vt:lpstr>Immediate addressing </vt:lpstr>
      <vt:lpstr>PowerPoint Presentation</vt:lpstr>
      <vt:lpstr>Register Addressing mode </vt:lpstr>
      <vt:lpstr>PowerPoint Presentation</vt:lpstr>
      <vt:lpstr>Direct Addressing</vt:lpstr>
      <vt:lpstr>Indirect Addressing </vt:lpstr>
      <vt:lpstr>Indirect : Internal RAM</vt:lpstr>
      <vt:lpstr>Indirect: External RAM</vt:lpstr>
      <vt:lpstr>Indirect : External </vt:lpstr>
      <vt:lpstr>  Indexed Addressing ONLY for: Code Memory Read </vt:lpstr>
      <vt:lpstr>PowerPoint Presentation</vt:lpstr>
      <vt:lpstr>PowerPoint Presentation</vt:lpstr>
      <vt:lpstr>PowerPoint Presentation</vt:lpstr>
      <vt:lpstr>PowerPoint Presentation</vt:lpstr>
      <vt:lpstr>END of ADDRESSING MODES Discussion</vt:lpstr>
      <vt:lpstr>PowerPoint Presentation</vt:lpstr>
      <vt:lpstr>Data Transfer Instruction Set</vt:lpstr>
      <vt:lpstr>Push and Pop opcodes</vt:lpstr>
      <vt:lpstr>PowerPoint Presentation</vt:lpstr>
      <vt:lpstr>PowerPoint Presentation</vt:lpstr>
      <vt:lpstr>Notes</vt:lpstr>
      <vt:lpstr>Data Exchanges</vt:lpstr>
      <vt:lpstr>Notes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shashank</dc:creator>
  <cp:lastModifiedBy>Chandramouli</cp:lastModifiedBy>
  <cp:revision>12</cp:revision>
  <dcterms:created xsi:type="dcterms:W3CDTF">2006-08-16T00:00:00Z</dcterms:created>
  <dcterms:modified xsi:type="dcterms:W3CDTF">2024-04-25T07:12:05Z</dcterms:modified>
</cp:coreProperties>
</file>