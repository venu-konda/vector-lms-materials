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8"/>
  </p:notesMasterIdLst>
  <p:sldIdLst>
    <p:sldId id="359" r:id="rId2"/>
    <p:sldId id="358" r:id="rId3"/>
    <p:sldId id="348" r:id="rId4"/>
    <p:sldId id="349" r:id="rId5"/>
    <p:sldId id="289" r:id="rId6"/>
    <p:sldId id="35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06:58:29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24575,'1736'0'0,"-1677"-4"-1365,-31-2-5461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4T06:58:33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24575,'858'0'0,"-809"-2"0,50-9 0,38-2 0,632 11 0,-372 4 0,135-2-1365,-504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6BDF0-D227-4509-9039-D2CAC1DC8D9E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0B709-1678-48A7-A7F1-19B1A278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58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9FDF420A-74C8-6DBE-B8A5-9DBF845E87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9C28E5F-2BD9-4F51-BC23-18FB1F4F472E}" type="slidenum">
              <a:rPr lang="en-US" altLang="en-US" sz="1200">
                <a:latin typeface="Arial" panose="020B0604020202020204" pitchFamily="34" charset="0"/>
              </a:rPr>
              <a:pPr eaLnBrk="1" hangingPunct="1"/>
              <a:t>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CCB61FD-133F-F305-9808-2A6F2ACFDA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47DAC71-A686-5F0B-AF7E-7861973AD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397D2-3D22-4A8E-9C63-6E0AB93A2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03594-5B53-472C-8D8A-0E7F5FFF0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FEA7A-31C2-42F9-81C5-5222D87E1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0C902-3550-4F8D-8478-64EEDB183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F7AF-A16A-408E-B35F-5BCE70BD9B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26C0F-1242-45D1-8C68-DF6993B52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FEEC3-0B4E-4698-9802-BEA197FAE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76833-FCBD-487B-85BD-6C5462FD8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F01CE-10FD-47B9-8D77-55B54B5D5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70320-E3DD-4098-B0FC-73570C9CD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296B5-4E9E-4963-A364-77FCE1360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+mn-lt"/>
              </a:defRPr>
            </a:lvl1pPr>
          </a:lstStyle>
          <a:p>
            <a:pPr>
              <a:defRPr/>
            </a:pPr>
            <a:fld id="{A660CA4A-5A03-435B-9C6C-B844472819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82936-D270-EB3F-FE8D-892CD1B9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4CD3D-3B49-B0A9-A997-F934D322B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Reset circuit: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Two types:</a:t>
            </a:r>
          </a:p>
          <a:p>
            <a:pPr marL="457200" indent="-457200"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Active high reset circuit (RST/RESET)</a:t>
            </a:r>
          </a:p>
          <a:p>
            <a:pPr marL="457200" indent="-457200">
              <a:buAutoNum type="arabicParenR"/>
            </a:pPr>
            <a:r>
              <a:rPr lang="en-US" sz="2800" dirty="0">
                <a:solidFill>
                  <a:srgbClr val="FF0000"/>
                </a:solidFill>
              </a:rPr>
              <a:t>Active low reset circuit (RST/RESET)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7AE8A4-8419-1AE9-6794-490CBE0F0446}"/>
                  </a:ext>
                </a:extLst>
              </p14:cNvPr>
              <p14:cNvContentPartPr/>
              <p14:nvPr/>
            </p14:nvContentPartPr>
            <p14:xfrm>
              <a:off x="4776862" y="3270953"/>
              <a:ext cx="656640" cy="3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7AE8A4-8419-1AE9-6794-490CBE0F04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8222" y="3262313"/>
                <a:ext cx="6742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9C91FA-7DDD-9750-9321-D26D15269F5B}"/>
                  </a:ext>
                </a:extLst>
              </p14:cNvPr>
              <p14:cNvContentPartPr/>
              <p14:nvPr/>
            </p14:nvContentPartPr>
            <p14:xfrm>
              <a:off x="5645645" y="3270953"/>
              <a:ext cx="1033200" cy="1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9C91FA-7DDD-9750-9321-D26D15269F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7005" y="3261953"/>
                <a:ext cx="1050840" cy="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918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969C-FED0-C953-BDF7-F36F8BC8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on reset circuit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1F16AD-3509-D001-1464-4004960C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524000"/>
            <a:ext cx="3282949" cy="3581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D38281-6EE7-A4CE-EFFD-823546D1D15F}"/>
              </a:ext>
            </a:extLst>
          </p:cNvPr>
          <p:cNvSpPr txBox="1"/>
          <p:nvPr/>
        </p:nvSpPr>
        <p:spPr>
          <a:xfrm>
            <a:off x="152400" y="5383033"/>
            <a:ext cx="883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</a:rPr>
              <a:t>In order to reset the controller, minimum two machine cycles time is required.</a:t>
            </a:r>
          </a:p>
          <a:p>
            <a:r>
              <a:rPr lang="en-IN" sz="1800" dirty="0">
                <a:solidFill>
                  <a:srgbClr val="FF0000"/>
                </a:solidFill>
              </a:rPr>
              <a:t>If 12MHZ crystal oscillator is connected, 1MC will take 1 micro second</a:t>
            </a:r>
          </a:p>
          <a:p>
            <a:r>
              <a:rPr lang="en-IN" sz="1800" dirty="0">
                <a:solidFill>
                  <a:srgbClr val="00B050"/>
                </a:solidFill>
              </a:rPr>
              <a:t>i.e. minimum 2 microseconds time is required to reset the controller.</a:t>
            </a:r>
            <a:endParaRPr lang="en-US" sz="1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328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A2ACE2D-5EBE-2923-0320-B54CB1F64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Power on reset circuit with  switch for run time reset</a:t>
            </a:r>
          </a:p>
        </p:txBody>
      </p:sp>
      <p:pic>
        <p:nvPicPr>
          <p:cNvPr id="9219" name="Picture 4">
            <a:extLst>
              <a:ext uri="{FF2B5EF4-FFF2-40B4-BE49-F238E27FC236}">
                <a16:creationId xmlns:a16="http://schemas.microsoft.com/office/drawing/2014/main" id="{B0C4C293-2581-56E7-F25B-A529CE878889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1436299"/>
            <a:ext cx="4191000" cy="4572000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2C2E040A-5259-1EF9-0BB0-EA049B486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CRYSTAL CKT</a:t>
            </a:r>
            <a:r>
              <a:rPr lang="en-US" altLang="en-US"/>
              <a:t> </a:t>
            </a:r>
          </a:p>
        </p:txBody>
      </p:sp>
      <p:pic>
        <p:nvPicPr>
          <p:cNvPr id="10243" name="Picture 5">
            <a:extLst>
              <a:ext uri="{FF2B5EF4-FFF2-40B4-BE49-F238E27FC236}">
                <a16:creationId xmlns:a16="http://schemas.microsoft.com/office/drawing/2014/main" id="{5FB080C1-A36B-C143-3504-CBD650186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066800"/>
            <a:ext cx="4953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2E84D0-0F7D-386B-24B9-4E59318BCE73}"/>
              </a:ext>
            </a:extLst>
          </p:cNvPr>
          <p:cNvSpPr txBox="1"/>
          <p:nvPr/>
        </p:nvSpPr>
        <p:spPr>
          <a:xfrm>
            <a:off x="266700" y="5410200"/>
            <a:ext cx="8610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C1, C2 = 30 pF ± 10 pF for Crystals (in between 20pF to 40pF)</a:t>
            </a:r>
          </a:p>
          <a:p>
            <a:r>
              <a:rPr lang="en-IN" dirty="0"/>
              <a:t>          = 40 pF ± 10 pF for Ceramic Resonators (in between 30pF to 50pF)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FD96F0CF-41CD-DABD-C691-2826DC960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63" y="6477000"/>
            <a:ext cx="312737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www.vectorindia.org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D3A894F-F109-DD72-C3A4-F82BF5631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609600"/>
            <a:ext cx="51292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7625" tIns="19050" rIns="47625" bIns="1905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4400">
                <a:latin typeface="Arial" panose="020B0604020202020204" pitchFamily="34" charset="0"/>
              </a:rPr>
              <a:t>8051 Block Diagram</a:t>
            </a:r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CB0B0DEB-2D31-3568-DAAD-59ECE1C90698}"/>
              </a:ext>
            </a:extLst>
          </p:cNvPr>
          <p:cNvGrpSpPr>
            <a:grpSpLocks/>
          </p:cNvGrpSpPr>
          <p:nvPr/>
        </p:nvGrpSpPr>
        <p:grpSpPr bwMode="auto">
          <a:xfrm>
            <a:off x="941388" y="1476375"/>
            <a:ext cx="8170862" cy="4768850"/>
            <a:chOff x="449" y="650"/>
            <a:chExt cx="5147" cy="3004"/>
          </a:xfrm>
        </p:grpSpPr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8DAC71EA-0B78-2A38-1D59-39F45AD5D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" y="960"/>
              <a:ext cx="6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Interrupt</a:t>
              </a:r>
            </a:p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 Control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1270" name="Rectangle 6">
              <a:extLst>
                <a:ext uri="{FF2B5EF4-FFF2-40B4-BE49-F238E27FC236}">
                  <a16:creationId xmlns:a16="http://schemas.microsoft.com/office/drawing/2014/main" id="{60832FC6-EA5D-651A-670C-1A828C646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" y="650"/>
              <a:ext cx="1519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600" b="1">
                  <a:latin typeface="Times New Roman" panose="02020603050405020304" pitchFamily="18" charset="0"/>
                </a:rPr>
                <a:t>External Interrupts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11271" name="Line 7">
              <a:extLst>
                <a:ext uri="{FF2B5EF4-FFF2-40B4-BE49-F238E27FC236}">
                  <a16:creationId xmlns:a16="http://schemas.microsoft.com/office/drawing/2014/main" id="{CC939E67-657B-6A55-C54B-883B274A5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" y="717"/>
              <a:ext cx="0" cy="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2" name="Line 8">
              <a:extLst>
                <a:ext uri="{FF2B5EF4-FFF2-40B4-BE49-F238E27FC236}">
                  <a16:creationId xmlns:a16="http://schemas.microsoft.com/office/drawing/2014/main" id="{3C4C6651-205D-4E8B-AAD0-683854E506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7" y="709"/>
              <a:ext cx="0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2AB89CD9-1C88-1024-5151-1475C5B51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" y="1703"/>
              <a:ext cx="43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600" b="1">
                  <a:latin typeface="Times New Roman" panose="02020603050405020304" pitchFamily="18" charset="0"/>
                </a:rPr>
                <a:t>CPU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11274" name="Rectangle 10">
              <a:extLst>
                <a:ext uri="{FF2B5EF4-FFF2-40B4-BE49-F238E27FC236}">
                  <a16:creationId xmlns:a16="http://schemas.microsoft.com/office/drawing/2014/main" id="{3DEAE766-1F25-E374-F6EF-04053EC97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358"/>
              <a:ext cx="430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600" b="1">
                  <a:latin typeface="Times New Roman" panose="02020603050405020304" pitchFamily="18" charset="0"/>
                </a:rPr>
                <a:t>OSC</a:t>
              </a:r>
            </a:p>
          </p:txBody>
        </p:sp>
        <p:sp>
          <p:nvSpPr>
            <p:cNvPr id="11275" name="Rectangle 11">
              <a:extLst>
                <a:ext uri="{FF2B5EF4-FFF2-40B4-BE49-F238E27FC236}">
                  <a16:creationId xmlns:a16="http://schemas.microsoft.com/office/drawing/2014/main" id="{44507BE3-FA58-9630-0903-4A58A3CA6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975"/>
              <a:ext cx="590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Timer 1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E54CA8AA-02A8-50B6-AA6A-5FBCA0BD2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1151"/>
              <a:ext cx="59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Timer 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1277" name="Line 13">
              <a:extLst>
                <a:ext uri="{FF2B5EF4-FFF2-40B4-BE49-F238E27FC236}">
                  <a16:creationId xmlns:a16="http://schemas.microsoft.com/office/drawing/2014/main" id="{D1496821-E558-7517-F614-0B2E5A3DB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2" y="1129"/>
              <a:ext cx="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8" name="Rectangle 14">
              <a:extLst>
                <a:ext uri="{FF2B5EF4-FFF2-40B4-BE49-F238E27FC236}">
                  <a16:creationId xmlns:a16="http://schemas.microsoft.com/office/drawing/2014/main" id="{DF00057C-8AD1-ED28-AD88-A8F5E6919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10"/>
              <a:ext cx="45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Serial</a:t>
              </a:r>
            </a:p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Port</a:t>
              </a:r>
            </a:p>
          </p:txBody>
        </p:sp>
        <p:sp>
          <p:nvSpPr>
            <p:cNvPr id="11279" name="Rectangle 15">
              <a:extLst>
                <a:ext uri="{FF2B5EF4-FFF2-40B4-BE49-F238E27FC236}">
                  <a16:creationId xmlns:a16="http://schemas.microsoft.com/office/drawing/2014/main" id="{BF47EE95-09AE-76E1-5D44-B97CF2165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352"/>
              <a:ext cx="673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I/O Ports</a:t>
              </a:r>
            </a:p>
          </p:txBody>
        </p:sp>
        <p:sp>
          <p:nvSpPr>
            <p:cNvPr id="11280" name="Rectangle 16">
              <a:extLst>
                <a:ext uri="{FF2B5EF4-FFF2-40B4-BE49-F238E27FC236}">
                  <a16:creationId xmlns:a16="http://schemas.microsoft.com/office/drawing/2014/main" id="{1B3AC0FF-8783-B019-B4A2-FD45C4911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2310"/>
              <a:ext cx="578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Bus</a:t>
              </a:r>
            </a:p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Control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11281" name="Line 17">
              <a:extLst>
                <a:ext uri="{FF2B5EF4-FFF2-40B4-BE49-F238E27FC236}">
                  <a16:creationId xmlns:a16="http://schemas.microsoft.com/office/drawing/2014/main" id="{F0E6D73C-E5DB-23E1-5A63-8624956F2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6" y="1217"/>
              <a:ext cx="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2" name="Rectangle 18">
              <a:extLst>
                <a:ext uri="{FF2B5EF4-FFF2-40B4-BE49-F238E27FC236}">
                  <a16:creationId xmlns:a16="http://schemas.microsoft.com/office/drawing/2014/main" id="{1F5F093E-A343-9001-A01D-A19536021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" y="960"/>
              <a:ext cx="687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2000"/>
                </a:lnSpc>
              </a:pPr>
              <a:r>
                <a:rPr lang="en-US" altLang="en-US" sz="1600" b="1">
                  <a:latin typeface="Times New Roman" panose="02020603050405020304" pitchFamily="18" charset="0"/>
                </a:rPr>
                <a:t>Counter</a:t>
              </a:r>
            </a:p>
            <a:p>
              <a:pPr>
                <a:lnSpc>
                  <a:spcPct val="102000"/>
                </a:lnSpc>
              </a:pPr>
              <a:r>
                <a:rPr lang="en-US" altLang="en-US" sz="1600" b="1">
                  <a:latin typeface="Times New Roman" panose="02020603050405020304" pitchFamily="18" charset="0"/>
                </a:rPr>
                <a:t>Inputs</a:t>
              </a:r>
            </a:p>
          </p:txBody>
        </p:sp>
        <p:sp>
          <p:nvSpPr>
            <p:cNvPr id="11283" name="Rectangle 19">
              <a:extLst>
                <a:ext uri="{FF2B5EF4-FFF2-40B4-BE49-F238E27FC236}">
                  <a16:creationId xmlns:a16="http://schemas.microsoft.com/office/drawing/2014/main" id="{808BB446-1C6F-0177-26D0-189FBD4C2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3302"/>
              <a:ext cx="24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11284" name="Rectangle 20">
              <a:extLst>
                <a:ext uri="{FF2B5EF4-FFF2-40B4-BE49-F238E27FC236}">
                  <a16:creationId xmlns:a16="http://schemas.microsoft.com/office/drawing/2014/main" id="{E1E53CDB-B5D0-C0D9-3C78-60376D7D8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" y="3302"/>
              <a:ext cx="24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P3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11285" name="Rectangle 21">
              <a:extLst>
                <a:ext uri="{FF2B5EF4-FFF2-40B4-BE49-F238E27FC236}">
                  <a16:creationId xmlns:a16="http://schemas.microsoft.com/office/drawing/2014/main" id="{4E1CEAC9-FCDC-E6EF-85B0-CCB6431C6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3302"/>
              <a:ext cx="24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P1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11286" name="Line 22">
              <a:extLst>
                <a:ext uri="{FF2B5EF4-FFF2-40B4-BE49-F238E27FC236}">
                  <a16:creationId xmlns:a16="http://schemas.microsoft.com/office/drawing/2014/main" id="{79F41EC4-164B-0BFA-7B64-D14B0970F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" y="2628"/>
              <a:ext cx="0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7" name="Line 23">
              <a:extLst>
                <a:ext uri="{FF2B5EF4-FFF2-40B4-BE49-F238E27FC236}">
                  <a16:creationId xmlns:a16="http://schemas.microsoft.com/office/drawing/2014/main" id="{3585ACEA-6CAB-813E-85B1-C710E9895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" y="284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8" name="Line 24">
              <a:extLst>
                <a:ext uri="{FF2B5EF4-FFF2-40B4-BE49-F238E27FC236}">
                  <a16:creationId xmlns:a16="http://schemas.microsoft.com/office/drawing/2014/main" id="{4564F46D-DC86-A451-C135-23B0492F2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" y="2876"/>
              <a:ext cx="0" cy="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9" name="Line 25">
              <a:extLst>
                <a:ext uri="{FF2B5EF4-FFF2-40B4-BE49-F238E27FC236}">
                  <a16:creationId xmlns:a16="http://schemas.microsoft.com/office/drawing/2014/main" id="{31967259-BEA5-039B-178F-4F00A7204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" y="2984"/>
              <a:ext cx="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0" name="Line 26">
              <a:extLst>
                <a:ext uri="{FF2B5EF4-FFF2-40B4-BE49-F238E27FC236}">
                  <a16:creationId xmlns:a16="http://schemas.microsoft.com/office/drawing/2014/main" id="{BC4701B0-C380-78CA-4B70-2AB2F2127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" y="2856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1" name="Line 27">
              <a:extLst>
                <a:ext uri="{FF2B5EF4-FFF2-40B4-BE49-F238E27FC236}">
                  <a16:creationId xmlns:a16="http://schemas.microsoft.com/office/drawing/2014/main" id="{284E802A-AEDA-6F75-C8DC-8884761D4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" y="2880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2" name="Rectangle 28">
              <a:extLst>
                <a:ext uri="{FF2B5EF4-FFF2-40B4-BE49-F238E27FC236}">
                  <a16:creationId xmlns:a16="http://schemas.microsoft.com/office/drawing/2014/main" id="{10A861E6-9ADC-DFFC-7A7F-E852F0EC3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2" y="999"/>
              <a:ext cx="548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4k byte</a:t>
              </a:r>
            </a:p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ROM</a:t>
              </a:r>
              <a:endParaRPr lang="en-US" altLang="en-US" sz="1200">
                <a:latin typeface="Times New Roman" panose="02020603050405020304" pitchFamily="18" charset="0"/>
              </a:endParaRPr>
            </a:p>
          </p:txBody>
        </p:sp>
        <p:sp>
          <p:nvSpPr>
            <p:cNvPr id="11293" name="Rectangle 29">
              <a:extLst>
                <a:ext uri="{FF2B5EF4-FFF2-40B4-BE49-F238E27FC236}">
                  <a16:creationId xmlns:a16="http://schemas.microsoft.com/office/drawing/2014/main" id="{1AD2A77E-0392-0078-6F1A-7B727C0EB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1007"/>
              <a:ext cx="615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128 byte</a:t>
              </a:r>
            </a:p>
            <a:p>
              <a:pPr algn="ctr">
                <a:lnSpc>
                  <a:spcPct val="102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RAM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1294" name="Rectangle 30">
              <a:extLst>
                <a:ext uri="{FF2B5EF4-FFF2-40B4-BE49-F238E27FC236}">
                  <a16:creationId xmlns:a16="http://schemas.microsoft.com/office/drawing/2014/main" id="{EB16B27A-98BD-0C6A-A443-F24A1A2BB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" y="3302"/>
              <a:ext cx="24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P2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1295" name="Rectangle 31">
              <a:extLst>
                <a:ext uri="{FF2B5EF4-FFF2-40B4-BE49-F238E27FC236}">
                  <a16:creationId xmlns:a16="http://schemas.microsoft.com/office/drawing/2014/main" id="{38BFE077-A5B6-0DEB-DE3D-9BA71CC4C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504"/>
              <a:ext cx="1553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en-US" altLang="en-US" sz="1400">
                  <a:latin typeface="Times New Roman" panose="02020603050405020304" pitchFamily="18" charset="0"/>
                </a:rPr>
                <a:t> </a:t>
              </a:r>
              <a:r>
                <a:rPr lang="en-US" altLang="en-US" sz="1600" b="1">
                  <a:latin typeface="Bookman Old Style" panose="02050604050505020204" pitchFamily="18" charset="0"/>
                </a:rPr>
                <a:t>(Address / Data)</a:t>
              </a:r>
              <a:endParaRPr lang="en-US" altLang="en-US" sz="1600">
                <a:latin typeface="Bookman Old Style" panose="02050604050505020204" pitchFamily="18" charset="0"/>
              </a:endParaRPr>
            </a:p>
          </p:txBody>
        </p:sp>
        <p:sp>
          <p:nvSpPr>
            <p:cNvPr id="11296" name="Rectangle 32">
              <a:extLst>
                <a:ext uri="{FF2B5EF4-FFF2-40B4-BE49-F238E27FC236}">
                  <a16:creationId xmlns:a16="http://schemas.microsoft.com/office/drawing/2014/main" id="{091ECF4B-26A4-3240-7127-E8AE7DC55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5" y="2878"/>
              <a:ext cx="39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TXD</a:t>
              </a:r>
            </a:p>
          </p:txBody>
        </p:sp>
        <p:sp>
          <p:nvSpPr>
            <p:cNvPr id="11297" name="Rectangle 33">
              <a:extLst>
                <a:ext uri="{FF2B5EF4-FFF2-40B4-BE49-F238E27FC236}">
                  <a16:creationId xmlns:a16="http://schemas.microsoft.com/office/drawing/2014/main" id="{ECDDF0EF-FDA8-5719-0A71-62ECA3895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" y="2878"/>
              <a:ext cx="40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7625" tIns="19050" rIns="47625" bIns="1905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06000"/>
                </a:lnSpc>
              </a:pPr>
              <a:r>
                <a:rPr lang="en-US" altLang="en-US" sz="1400" b="1">
                  <a:latin typeface="Times New Roman" panose="02020603050405020304" pitchFamily="18" charset="0"/>
                </a:rPr>
                <a:t>RXD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1298" name="Line 34">
              <a:extLst>
                <a:ext uri="{FF2B5EF4-FFF2-40B4-BE49-F238E27FC236}">
                  <a16:creationId xmlns:a16="http://schemas.microsoft.com/office/drawing/2014/main" id="{7C5E0CB8-27A4-1876-C581-2F50D01B1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6" y="1041"/>
              <a:ext cx="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9" name="Rectangle 35">
              <a:extLst>
                <a:ext uri="{FF2B5EF4-FFF2-40B4-BE49-F238E27FC236}">
                  <a16:creationId xmlns:a16="http://schemas.microsoft.com/office/drawing/2014/main" id="{25264D6F-D245-24EC-2C7C-DB3B4ADFB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" y="2700"/>
              <a:ext cx="24" cy="1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300" name="Line 36">
              <a:extLst>
                <a:ext uri="{FF2B5EF4-FFF2-40B4-BE49-F238E27FC236}">
                  <a16:creationId xmlns:a16="http://schemas.microsoft.com/office/drawing/2014/main" id="{63D5C8AE-9E8F-1E1E-298A-0EDD03288B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3" y="2692"/>
              <a:ext cx="0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01" name="Line 37">
              <a:extLst>
                <a:ext uri="{FF2B5EF4-FFF2-40B4-BE49-F238E27FC236}">
                  <a16:creationId xmlns:a16="http://schemas.microsoft.com/office/drawing/2014/main" id="{3BD030EA-9F18-1428-4D9B-C8933815B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3" y="2692"/>
              <a:ext cx="0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02" name="Line 38">
              <a:extLst>
                <a:ext uri="{FF2B5EF4-FFF2-40B4-BE49-F238E27FC236}">
                  <a16:creationId xmlns:a16="http://schemas.microsoft.com/office/drawing/2014/main" id="{4A5E6F9A-90E4-93FD-8BD5-E3AD2D884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" y="2960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03" name="Line 39">
              <a:extLst>
                <a:ext uri="{FF2B5EF4-FFF2-40B4-BE49-F238E27FC236}">
                  <a16:creationId xmlns:a16="http://schemas.microsoft.com/office/drawing/2014/main" id="{4F3D0582-55BD-3E9C-C6AD-A473ECD72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7" y="3008"/>
              <a:ext cx="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11304" name="Group 40">
              <a:extLst>
                <a:ext uri="{FF2B5EF4-FFF2-40B4-BE49-F238E27FC236}">
                  <a16:creationId xmlns:a16="http://schemas.microsoft.com/office/drawing/2014/main" id="{7F2EB061-3AA5-49D0-0FA9-90B85F1BD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3" y="949"/>
              <a:ext cx="4063" cy="2339"/>
              <a:chOff x="493" y="949"/>
              <a:chExt cx="4063" cy="2339"/>
            </a:xfrm>
          </p:grpSpPr>
          <p:sp>
            <p:nvSpPr>
              <p:cNvPr id="11306" name="Line 41">
                <a:extLst>
                  <a:ext uri="{FF2B5EF4-FFF2-40B4-BE49-F238E27FC236}">
                    <a16:creationId xmlns:a16="http://schemas.microsoft.com/office/drawing/2014/main" id="{68FA5111-510A-7553-9D08-1C1E6A89E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" y="2960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307" name="Line 42">
                <a:extLst>
                  <a:ext uri="{FF2B5EF4-FFF2-40B4-BE49-F238E27FC236}">
                    <a16:creationId xmlns:a16="http://schemas.microsoft.com/office/drawing/2014/main" id="{6F9FD806-44C5-716C-21BD-BC5D5CB78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1" y="3008"/>
                <a:ext cx="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308" name="Line 43">
                <a:extLst>
                  <a:ext uri="{FF2B5EF4-FFF2-40B4-BE49-F238E27FC236}">
                    <a16:creationId xmlns:a16="http://schemas.microsoft.com/office/drawing/2014/main" id="{5B20A614-343C-BEDB-B6BA-2CB240B8F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984"/>
                <a:ext cx="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grpSp>
            <p:nvGrpSpPr>
              <p:cNvPr id="11309" name="Group 44">
                <a:extLst>
                  <a:ext uri="{FF2B5EF4-FFF2-40B4-BE49-F238E27FC236}">
                    <a16:creationId xmlns:a16="http://schemas.microsoft.com/office/drawing/2014/main" id="{086847D3-6C76-3146-D74C-BB328A4F1E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3" y="949"/>
                <a:ext cx="4063" cy="2339"/>
                <a:chOff x="493" y="949"/>
                <a:chExt cx="4063" cy="2339"/>
              </a:xfrm>
            </p:grpSpPr>
            <p:sp>
              <p:nvSpPr>
                <p:cNvPr id="11310" name="Line 45">
                  <a:extLst>
                    <a:ext uri="{FF2B5EF4-FFF2-40B4-BE49-F238E27FC236}">
                      <a16:creationId xmlns:a16="http://schemas.microsoft.com/office/drawing/2014/main" id="{398593A9-F0C9-B4CD-A5D9-2ED9C40EEA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2" y="1321"/>
                  <a:ext cx="0" cy="919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11" name="Rectangle 46">
                  <a:extLst>
                    <a:ext uri="{FF2B5EF4-FFF2-40B4-BE49-F238E27FC236}">
                      <a16:creationId xmlns:a16="http://schemas.microsoft.com/office/drawing/2014/main" id="{0D1B7580-50E4-0A88-14F2-BCB07D3D8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" y="949"/>
                  <a:ext cx="808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12" name="Rectangle 47">
                  <a:extLst>
                    <a:ext uri="{FF2B5EF4-FFF2-40B4-BE49-F238E27FC236}">
                      <a16:creationId xmlns:a16="http://schemas.microsoft.com/office/drawing/2014/main" id="{5E59232D-0F1E-E194-AAE1-C0D855AD2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7" y="949"/>
                  <a:ext cx="504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13" name="Line 48">
                  <a:extLst>
                    <a:ext uri="{FF2B5EF4-FFF2-40B4-BE49-F238E27FC236}">
                      <a16:creationId xmlns:a16="http://schemas.microsoft.com/office/drawing/2014/main" id="{F06AAA2D-4AC7-84C0-F582-090D5ED4F6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3" y="1325"/>
                  <a:ext cx="0" cy="2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14" name="Rectangle 49">
                  <a:extLst>
                    <a:ext uri="{FF2B5EF4-FFF2-40B4-BE49-F238E27FC236}">
                      <a16:creationId xmlns:a16="http://schemas.microsoft.com/office/drawing/2014/main" id="{4A8B75B0-BC27-E825-4AD0-96B815BC83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1" y="1589"/>
                  <a:ext cx="504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15" name="Rectangle 50">
                  <a:extLst>
                    <a:ext uri="{FF2B5EF4-FFF2-40B4-BE49-F238E27FC236}">
                      <a16:creationId xmlns:a16="http://schemas.microsoft.com/office/drawing/2014/main" id="{F1DE85F9-AE75-4596-DD3F-B3020A64E8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1" y="2260"/>
                  <a:ext cx="504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16" name="Line 51">
                  <a:extLst>
                    <a:ext uri="{FF2B5EF4-FFF2-40B4-BE49-F238E27FC236}">
                      <a16:creationId xmlns:a16="http://schemas.microsoft.com/office/drawing/2014/main" id="{CEF4ABCA-7651-60FF-B743-0D6DA945D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01" y="1941"/>
                  <a:ext cx="0" cy="31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17" name="Rectangle 52">
                  <a:extLst>
                    <a:ext uri="{FF2B5EF4-FFF2-40B4-BE49-F238E27FC236}">
                      <a16:creationId xmlns:a16="http://schemas.microsoft.com/office/drawing/2014/main" id="{E95C0CF6-D781-1BDC-C788-F6AD5715A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7" y="2260"/>
                  <a:ext cx="504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18" name="Rectangle 53">
                  <a:extLst>
                    <a:ext uri="{FF2B5EF4-FFF2-40B4-BE49-F238E27FC236}">
                      <a16:creationId xmlns:a16="http://schemas.microsoft.com/office/drawing/2014/main" id="{17A0F96A-899F-4DE1-879B-69C5E4076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2" y="2260"/>
                  <a:ext cx="504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19" name="Rectangle 54">
                  <a:extLst>
                    <a:ext uri="{FF2B5EF4-FFF2-40B4-BE49-F238E27FC236}">
                      <a16:creationId xmlns:a16="http://schemas.microsoft.com/office/drawing/2014/main" id="{6D6A3DE8-4DA3-C05F-8794-1E7509FBA1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2" y="949"/>
                  <a:ext cx="504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20" name="Rectangle 55">
                  <a:extLst>
                    <a:ext uri="{FF2B5EF4-FFF2-40B4-BE49-F238E27FC236}">
                      <a16:creationId xmlns:a16="http://schemas.microsoft.com/office/drawing/2014/main" id="{5A92B096-9DC9-2405-E2A6-E32277487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6" y="949"/>
                  <a:ext cx="504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21" name="Line 56">
                  <a:extLst>
                    <a:ext uri="{FF2B5EF4-FFF2-40B4-BE49-F238E27FC236}">
                      <a16:creationId xmlns:a16="http://schemas.microsoft.com/office/drawing/2014/main" id="{4A23F3CB-E5F8-952D-9CDF-85FCFD55B7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9" y="2628"/>
                  <a:ext cx="0" cy="2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2" name="Line 57">
                  <a:extLst>
                    <a:ext uri="{FF2B5EF4-FFF2-40B4-BE49-F238E27FC236}">
                      <a16:creationId xmlns:a16="http://schemas.microsoft.com/office/drawing/2014/main" id="{793218C1-8A32-D459-8E27-D4472A2E3E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61" y="2628"/>
                  <a:ext cx="0" cy="2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3" name="Line 58">
                  <a:extLst>
                    <a:ext uri="{FF2B5EF4-FFF2-40B4-BE49-F238E27FC236}">
                      <a16:creationId xmlns:a16="http://schemas.microsoft.com/office/drawing/2014/main" id="{8945EBF9-D1F7-EB09-CE23-DECBDC6DE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8" y="1321"/>
                  <a:ext cx="0" cy="927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4" name="Line 59">
                  <a:extLst>
                    <a:ext uri="{FF2B5EF4-FFF2-40B4-BE49-F238E27FC236}">
                      <a16:creationId xmlns:a16="http://schemas.microsoft.com/office/drawing/2014/main" id="{008CA36D-CC6D-7E21-6642-21020FAFB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0" y="2632"/>
                  <a:ext cx="0" cy="656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5" name="Line 60">
                  <a:extLst>
                    <a:ext uri="{FF2B5EF4-FFF2-40B4-BE49-F238E27FC236}">
                      <a16:creationId xmlns:a16="http://schemas.microsoft.com/office/drawing/2014/main" id="{59FC88C9-7563-6D2A-2896-BA44D4BC7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3" y="1769"/>
                  <a:ext cx="3183" cy="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6" name="Line 61">
                  <a:extLst>
                    <a:ext uri="{FF2B5EF4-FFF2-40B4-BE49-F238E27FC236}">
                      <a16:creationId xmlns:a16="http://schemas.microsoft.com/office/drawing/2014/main" id="{BBDD3C25-675D-BB8D-7590-BB234240A0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9" y="1329"/>
                  <a:ext cx="0" cy="911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7" name="Line 62">
                  <a:extLst>
                    <a:ext uri="{FF2B5EF4-FFF2-40B4-BE49-F238E27FC236}">
                      <a16:creationId xmlns:a16="http://schemas.microsoft.com/office/drawing/2014/main" id="{C92D6C2A-7106-5A21-2FFD-4E05F013A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8" y="2632"/>
                  <a:ext cx="0" cy="656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8" name="Line 63">
                  <a:extLst>
                    <a:ext uri="{FF2B5EF4-FFF2-40B4-BE49-F238E27FC236}">
                      <a16:creationId xmlns:a16="http://schemas.microsoft.com/office/drawing/2014/main" id="{88F98D0D-4FF3-7DAD-6CC6-70AAC68385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2" y="2632"/>
                  <a:ext cx="0" cy="656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29" name="Line 64">
                  <a:extLst>
                    <a:ext uri="{FF2B5EF4-FFF2-40B4-BE49-F238E27FC236}">
                      <a16:creationId xmlns:a16="http://schemas.microsoft.com/office/drawing/2014/main" id="{05336B9F-1CEA-0091-888C-E04B24220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7" y="2636"/>
                  <a:ext cx="0" cy="20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0" name="Line 65">
                  <a:extLst>
                    <a:ext uri="{FF2B5EF4-FFF2-40B4-BE49-F238E27FC236}">
                      <a16:creationId xmlns:a16="http://schemas.microsoft.com/office/drawing/2014/main" id="{5D57B935-43DB-9923-7C52-DCB20E6847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5" y="2872"/>
                  <a:ext cx="7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1" name="Line 66">
                  <a:extLst>
                    <a:ext uri="{FF2B5EF4-FFF2-40B4-BE49-F238E27FC236}">
                      <a16:creationId xmlns:a16="http://schemas.microsoft.com/office/drawing/2014/main" id="{E3BAE001-CBF4-8411-77A1-FBE5E56DC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7" y="2884"/>
                  <a:ext cx="0" cy="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2" name="Line 67">
                  <a:extLst>
                    <a:ext uri="{FF2B5EF4-FFF2-40B4-BE49-F238E27FC236}">
                      <a16:creationId xmlns:a16="http://schemas.microsoft.com/office/drawing/2014/main" id="{B7608F68-A4A4-384C-D651-B46A85B262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2632"/>
                  <a:ext cx="0" cy="656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3" name="Line 68">
                  <a:extLst>
                    <a:ext uri="{FF2B5EF4-FFF2-40B4-BE49-F238E27FC236}">
                      <a16:creationId xmlns:a16="http://schemas.microsoft.com/office/drawing/2014/main" id="{FE5205AA-905F-1492-D1C9-24A07063A4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2628"/>
                  <a:ext cx="0" cy="2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4" name="Line 69">
                  <a:extLst>
                    <a:ext uri="{FF2B5EF4-FFF2-40B4-BE49-F238E27FC236}">
                      <a16:creationId xmlns:a16="http://schemas.microsoft.com/office/drawing/2014/main" id="{BA5355CA-9F9B-F62E-B005-EB748BAC18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40" y="2604"/>
                  <a:ext cx="0" cy="2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5" name="Rectangle 70">
                  <a:extLst>
                    <a:ext uri="{FF2B5EF4-FFF2-40B4-BE49-F238E27FC236}">
                      <a16:creationId xmlns:a16="http://schemas.microsoft.com/office/drawing/2014/main" id="{7B719CD5-7CB8-6D8C-8981-BEB8018917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9" y="2260"/>
                  <a:ext cx="895" cy="36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 eaLnBrk="0" hangingPunct="0"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1336" name="Line 71">
                  <a:extLst>
                    <a:ext uri="{FF2B5EF4-FFF2-40B4-BE49-F238E27FC236}">
                      <a16:creationId xmlns:a16="http://schemas.microsoft.com/office/drawing/2014/main" id="{AB0A9D8F-3CA1-8EFB-9846-4FC49DBD59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57" y="2752"/>
                  <a:ext cx="8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7" name="Line 72">
                  <a:extLst>
                    <a:ext uri="{FF2B5EF4-FFF2-40B4-BE49-F238E27FC236}">
                      <a16:creationId xmlns:a16="http://schemas.microsoft.com/office/drawing/2014/main" id="{BEA20A01-EFC2-6661-5CE0-9425577059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65" y="2752"/>
                  <a:ext cx="11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8" name="Line 73">
                  <a:extLst>
                    <a:ext uri="{FF2B5EF4-FFF2-40B4-BE49-F238E27FC236}">
                      <a16:creationId xmlns:a16="http://schemas.microsoft.com/office/drawing/2014/main" id="{DCF7F43C-1157-43EF-A597-4FE12D1AF3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3" y="2628"/>
                  <a:ext cx="0" cy="2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39" name="Line 74">
                  <a:extLst>
                    <a:ext uri="{FF2B5EF4-FFF2-40B4-BE49-F238E27FC236}">
                      <a16:creationId xmlns:a16="http://schemas.microsoft.com/office/drawing/2014/main" id="{7E4D612D-08BB-F073-4234-B6F645718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7" y="2628"/>
                  <a:ext cx="0" cy="28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1340" name="Line 75">
                  <a:extLst>
                    <a:ext uri="{FF2B5EF4-FFF2-40B4-BE49-F238E27FC236}">
                      <a16:creationId xmlns:a16="http://schemas.microsoft.com/office/drawing/2014/main" id="{4B052529-2A5E-670F-3B58-BD63CC0E6C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41" y="1941"/>
                  <a:ext cx="0" cy="31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</p:grpSp>
        <p:sp>
          <p:nvSpPr>
            <p:cNvPr id="11305" name="Text Box 76">
              <a:extLst>
                <a:ext uri="{FF2B5EF4-FFF2-40B4-BE49-F238E27FC236}">
                  <a16:creationId xmlns:a16="http://schemas.microsoft.com/office/drawing/2014/main" id="{5FD76AE7-47FC-D370-EAAA-27D23971E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" y="3052"/>
              <a:ext cx="1209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1MHz-16MHz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4444627-66D4-27E8-FF83-4F760C4474DE}"/>
              </a:ext>
            </a:extLst>
          </p:cNvPr>
          <p:cNvCxnSpPr/>
          <p:nvPr/>
        </p:nvCxnSpPr>
        <p:spPr>
          <a:xfrm flipH="1">
            <a:off x="2293938" y="2097088"/>
            <a:ext cx="677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B7F292-3DBD-5356-A25D-9B7D3B715722}"/>
              </a:ext>
            </a:extLst>
          </p:cNvPr>
          <p:cNvCxnSpPr/>
          <p:nvPr/>
        </p:nvCxnSpPr>
        <p:spPr>
          <a:xfrm flipH="1" flipV="1">
            <a:off x="2293938" y="2384426"/>
            <a:ext cx="677862" cy="14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E8C9D-81B0-4D1A-3C53-D811BC844D47}"/>
              </a:ext>
            </a:extLst>
          </p:cNvPr>
          <p:cNvSpPr txBox="1"/>
          <p:nvPr/>
        </p:nvSpPr>
        <p:spPr>
          <a:xfrm>
            <a:off x="685800" y="1676400"/>
            <a:ext cx="8077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Minimum hardware requirements for 8051 CPU: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Power supply</a:t>
            </a:r>
          </a:p>
          <a:p>
            <a:pPr marL="457200" indent="-457200">
              <a:buAutoNum type="arabicParenR"/>
            </a:pPr>
            <a:r>
              <a:rPr lang="en-US" b="1" dirty="0">
                <a:solidFill>
                  <a:srgbClr val="FF0000"/>
                </a:solidFill>
              </a:rPr>
              <a:t>Pullup for PORT0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Reset circuit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Crystal circuit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EA(bar)/VPP pin is connected to VCC (in order to access the on-chip ROM)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ISP connections (used for hex file loading to the flash memory)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46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2685</TotalTime>
  <Words>216</Words>
  <Application>Microsoft Office PowerPoint</Application>
  <PresentationFormat>On-screen Show (4:3)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Calibri</vt:lpstr>
      <vt:lpstr>Tahoma</vt:lpstr>
      <vt:lpstr>Times New Roman</vt:lpstr>
      <vt:lpstr>Default Design</vt:lpstr>
      <vt:lpstr>RESET</vt:lpstr>
      <vt:lpstr>Power on reset circuit</vt:lpstr>
      <vt:lpstr>Power on reset circuit with  switch for run time reset</vt:lpstr>
      <vt:lpstr>CRYSTAL CKT </vt:lpstr>
      <vt:lpstr>PowerPoint Presentation</vt:lpstr>
      <vt:lpstr>PowerPoint Presentation</vt:lpstr>
    </vt:vector>
  </TitlesOfParts>
  <Company>eclaimonline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 S R A Raju</dc:creator>
  <cp:lastModifiedBy>Chandramouli</cp:lastModifiedBy>
  <cp:revision>203</cp:revision>
  <dcterms:created xsi:type="dcterms:W3CDTF">2006-01-11T14:24:03Z</dcterms:created>
  <dcterms:modified xsi:type="dcterms:W3CDTF">2023-12-04T11:40:46Z</dcterms:modified>
</cp:coreProperties>
</file>